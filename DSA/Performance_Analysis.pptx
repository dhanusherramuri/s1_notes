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12" r:id="rId5"/>
    <p:sldId id="316" r:id="rId6"/>
    <p:sldId id="313" r:id="rId7"/>
    <p:sldId id="314" r:id="rId8"/>
    <p:sldId id="261" r:id="rId9"/>
    <p:sldId id="315" r:id="rId10"/>
    <p:sldId id="317" r:id="rId11"/>
    <p:sldId id="263" r:id="rId12"/>
    <p:sldId id="264" r:id="rId13"/>
    <p:sldId id="269" r:id="rId14"/>
    <p:sldId id="270" r:id="rId15"/>
    <p:sldId id="271" r:id="rId16"/>
    <p:sldId id="272" r:id="rId17"/>
    <p:sldId id="273" r:id="rId18"/>
    <p:sldId id="274" r:id="rId19"/>
    <p:sldId id="265" r:id="rId20"/>
    <p:sldId id="318" r:id="rId21"/>
    <p:sldId id="266" r:id="rId22"/>
    <p:sldId id="267" r:id="rId23"/>
    <p:sldId id="268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597DF-6BBE-4F45-A821-EB53A2EDDCAB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F92B9-880A-46BE-98EE-7BDFC9924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Performance Analysis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Content Placeholder 2"/>
          <p:cNvSpPr>
            <a:spLocks noGrp="1"/>
          </p:cNvSpPr>
          <p:nvPr>
            <p:ph idx="1"/>
          </p:nvPr>
        </p:nvSpPr>
        <p:spPr>
          <a:xfrm>
            <a:off x="162720" y="802165"/>
            <a:ext cx="8148960" cy="5550343"/>
          </a:xfrm>
        </p:spPr>
        <p:txBody>
          <a:bodyPr/>
          <a:lstStyle/>
          <a:p>
            <a:pPr>
              <a:buFont typeface="Times New Roman" pitchFamily="16" charset="0"/>
              <a:buNone/>
            </a:pPr>
            <a:r>
              <a:rPr lang="en-US" sz="2900" dirty="0">
                <a:latin typeface="Times New Roman" pitchFamily="16" charset="0"/>
                <a:cs typeface="Times New Roman" pitchFamily="16" charset="0"/>
              </a:rPr>
              <a:t>Time Complexity </a:t>
            </a:r>
          </a:p>
          <a:p>
            <a:pPr>
              <a:buFont typeface="Times New Roman" pitchFamily="16" charset="0"/>
              <a:buNone/>
            </a:pPr>
            <a:endParaRPr lang="en-US" sz="2900" dirty="0">
              <a:latin typeface="Times New Roman" pitchFamily="16" charset="0"/>
              <a:cs typeface="Times New Roman" pitchFamily="16" charset="0"/>
            </a:endParaRPr>
          </a:p>
          <a:p>
            <a:r>
              <a:rPr lang="en-US" sz="2500" dirty="0">
                <a:latin typeface="Times New Roman" pitchFamily="16" charset="0"/>
                <a:cs typeface="Times New Roman" pitchFamily="16" charset="0"/>
              </a:rPr>
              <a:t>The time T(P) taken by a program P is the sum of the compile time and the run (or execution)time. </a:t>
            </a:r>
          </a:p>
          <a:p>
            <a:endParaRPr lang="en-US" sz="2500" dirty="0">
              <a:latin typeface="Times New Roman" pitchFamily="16" charset="0"/>
              <a:cs typeface="Times New Roman" pitchFamily="16" charset="0"/>
            </a:endParaRPr>
          </a:p>
          <a:p>
            <a:r>
              <a:rPr lang="en-US" sz="2500" dirty="0">
                <a:latin typeface="Times New Roman" pitchFamily="16" charset="0"/>
                <a:cs typeface="Times New Roman" pitchFamily="16" charset="0"/>
              </a:rPr>
              <a:t>The compile time does not depend on the instance characteristics. Also, we may assume that a compiled program will be run several times without recompilation.</a:t>
            </a:r>
          </a:p>
          <a:p>
            <a:endParaRPr lang="en-US" sz="2500" dirty="0" smtClean="0">
              <a:latin typeface="Times New Roman" pitchFamily="16" charset="0"/>
              <a:cs typeface="Times New Roman" pitchFamily="16" charset="0"/>
            </a:endParaRPr>
          </a:p>
          <a:p>
            <a:r>
              <a:rPr lang="en-US" sz="2500" dirty="0" smtClean="0">
                <a:latin typeface="Times New Roman" pitchFamily="16" charset="0"/>
                <a:cs typeface="Times New Roman" pitchFamily="16" charset="0"/>
              </a:rPr>
              <a:t>Consequently, we concern ourselves with just the runtime of a program.This run time is denoted by </a:t>
            </a:r>
          </a:p>
          <a:p>
            <a:pPr>
              <a:buFont typeface="Times New Roman" pitchFamily="16" charset="0"/>
              <a:buNone/>
            </a:pPr>
            <a:r>
              <a:rPr lang="en-US" sz="2500" dirty="0" smtClean="0">
                <a:latin typeface="Times New Roman" pitchFamily="16" charset="0"/>
                <a:cs typeface="Times New Roman" pitchFamily="16" charset="0"/>
              </a:rPr>
              <a:t>       </a:t>
            </a:r>
            <a:r>
              <a:rPr lang="en-US" sz="3300" dirty="0">
                <a:latin typeface="Times New Roman" pitchFamily="16" charset="0"/>
                <a:cs typeface="Times New Roman" pitchFamily="16" charset="0"/>
              </a:rPr>
              <a:t>t</a:t>
            </a:r>
            <a:r>
              <a:rPr lang="en-US" sz="2200" dirty="0">
                <a:latin typeface="Times New Roman" pitchFamily="16" charset="0"/>
                <a:cs typeface="Times New Roman" pitchFamily="16" charset="0"/>
              </a:rPr>
              <a:t>p</a:t>
            </a:r>
            <a:r>
              <a:rPr lang="en-US" sz="2500" dirty="0">
                <a:latin typeface="Times New Roman" pitchFamily="16" charset="0"/>
                <a:cs typeface="Times New Roman" pitchFamily="16" charset="0"/>
              </a:rPr>
              <a:t> (instancecharacteristics)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2725" t="21147" r="9419" b="41824"/>
          <a:stretch>
            <a:fillRect/>
          </a:stretch>
        </p:blipFill>
        <p:spPr>
          <a:xfrm>
            <a:off x="286560" y="1009547"/>
            <a:ext cx="8640000" cy="3801999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14290"/>
            <a:ext cx="8715436" cy="5268931"/>
          </a:xfrm>
        </p:spPr>
        <p:txBody>
          <a:bodyPr>
            <a:noAutofit/>
          </a:bodyPr>
          <a:lstStyle/>
          <a:p>
            <a:r>
              <a:rPr lang="en-US" dirty="0" smtClean="0"/>
              <a:t>Obtaining such an exact formula </a:t>
            </a:r>
            <a:r>
              <a:rPr lang="en-US" dirty="0" smtClean="0"/>
              <a:t>is in </a:t>
            </a:r>
            <a:r>
              <a:rPr lang="en-US" dirty="0" smtClean="0"/>
              <a:t>itself an impossible task, since the time needed for </a:t>
            </a:r>
            <a:r>
              <a:rPr lang="en-US" dirty="0" smtClean="0"/>
              <a:t>an addition</a:t>
            </a:r>
            <a:r>
              <a:rPr lang="en-US" dirty="0" smtClean="0"/>
              <a:t>, subtraction, multiplication</a:t>
            </a:r>
            <a:r>
              <a:rPr lang="en-US" dirty="0" smtClean="0"/>
              <a:t>, and soon, often </a:t>
            </a:r>
            <a:r>
              <a:rPr lang="en-US" dirty="0" smtClean="0"/>
              <a:t>depends on </a:t>
            </a:r>
            <a:r>
              <a:rPr lang="en-US" dirty="0" smtClean="0"/>
              <a:t>the </a:t>
            </a:r>
            <a:r>
              <a:rPr lang="en-US" dirty="0" smtClean="0"/>
              <a:t>numbers being added, subtracted, multiplied</a:t>
            </a:r>
            <a:r>
              <a:rPr lang="en-US" dirty="0" smtClean="0"/>
              <a:t>, and </a:t>
            </a:r>
            <a:r>
              <a:rPr lang="en-US" dirty="0" smtClean="0"/>
              <a:t>so on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dirty="0" smtClean="0"/>
              <a:t>The value </a:t>
            </a:r>
            <a:r>
              <a:rPr lang="en-US" dirty="0" smtClean="0"/>
              <a:t>of </a:t>
            </a:r>
            <a:r>
              <a:rPr lang="en-US" dirty="0" smtClean="0"/>
              <a:t>t</a:t>
            </a:r>
            <a:r>
              <a:rPr lang="en-US" baseline="-25000" dirty="0" smtClean="0"/>
              <a:t>p</a:t>
            </a:r>
            <a:r>
              <a:rPr lang="en-US" dirty="0" smtClean="0"/>
              <a:t>(n</a:t>
            </a:r>
            <a:r>
              <a:rPr lang="en-US" dirty="0" smtClean="0"/>
              <a:t>) for any given n can be </a:t>
            </a:r>
            <a:r>
              <a:rPr lang="en-US" dirty="0" smtClean="0"/>
              <a:t>obtained only </a:t>
            </a:r>
            <a:r>
              <a:rPr lang="en-US" dirty="0" smtClean="0"/>
              <a:t>experimentally. </a:t>
            </a:r>
            <a:r>
              <a:rPr lang="en-US" dirty="0" smtClean="0"/>
              <a:t>The program is </a:t>
            </a:r>
            <a:r>
              <a:rPr lang="en-US" dirty="0" smtClean="0"/>
              <a:t>typed, compiled, and run on a </a:t>
            </a:r>
            <a:r>
              <a:rPr lang="en-US" dirty="0" smtClean="0"/>
              <a:t>particular machine. The execution time is </a:t>
            </a:r>
            <a:r>
              <a:rPr lang="en-US" dirty="0" smtClean="0"/>
              <a:t>physically clocked, and t</a:t>
            </a:r>
            <a:r>
              <a:rPr lang="en-US" baseline="-25000" dirty="0" smtClean="0"/>
              <a:t>p</a:t>
            </a:r>
            <a:r>
              <a:rPr lang="en-US" dirty="0" smtClean="0"/>
              <a:t>(n) obtained</a:t>
            </a:r>
            <a:r>
              <a:rPr lang="en-US" dirty="0" smtClean="0"/>
              <a:t>. Even </a:t>
            </a:r>
            <a:r>
              <a:rPr lang="en-US" dirty="0" smtClean="0"/>
              <a:t>with this </a:t>
            </a:r>
            <a:r>
              <a:rPr lang="en-US" dirty="0" smtClean="0"/>
              <a:t>experimental approach, one could face </a:t>
            </a:r>
            <a:r>
              <a:rPr lang="en-US" dirty="0" smtClean="0"/>
              <a:t>difficulties. </a:t>
            </a:r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 multiuser system, the execution time depends on such factors as system load, the number of other programs running on the computer at the time program P is run, the characteristics of these other programs, and so 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>
            <a:normAutofit/>
          </a:bodyPr>
          <a:lstStyle/>
          <a:p>
            <a:r>
              <a:rPr lang="en-US" dirty="0" smtClean="0"/>
              <a:t>Given the minimal utility </a:t>
            </a:r>
            <a:r>
              <a:rPr lang="en-US" dirty="0" smtClean="0"/>
              <a:t>of </a:t>
            </a:r>
            <a:r>
              <a:rPr lang="en-US" dirty="0" smtClean="0"/>
              <a:t>determining the exact number of </a:t>
            </a:r>
            <a:r>
              <a:rPr lang="en-US" dirty="0" smtClean="0"/>
              <a:t>additions, subtractions</a:t>
            </a:r>
            <a:r>
              <a:rPr lang="en-US" dirty="0" smtClean="0"/>
              <a:t>, and </a:t>
            </a:r>
            <a:r>
              <a:rPr lang="en-US" dirty="0" smtClean="0"/>
              <a:t>so on, that </a:t>
            </a:r>
            <a:r>
              <a:rPr lang="en-US" dirty="0" smtClean="0"/>
              <a:t>are needed to solve a problem instance with </a:t>
            </a:r>
            <a:r>
              <a:rPr lang="en-US" dirty="0" smtClean="0"/>
              <a:t>characteristics given by n, we might </a:t>
            </a:r>
            <a:r>
              <a:rPr lang="en-US" dirty="0" smtClean="0"/>
              <a:t>as well lump all the operations together </a:t>
            </a:r>
            <a:r>
              <a:rPr lang="en-US" dirty="0" smtClean="0"/>
              <a:t>(</a:t>
            </a:r>
            <a:r>
              <a:rPr lang="en-US" dirty="0" smtClean="0"/>
              <a:t>provided that </a:t>
            </a:r>
            <a:r>
              <a:rPr lang="en-US" dirty="0" smtClean="0"/>
              <a:t>the </a:t>
            </a:r>
            <a:r>
              <a:rPr lang="en-US" dirty="0" smtClean="0"/>
              <a:t>time required by each is </a:t>
            </a:r>
            <a:r>
              <a:rPr lang="en-US" dirty="0" smtClean="0"/>
              <a:t>relatively </a:t>
            </a:r>
            <a:r>
              <a:rPr lang="en-US" dirty="0" smtClean="0"/>
              <a:t>independent of </a:t>
            </a:r>
            <a:r>
              <a:rPr lang="en-US" dirty="0" smtClean="0"/>
              <a:t>the </a:t>
            </a:r>
            <a:r>
              <a:rPr lang="en-US" dirty="0" smtClean="0"/>
              <a:t>instance characteristics</a:t>
            </a:r>
            <a:r>
              <a:rPr lang="en-US" dirty="0" smtClean="0"/>
              <a:t>) and </a:t>
            </a:r>
            <a:r>
              <a:rPr lang="en-US" dirty="0" smtClean="0"/>
              <a:t>obtain a count for </a:t>
            </a:r>
            <a:r>
              <a:rPr lang="en-US" dirty="0" smtClean="0"/>
              <a:t>the </a:t>
            </a:r>
            <a:r>
              <a:rPr lang="en-US" dirty="0" smtClean="0"/>
              <a:t>total number of </a:t>
            </a:r>
            <a:r>
              <a:rPr lang="en-US" dirty="0" smtClean="0"/>
              <a:t>operations. We </a:t>
            </a:r>
            <a:r>
              <a:rPr lang="en-US" dirty="0" smtClean="0"/>
              <a:t>can go one step further </a:t>
            </a:r>
            <a:r>
              <a:rPr lang="en-US" dirty="0" smtClean="0"/>
              <a:t>and </a:t>
            </a:r>
            <a:r>
              <a:rPr lang="en-US" dirty="0" smtClean="0"/>
              <a:t>count only </a:t>
            </a:r>
            <a:r>
              <a:rPr lang="en-US" dirty="0" smtClean="0"/>
              <a:t>the </a:t>
            </a:r>
            <a:r>
              <a:rPr lang="en-US" dirty="0" smtClean="0"/>
              <a:t>number of </a:t>
            </a:r>
            <a:r>
              <a:rPr lang="en-US" dirty="0" smtClean="0"/>
              <a:t>program steps.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166"/>
            <a:ext cx="8472518" cy="576899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 </a:t>
            </a:r>
            <a:r>
              <a:rPr lang="en-US" dirty="0" smtClean="0"/>
              <a:t>program step is loosely defined as a syntactically or semantically </a:t>
            </a:r>
            <a:r>
              <a:rPr lang="en-US" dirty="0" smtClean="0"/>
              <a:t>meaningful </a:t>
            </a:r>
            <a:r>
              <a:rPr lang="en-US" dirty="0" smtClean="0"/>
              <a:t>segment of </a:t>
            </a:r>
            <a:r>
              <a:rPr lang="en-US" dirty="0" smtClean="0"/>
              <a:t>a </a:t>
            </a:r>
            <a:r>
              <a:rPr lang="en-US" dirty="0" smtClean="0"/>
              <a:t>program that </a:t>
            </a:r>
            <a:r>
              <a:rPr lang="en-US" dirty="0" smtClean="0"/>
              <a:t>has an </a:t>
            </a:r>
            <a:r>
              <a:rPr lang="en-US" dirty="0" smtClean="0"/>
              <a:t>execution time that </a:t>
            </a:r>
            <a:r>
              <a:rPr lang="en-US" dirty="0" smtClean="0"/>
              <a:t>is independent of the </a:t>
            </a:r>
            <a:r>
              <a:rPr lang="en-US" dirty="0" smtClean="0"/>
              <a:t>instance characteristics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dirty="0" smtClean="0"/>
              <a:t>For example, the entire statement :</a:t>
            </a:r>
          </a:p>
          <a:p>
            <a:pPr>
              <a:buNone/>
            </a:pPr>
            <a:r>
              <a:rPr lang="en-US" i="1" dirty="0" smtClean="0"/>
              <a:t> </a:t>
            </a:r>
            <a:r>
              <a:rPr lang="en-US" i="1" dirty="0" smtClean="0"/>
              <a:t>       return </a:t>
            </a:r>
            <a:r>
              <a:rPr lang="en-US" dirty="0" smtClean="0"/>
              <a:t>a</a:t>
            </a:r>
            <a:r>
              <a:rPr lang="en-US" dirty="0" smtClean="0"/>
              <a:t>+ b+b*c+(a+b-c)/(a+ b) + </a:t>
            </a:r>
            <a:r>
              <a:rPr lang="en-US" dirty="0" smtClean="0"/>
              <a:t>4.0</a:t>
            </a:r>
          </a:p>
          <a:p>
            <a:pPr marL="377286" indent="-282244" eaLnBrk="0">
              <a:spcAft>
                <a:spcPts val="522"/>
              </a:spcAft>
              <a:buSzPct val="72000"/>
              <a:buNone/>
              <a:defRPr/>
            </a:pPr>
            <a:r>
              <a:rPr lang="en-US" kern="0" dirty="0" smtClean="0">
                <a:solidFill>
                  <a:srgbClr val="333333"/>
                </a:solidFill>
                <a:latin typeface="Arial Narrow" pitchFamily="34" charset="0"/>
                <a:ea typeface="DFKai-SB" pitchFamily="65" charset="-120"/>
                <a:cs typeface="Times New Roman" pitchFamily="18" charset="0"/>
              </a:rPr>
              <a:t>   </a:t>
            </a:r>
            <a:r>
              <a:rPr lang="en-US" kern="0" dirty="0" smtClean="0">
                <a:solidFill>
                  <a:srgbClr val="333333"/>
                </a:solidFill>
                <a:ea typeface="DFKai-SB" pitchFamily="65" charset="-120"/>
                <a:cs typeface="Times New Roman" pitchFamily="18" charset="0"/>
              </a:rPr>
              <a:t>could </a:t>
            </a:r>
            <a:r>
              <a:rPr lang="en-US" kern="0" dirty="0" smtClean="0">
                <a:solidFill>
                  <a:srgbClr val="333333"/>
                </a:solidFill>
                <a:ea typeface="DFKai-SB" pitchFamily="65" charset="-120"/>
                <a:cs typeface="Times New Roman" pitchFamily="18" charset="0"/>
              </a:rPr>
              <a:t>be regarded as a step since its execution time </a:t>
            </a:r>
            <a:r>
              <a:rPr lang="en-US" kern="0" dirty="0" smtClean="0">
                <a:solidFill>
                  <a:srgbClr val="333333"/>
                </a:solidFill>
                <a:ea typeface="DFKai-SB" pitchFamily="65" charset="-120"/>
                <a:cs typeface="Times New Roman" pitchFamily="18" charset="0"/>
              </a:rPr>
              <a:t>is independent </a:t>
            </a:r>
            <a:r>
              <a:rPr lang="en-US" kern="0" dirty="0" smtClean="0">
                <a:solidFill>
                  <a:srgbClr val="333333"/>
                </a:solidFill>
                <a:ea typeface="DFKai-SB" pitchFamily="65" charset="-120"/>
                <a:cs typeface="Times New Roman" pitchFamily="18" charset="0"/>
              </a:rPr>
              <a:t>of the instance characteristics</a:t>
            </a:r>
          </a:p>
          <a:p>
            <a:pPr marL="377286" indent="-282244" eaLnBrk="0">
              <a:spcAft>
                <a:spcPts val="522"/>
              </a:spcAft>
              <a:buSzPct val="72000"/>
              <a:buNone/>
              <a:defRPr/>
            </a:pPr>
            <a:r>
              <a:rPr lang="en-US" kern="0" dirty="0" smtClean="0">
                <a:solidFill>
                  <a:srgbClr val="333333"/>
                </a:solidFill>
                <a:ea typeface="DFKai-SB" pitchFamily="65" charset="-120"/>
                <a:cs typeface="Times New Roman" pitchFamily="18" charset="0"/>
              </a:rPr>
              <a:t>   </a:t>
            </a:r>
            <a:r>
              <a:rPr lang="en-US" kern="0" dirty="0" smtClean="0">
                <a:solidFill>
                  <a:srgbClr val="333333"/>
                </a:solidFill>
                <a:ea typeface="DFKai-SB" pitchFamily="65" charset="-120"/>
                <a:cs typeface="Times New Roman" pitchFamily="18" charset="0"/>
              </a:rPr>
              <a:t>(this statement is not strictly true, since the time for a multiply and divide generally depends on the numbers involved in the operation)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7636" t="25969" r="22142" b="37054"/>
          <a:stretch>
            <a:fillRect/>
          </a:stretch>
        </p:blipFill>
        <p:spPr>
          <a:xfrm>
            <a:off x="148320" y="318274"/>
            <a:ext cx="8640000" cy="5184544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42852"/>
            <a:ext cx="8786874" cy="598331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number of </a:t>
            </a:r>
            <a:r>
              <a:rPr lang="en-US" dirty="0" smtClean="0"/>
              <a:t>steps any program statement is assigned depends on </a:t>
            </a:r>
            <a:r>
              <a:rPr lang="en-US" dirty="0" smtClean="0"/>
              <a:t>the kind of statement. </a:t>
            </a:r>
            <a:r>
              <a:rPr lang="en-US" dirty="0" smtClean="0"/>
              <a:t>For example, comments count </a:t>
            </a:r>
            <a:r>
              <a:rPr lang="en-US" dirty="0" smtClean="0"/>
              <a:t>as </a:t>
            </a:r>
            <a:r>
              <a:rPr lang="en-US" dirty="0" smtClean="0"/>
              <a:t>zero steps; an </a:t>
            </a:r>
            <a:r>
              <a:rPr lang="en-US" dirty="0" smtClean="0"/>
              <a:t>assignment </a:t>
            </a:r>
            <a:r>
              <a:rPr lang="en-US" dirty="0" smtClean="0"/>
              <a:t>statement which does not </a:t>
            </a:r>
            <a:r>
              <a:rPr lang="en-US" dirty="0" smtClean="0"/>
              <a:t>involve any </a:t>
            </a:r>
            <a:r>
              <a:rPr lang="en-US" dirty="0" smtClean="0"/>
              <a:t>calls to other algorithms </a:t>
            </a:r>
            <a:r>
              <a:rPr lang="en-US" dirty="0" smtClean="0"/>
              <a:t>is </a:t>
            </a:r>
            <a:r>
              <a:rPr lang="en-US" dirty="0" smtClean="0"/>
              <a:t>counted as one step</a:t>
            </a:r>
            <a:r>
              <a:rPr lang="en-US" dirty="0" smtClean="0"/>
              <a:t>; in an </a:t>
            </a:r>
            <a:r>
              <a:rPr lang="en-US" dirty="0" smtClean="0"/>
              <a:t>iterative statement such as the </a:t>
            </a:r>
            <a:r>
              <a:rPr lang="en-US" dirty="0" smtClean="0"/>
              <a:t>for</a:t>
            </a:r>
            <a:r>
              <a:rPr lang="en-US" dirty="0" smtClean="0"/>
              <a:t>, while, and </a:t>
            </a:r>
            <a:r>
              <a:rPr lang="en-US" dirty="0" smtClean="0"/>
              <a:t>repeat-until statements</a:t>
            </a:r>
            <a:r>
              <a:rPr lang="en-US" dirty="0" smtClean="0"/>
              <a:t>, we consider the step counts only </a:t>
            </a:r>
            <a:r>
              <a:rPr lang="en-US" dirty="0" smtClean="0"/>
              <a:t>for the control part of the statement</a:t>
            </a:r>
            <a:r>
              <a:rPr lang="en-US" dirty="0" smtClean="0"/>
              <a:t>. The control parts for ‘</a:t>
            </a:r>
            <a:r>
              <a:rPr lang="en-US" i="1" dirty="0" smtClean="0"/>
              <a:t>for’ </a:t>
            </a:r>
            <a:r>
              <a:rPr lang="en-US" dirty="0" smtClean="0"/>
              <a:t>and ‘</a:t>
            </a:r>
            <a:r>
              <a:rPr lang="en-US" i="1" dirty="0" smtClean="0"/>
              <a:t>while’ </a:t>
            </a:r>
            <a:r>
              <a:rPr lang="en-US" dirty="0" smtClean="0"/>
              <a:t>statements have </a:t>
            </a:r>
            <a:r>
              <a:rPr lang="en-US" dirty="0" smtClean="0"/>
              <a:t>the following </a:t>
            </a:r>
            <a:r>
              <a:rPr lang="en-US" dirty="0" smtClean="0"/>
              <a:t>forms:</a:t>
            </a:r>
          </a:p>
          <a:p>
            <a:r>
              <a:rPr lang="en-US" dirty="0" smtClean="0"/>
              <a:t>for </a:t>
            </a:r>
            <a:r>
              <a:rPr lang="en-US" dirty="0" smtClean="0"/>
              <a:t>i := &lt;expr</a:t>
            </a:r>
            <a:r>
              <a:rPr lang="en-US" dirty="0" smtClean="0"/>
              <a:t>&gt;</a:t>
            </a:r>
            <a:r>
              <a:rPr lang="en-US" dirty="0" smtClean="0"/>
              <a:t> to &lt;expr1&gt; do </a:t>
            </a:r>
          </a:p>
          <a:p>
            <a:endParaRPr lang="en-US" dirty="0" smtClean="0"/>
          </a:p>
          <a:p>
            <a:r>
              <a:rPr lang="en-US" dirty="0" smtClean="0"/>
              <a:t>while &lt;&lt; expr&gt;&gt; do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Each execution of </a:t>
            </a:r>
            <a:r>
              <a:rPr lang="en-US" dirty="0" smtClean="0"/>
              <a:t>the </a:t>
            </a:r>
            <a:r>
              <a:rPr lang="en-US" dirty="0" smtClean="0"/>
              <a:t>control part </a:t>
            </a:r>
            <a:r>
              <a:rPr lang="en-US" dirty="0" smtClean="0"/>
              <a:t>of a while </a:t>
            </a:r>
            <a:r>
              <a:rPr lang="en-US" dirty="0" smtClean="0"/>
              <a:t>statement is </a:t>
            </a:r>
            <a:r>
              <a:rPr lang="en-US" dirty="0" smtClean="0"/>
              <a:t>given a step count, </a:t>
            </a:r>
            <a:r>
              <a:rPr lang="en-US" dirty="0" smtClean="0"/>
              <a:t>equal to </a:t>
            </a:r>
            <a:r>
              <a:rPr lang="en-US" dirty="0" smtClean="0"/>
              <a:t>the </a:t>
            </a:r>
            <a:r>
              <a:rPr lang="en-US" dirty="0" smtClean="0"/>
              <a:t>number of step counts assignable to </a:t>
            </a:r>
            <a:r>
              <a:rPr lang="en-US" dirty="0" smtClean="0"/>
              <a:t>(expr). </a:t>
            </a:r>
            <a:endParaRPr lang="en-US" dirty="0" smtClean="0"/>
          </a:p>
          <a:p>
            <a:r>
              <a:rPr lang="en-US" dirty="0" smtClean="0"/>
              <a:t>The step </a:t>
            </a:r>
            <a:r>
              <a:rPr lang="en-US" dirty="0" smtClean="0"/>
              <a:t>count for </a:t>
            </a:r>
            <a:r>
              <a:rPr lang="en-US" dirty="0" smtClean="0"/>
              <a:t>each execution of </a:t>
            </a:r>
            <a:r>
              <a:rPr lang="en-US" dirty="0" smtClean="0"/>
              <a:t>the </a:t>
            </a:r>
            <a:r>
              <a:rPr lang="en-US" dirty="0" smtClean="0"/>
              <a:t>control part </a:t>
            </a:r>
            <a:r>
              <a:rPr lang="en-US" dirty="0" smtClean="0"/>
              <a:t>of a for </a:t>
            </a:r>
            <a:r>
              <a:rPr lang="en-US" dirty="0" smtClean="0"/>
              <a:t>statement is one,unless </a:t>
            </a:r>
            <a:r>
              <a:rPr lang="en-US" dirty="0" smtClean="0"/>
              <a:t>the </a:t>
            </a:r>
            <a:r>
              <a:rPr lang="en-US" dirty="0" smtClean="0"/>
              <a:t>counts attributable to </a:t>
            </a:r>
            <a:r>
              <a:rPr lang="en-US" dirty="0" smtClean="0"/>
              <a:t>(expr</a:t>
            </a:r>
            <a:r>
              <a:rPr lang="en-US" dirty="0" smtClean="0"/>
              <a:t>) and </a:t>
            </a:r>
            <a:r>
              <a:rPr lang="en-US" dirty="0" smtClean="0"/>
              <a:t>(</a:t>
            </a:r>
            <a:r>
              <a:rPr lang="en-US" dirty="0" smtClean="0"/>
              <a:t>expr1) are functions </a:t>
            </a:r>
            <a:r>
              <a:rPr lang="en-US" dirty="0" smtClean="0"/>
              <a:t>of the instance characteristics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 smtClean="0"/>
              <a:t>this </a:t>
            </a:r>
            <a:r>
              <a:rPr lang="en-US" dirty="0" smtClean="0"/>
              <a:t>latter case, the </a:t>
            </a:r>
            <a:r>
              <a:rPr lang="en-US" dirty="0" smtClean="0"/>
              <a:t>first </a:t>
            </a:r>
            <a:r>
              <a:rPr lang="en-US" dirty="0" smtClean="0"/>
              <a:t>execution of </a:t>
            </a:r>
            <a:r>
              <a:rPr lang="en-US" dirty="0" smtClean="0"/>
              <a:t>the </a:t>
            </a:r>
            <a:r>
              <a:rPr lang="en-US" dirty="0" smtClean="0"/>
              <a:t>control part </a:t>
            </a:r>
            <a:r>
              <a:rPr lang="en-US" dirty="0" smtClean="0"/>
              <a:t>of the for has a </a:t>
            </a:r>
            <a:r>
              <a:rPr lang="en-US" dirty="0" smtClean="0"/>
              <a:t>step count equal to </a:t>
            </a:r>
            <a:r>
              <a:rPr lang="en-US" dirty="0" smtClean="0"/>
              <a:t>the sum of the </a:t>
            </a:r>
            <a:r>
              <a:rPr lang="en-US" dirty="0" smtClean="0"/>
              <a:t>counts for </a:t>
            </a:r>
            <a:r>
              <a:rPr lang="en-US" dirty="0" smtClean="0"/>
              <a:t>(expr)and (</a:t>
            </a:r>
            <a:r>
              <a:rPr lang="en-US" dirty="0" smtClean="0"/>
              <a:t>expr1) </a:t>
            </a:r>
            <a:r>
              <a:rPr lang="en-US" dirty="0" smtClean="0"/>
              <a:t>(</a:t>
            </a:r>
            <a:r>
              <a:rPr lang="en-US" dirty="0" smtClean="0"/>
              <a:t>note that these expressions are computed only </a:t>
            </a:r>
            <a:r>
              <a:rPr lang="en-US" dirty="0" smtClean="0"/>
              <a:t>when the </a:t>
            </a:r>
            <a:r>
              <a:rPr lang="en-US" dirty="0" smtClean="0"/>
              <a:t>loop is </a:t>
            </a:r>
            <a:r>
              <a:rPr lang="en-US" dirty="0" smtClean="0"/>
              <a:t>started</a:t>
            </a:r>
            <a:r>
              <a:rPr lang="en-US" dirty="0" smtClean="0"/>
              <a:t>). </a:t>
            </a:r>
          </a:p>
          <a:p>
            <a:r>
              <a:rPr lang="en-US" dirty="0" smtClean="0"/>
              <a:t>Remaining executions of </a:t>
            </a:r>
            <a:r>
              <a:rPr lang="en-US" dirty="0" smtClean="0"/>
              <a:t>the for </a:t>
            </a:r>
            <a:r>
              <a:rPr lang="en-US" dirty="0" smtClean="0"/>
              <a:t>statement have </a:t>
            </a:r>
            <a:r>
              <a:rPr lang="en-US" dirty="0" smtClean="0"/>
              <a:t>a </a:t>
            </a:r>
            <a:r>
              <a:rPr lang="en-US" dirty="0" smtClean="0"/>
              <a:t>step count of </a:t>
            </a:r>
            <a:r>
              <a:rPr lang="en-US" dirty="0" smtClean="0"/>
              <a:t>one</a:t>
            </a:r>
            <a:r>
              <a:rPr lang="en-US" dirty="0" smtClean="0"/>
              <a:t>; and so on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6689" t="21466" r="39351" b="59593"/>
          <a:stretch>
            <a:fillRect/>
          </a:stretch>
        </p:blipFill>
        <p:spPr bwMode="auto">
          <a:xfrm>
            <a:off x="1000100" y="1428736"/>
            <a:ext cx="750099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6689" t="75132" r="32252" b="10662"/>
          <a:stretch>
            <a:fillRect/>
          </a:stretch>
        </p:blipFill>
        <p:spPr bwMode="auto">
          <a:xfrm>
            <a:off x="714348" y="1071546"/>
            <a:ext cx="7215238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6689" t="30021" r="25152" b="37495"/>
          <a:stretch>
            <a:fillRect/>
          </a:stretch>
        </p:blipFill>
        <p:spPr bwMode="auto">
          <a:xfrm>
            <a:off x="571472" y="428604"/>
            <a:ext cx="7715304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2252" t="45142" r="31364" b="18555"/>
          <a:stretch>
            <a:fillRect/>
          </a:stretch>
        </p:blipFill>
        <p:spPr bwMode="auto">
          <a:xfrm>
            <a:off x="1000100" y="1214422"/>
            <a:ext cx="7358114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428604"/>
            <a:ext cx="7858180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1071547"/>
            <a:ext cx="7429552" cy="3634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2252" t="53034" r="40238" b="29603"/>
          <a:stretch>
            <a:fillRect/>
          </a:stretch>
        </p:blipFill>
        <p:spPr bwMode="auto">
          <a:xfrm>
            <a:off x="1500166" y="1428736"/>
            <a:ext cx="6572296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2252" t="30474" r="29589" b="28894"/>
          <a:stretch>
            <a:fillRect/>
          </a:stretch>
        </p:blipFill>
        <p:spPr bwMode="auto">
          <a:xfrm>
            <a:off x="1071538" y="571480"/>
            <a:ext cx="6858048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857232"/>
            <a:ext cx="8143932" cy="3625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The </a:t>
            </a:r>
            <a:r>
              <a:rPr lang="en-US" dirty="0" smtClean="0"/>
              <a:t>second method to determine the step count </a:t>
            </a:r>
            <a:r>
              <a:rPr lang="en-US" dirty="0" smtClean="0"/>
              <a:t>of an </a:t>
            </a:r>
            <a:r>
              <a:rPr lang="en-US" dirty="0" smtClean="0"/>
              <a:t>algorithm is </a:t>
            </a:r>
            <a:r>
              <a:rPr lang="en-US" dirty="0" smtClean="0"/>
              <a:t>to build a </a:t>
            </a:r>
            <a:r>
              <a:rPr lang="en-US" dirty="0" smtClean="0"/>
              <a:t>table in which we </a:t>
            </a:r>
            <a:r>
              <a:rPr lang="en-US" dirty="0" smtClean="0"/>
              <a:t>list the </a:t>
            </a:r>
            <a:r>
              <a:rPr lang="en-US" dirty="0" smtClean="0"/>
              <a:t>total number of steps contributed by </a:t>
            </a:r>
            <a:r>
              <a:rPr lang="en-US" dirty="0" smtClean="0"/>
              <a:t>each statement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This figure </a:t>
            </a:r>
            <a:r>
              <a:rPr lang="en-US" dirty="0" smtClean="0"/>
              <a:t>is often arrived at by first </a:t>
            </a:r>
            <a:r>
              <a:rPr lang="en-US" dirty="0" smtClean="0"/>
              <a:t>determining the number </a:t>
            </a:r>
            <a:r>
              <a:rPr lang="en-US" dirty="0" smtClean="0"/>
              <a:t>of </a:t>
            </a:r>
            <a:r>
              <a:rPr lang="en-US" dirty="0" smtClean="0"/>
              <a:t>steps per execution </a:t>
            </a:r>
            <a:r>
              <a:rPr lang="en-US" dirty="0" smtClean="0"/>
              <a:t>(</a:t>
            </a:r>
            <a:r>
              <a:rPr lang="en-US" dirty="0" smtClean="0"/>
              <a:t>s/e)of the statement and the total number of </a:t>
            </a:r>
            <a:r>
              <a:rPr lang="en-US" dirty="0" smtClean="0"/>
              <a:t>times(i.e., frequency</a:t>
            </a:r>
            <a:r>
              <a:rPr lang="en-US" dirty="0" smtClean="0"/>
              <a:t>) each statement is executed. </a:t>
            </a:r>
          </a:p>
          <a:p>
            <a:r>
              <a:rPr lang="en-US" dirty="0" smtClean="0"/>
              <a:t>The s/e of </a:t>
            </a:r>
            <a:r>
              <a:rPr lang="en-US" dirty="0" smtClean="0"/>
              <a:t>a statement </a:t>
            </a:r>
            <a:r>
              <a:rPr lang="en-US" dirty="0" smtClean="0"/>
              <a:t>is the </a:t>
            </a:r>
            <a:r>
              <a:rPr lang="en-US" dirty="0" smtClean="0"/>
              <a:t>amount by which the count </a:t>
            </a:r>
            <a:r>
              <a:rPr lang="en-US" dirty="0" smtClean="0"/>
              <a:t>changes as </a:t>
            </a:r>
            <a:r>
              <a:rPr lang="en-US" dirty="0" smtClean="0"/>
              <a:t>a </a:t>
            </a:r>
            <a:r>
              <a:rPr lang="en-US" dirty="0" smtClean="0"/>
              <a:t>result of </a:t>
            </a:r>
            <a:r>
              <a:rPr lang="en-US" dirty="0" smtClean="0"/>
              <a:t>the </a:t>
            </a:r>
            <a:r>
              <a:rPr lang="en-US" dirty="0" smtClean="0"/>
              <a:t>execution of </a:t>
            </a:r>
            <a:r>
              <a:rPr lang="en-US" dirty="0" smtClean="0"/>
              <a:t>that statement. By </a:t>
            </a:r>
            <a:r>
              <a:rPr lang="en-US" dirty="0" smtClean="0"/>
              <a:t>combining these two </a:t>
            </a:r>
            <a:r>
              <a:rPr lang="en-US" dirty="0" smtClean="0"/>
              <a:t>quantities</a:t>
            </a:r>
            <a:r>
              <a:rPr lang="en-US" dirty="0" smtClean="0"/>
              <a:t>, the total contribution of each statement </a:t>
            </a:r>
            <a:r>
              <a:rPr lang="en-US" dirty="0" smtClean="0"/>
              <a:t>is obtained</a:t>
            </a:r>
            <a:r>
              <a:rPr lang="en-US" dirty="0" smtClean="0"/>
              <a:t>. By adding the contributions of all statements, the step count </a:t>
            </a:r>
            <a:r>
              <a:rPr lang="en-US" dirty="0" smtClean="0"/>
              <a:t>for the </a:t>
            </a:r>
            <a:r>
              <a:rPr lang="en-US" dirty="0" smtClean="0"/>
              <a:t>entire algorithm is obtained.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5735" t="48508" r="31669" b="17910"/>
          <a:stretch>
            <a:fillRect/>
          </a:stretch>
        </p:blipFill>
        <p:spPr bwMode="auto">
          <a:xfrm>
            <a:off x="785786" y="857232"/>
            <a:ext cx="7786742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9828" t="51456" r="25152" b="7506"/>
          <a:stretch>
            <a:fillRect/>
          </a:stretch>
        </p:blipFill>
        <p:spPr bwMode="auto">
          <a:xfrm>
            <a:off x="357158" y="714356"/>
            <a:ext cx="8001056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6927" t="35672" r="19828" b="34339"/>
          <a:stretch>
            <a:fillRect/>
          </a:stretch>
        </p:blipFill>
        <p:spPr bwMode="auto">
          <a:xfrm>
            <a:off x="714348" y="857232"/>
            <a:ext cx="7643866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714356"/>
            <a:ext cx="8572560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214422"/>
            <a:ext cx="8001056" cy="393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857232"/>
            <a:ext cx="8429684" cy="3143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71546"/>
            <a:ext cx="8072493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857233"/>
            <a:ext cx="8286807" cy="1714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2428868"/>
            <a:ext cx="8215370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928670"/>
            <a:ext cx="8215369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642918"/>
            <a:ext cx="8215370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214554"/>
            <a:ext cx="8358246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928670"/>
            <a:ext cx="8001056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1364" t="35672" r="32252" b="12241"/>
          <a:stretch>
            <a:fillRect/>
          </a:stretch>
        </p:blipFill>
        <p:spPr bwMode="auto">
          <a:xfrm>
            <a:off x="1000100" y="1000108"/>
            <a:ext cx="7572428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21097</TotalTime>
  <Words>741</Words>
  <Application>Microsoft Office PowerPoint</Application>
  <PresentationFormat>On-screen Show (4:3)</PresentationFormat>
  <Paragraphs>29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Performance Analysis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14</cp:revision>
  <dcterms:created xsi:type="dcterms:W3CDTF">2023-08-11T07:24:18Z</dcterms:created>
  <dcterms:modified xsi:type="dcterms:W3CDTF">2026-08-19T04:32:02Z</dcterms:modified>
</cp:coreProperties>
</file>