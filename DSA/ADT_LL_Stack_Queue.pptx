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83" r:id="rId12"/>
    <p:sldId id="284" r:id="rId13"/>
    <p:sldId id="285" r:id="rId14"/>
    <p:sldId id="286" r:id="rId15"/>
    <p:sldId id="287"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5" d="100"/>
          <a:sy n="65" d="100"/>
        </p:scale>
        <p:origin x="-153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973007A-8947-44EA-AF1C-8893F9EAEE7F}"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80B1E3-3623-4E49-85FD-E4E1E6CC7EF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73007A-8947-44EA-AF1C-8893F9EAEE7F}"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80B1E3-3623-4E49-85FD-E4E1E6CC7EF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973007A-8947-44EA-AF1C-8893F9EAEE7F}"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80B1E3-3623-4E49-85FD-E4E1E6CC7EF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973007A-8947-44EA-AF1C-8893F9EAEE7F}"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80B1E3-3623-4E49-85FD-E4E1E6CC7EF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973007A-8947-44EA-AF1C-8893F9EAEE7F}"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880B1E3-3623-4E49-85FD-E4E1E6CC7EF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973007A-8947-44EA-AF1C-8893F9EAEE7F}"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880B1E3-3623-4E49-85FD-E4E1E6CC7EF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73007A-8947-44EA-AF1C-8893F9EAEE7F}"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880B1E3-3623-4E49-85FD-E4E1E6CC7EF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973007A-8947-44EA-AF1C-8893F9EAEE7F}"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80B1E3-3623-4E49-85FD-E4E1E6CC7EF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973007A-8947-44EA-AF1C-8893F9EAEE7F}"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80B1E3-3623-4E49-85FD-E4E1E6CC7EF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73007A-8947-44EA-AF1C-8893F9EAEE7F}"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80B1E3-3623-4E49-85FD-E4E1E6CC7EF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73007A-8947-44EA-AF1C-8893F9EAEE7F}"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80B1E3-3623-4E49-85FD-E4E1E6CC7EF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73007A-8947-44EA-AF1C-8893F9EAEE7F}"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80B1E3-3623-4E49-85FD-E4E1E6CC7EF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Abstract Data Type (ADT):</a:t>
            </a:r>
            <a:br>
              <a:rPr lang="en-US" b="1" dirty="0" smtClean="0"/>
            </a:b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6072230"/>
          </a:xfrm>
        </p:spPr>
        <p:txBody>
          <a:bodyPr>
            <a:normAutofit fontScale="92500" lnSpcReduction="20000"/>
          </a:bodyPr>
          <a:lstStyle/>
          <a:p>
            <a:pPr>
              <a:buNone/>
            </a:pPr>
            <a:r>
              <a:rPr lang="en-US" b="1" dirty="0" smtClean="0"/>
              <a:t>Abstract Data Type (ADT):</a:t>
            </a:r>
          </a:p>
          <a:p>
            <a:r>
              <a:rPr lang="en-US" dirty="0" smtClean="0"/>
              <a:t>Data types such as int, float, double, long, etc. are considered to be in-built data types and we can perform basic operations with them such as addition, subtraction, division, multiplication, etc. </a:t>
            </a:r>
          </a:p>
          <a:p>
            <a:r>
              <a:rPr lang="en-US" dirty="0" smtClean="0"/>
              <a:t>Now there might be a situation when we need operations for our user-defined data type which have to be defined. </a:t>
            </a:r>
          </a:p>
          <a:p>
            <a:r>
              <a:rPr lang="en-US" dirty="0" smtClean="0"/>
              <a:t>These operations can be defined only as and when we require them.</a:t>
            </a:r>
          </a:p>
          <a:p>
            <a:r>
              <a:rPr lang="en-US" dirty="0" smtClean="0"/>
              <a:t> So, in order to simplify the process of solving problems, we can create data structures along with their operations, and such data structures that are not in-built are known as Abstract Data Type (ADT).</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786478"/>
          </a:xfrm>
        </p:spPr>
        <p:txBody>
          <a:bodyPr>
            <a:normAutofit fontScale="92500" lnSpcReduction="10000"/>
          </a:bodyPr>
          <a:lstStyle/>
          <a:p>
            <a:pPr fontAlgn="base"/>
            <a:r>
              <a:rPr lang="en-US" dirty="0" smtClean="0"/>
              <a:t>Abstract Data type (ADT) is a type (or class) for objects whose behavior is defined by a set of values and a set of operations. </a:t>
            </a:r>
            <a:endParaRPr lang="en-US" dirty="0" smtClean="0"/>
          </a:p>
          <a:p>
            <a:pPr fontAlgn="base"/>
            <a:r>
              <a:rPr lang="en-US" dirty="0" smtClean="0"/>
              <a:t>The </a:t>
            </a:r>
            <a:r>
              <a:rPr lang="en-US" dirty="0" smtClean="0"/>
              <a:t>definition of ADT only mentions what operations are to be performed but not how these operations will be implemented</a:t>
            </a:r>
            <a:r>
              <a:rPr lang="en-US" dirty="0" smtClean="0"/>
              <a:t>.</a:t>
            </a:r>
          </a:p>
          <a:p>
            <a:pPr fontAlgn="base"/>
            <a:r>
              <a:rPr lang="en-US" dirty="0" smtClean="0"/>
              <a:t> </a:t>
            </a:r>
            <a:r>
              <a:rPr lang="en-US" dirty="0" smtClean="0"/>
              <a:t>It does not specify how data will be organized in memory and what algorithms will be used for implementing the operations. It is called “abstract” because it gives an implementation-independent view. </a:t>
            </a:r>
          </a:p>
          <a:p>
            <a:pPr fontAlgn="base"/>
            <a:r>
              <a:rPr lang="en-US" dirty="0" smtClean="0"/>
              <a:t>The process of providing only the essentials and hiding the details is known as abstraction. </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457200" y="1071546"/>
            <a:ext cx="8229600" cy="477193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28604"/>
            <a:ext cx="8229600" cy="5697559"/>
          </a:xfrm>
        </p:spPr>
        <p:txBody>
          <a:bodyPr>
            <a:normAutofit fontScale="85000" lnSpcReduction="10000"/>
          </a:bodyPr>
          <a:lstStyle/>
          <a:p>
            <a:pPr>
              <a:buNone/>
            </a:pPr>
            <a:r>
              <a:rPr lang="en-US" b="1" dirty="0" smtClean="0"/>
              <a:t>List ADT in Data </a:t>
            </a:r>
            <a:r>
              <a:rPr lang="en-US" b="1" dirty="0" smtClean="0"/>
              <a:t>Structures</a:t>
            </a:r>
            <a:endParaRPr lang="en-US" dirty="0" smtClean="0"/>
          </a:p>
          <a:p>
            <a:r>
              <a:rPr lang="en-US" dirty="0" smtClean="0"/>
              <a:t>One of the most common forms of data organization in computer programs is the ordered or linear list, which is often written as  a = (a1,a2,... An) a</a:t>
            </a:r>
            <a:r>
              <a:rPr lang="en-US" baseline="-25000" dirty="0" smtClean="0"/>
              <a:t>i </a:t>
            </a:r>
            <a:r>
              <a:rPr lang="en-US" dirty="0" smtClean="0"/>
              <a:t>’s are referred to as atoms and they are chosen from some set. The The null or empty list has n = 0 elements.</a:t>
            </a:r>
          </a:p>
          <a:p>
            <a:r>
              <a:rPr lang="en-US" dirty="0" smtClean="0"/>
              <a:t>A</a:t>
            </a:r>
            <a:r>
              <a:rPr lang="en-US" dirty="0" smtClean="0"/>
              <a:t> </a:t>
            </a:r>
            <a:r>
              <a:rPr lang="en-US" b="1" dirty="0" smtClean="0"/>
              <a:t>List ADT (Abstract Data Type)</a:t>
            </a:r>
            <a:r>
              <a:rPr lang="en-US" dirty="0" smtClean="0"/>
              <a:t> is a </a:t>
            </a:r>
            <a:r>
              <a:rPr lang="en-US" b="1" dirty="0" smtClean="0"/>
              <a:t>sequential collection of elements</a:t>
            </a:r>
            <a:r>
              <a:rPr lang="en-US" dirty="0" smtClean="0"/>
              <a:t> that maintains a specific order and supports a defined set of operations without revealing its internal implementation. </a:t>
            </a:r>
            <a:endParaRPr lang="en-US" dirty="0" smtClean="0"/>
          </a:p>
          <a:p>
            <a:r>
              <a:rPr lang="en-US" dirty="0" smtClean="0"/>
              <a:t>It </a:t>
            </a:r>
            <a:r>
              <a:rPr lang="en-US" dirty="0" smtClean="0"/>
              <a:t>focuses on </a:t>
            </a:r>
            <a:r>
              <a:rPr lang="en-US" b="1" dirty="0" smtClean="0"/>
              <a:t>what</a:t>
            </a:r>
            <a:r>
              <a:rPr lang="en-US" dirty="0" smtClean="0"/>
              <a:t> operations can be performed rather than </a:t>
            </a:r>
            <a:r>
              <a:rPr lang="en-US" b="1" dirty="0" smtClean="0"/>
              <a:t>how</a:t>
            </a:r>
            <a:r>
              <a:rPr lang="en-US" dirty="0" smtClean="0"/>
              <a:t> they are implemented, allowing flexibility in using arrays, linked lists, or other structures underneath.</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6286544"/>
          </a:xfrm>
        </p:spPr>
        <p:txBody>
          <a:bodyPr>
            <a:normAutofit fontScale="70000" lnSpcReduction="20000"/>
          </a:bodyPr>
          <a:lstStyle/>
          <a:p>
            <a:pPr>
              <a:buNone/>
            </a:pPr>
            <a:r>
              <a:rPr lang="en-US" b="1" dirty="0" smtClean="0"/>
              <a:t>Key Characteristics</a:t>
            </a:r>
            <a:endParaRPr lang="en-US" dirty="0" smtClean="0"/>
          </a:p>
          <a:p>
            <a:r>
              <a:rPr lang="en-US" b="1" dirty="0" smtClean="0"/>
              <a:t>Ordered Collection</a:t>
            </a:r>
            <a:r>
              <a:rPr lang="en-US" dirty="0" smtClean="0"/>
              <a:t>: Elements are stored in a sequence.</a:t>
            </a:r>
          </a:p>
          <a:p>
            <a:r>
              <a:rPr lang="en-US" b="1" dirty="0" smtClean="0"/>
              <a:t>Position-based Access</a:t>
            </a:r>
            <a:r>
              <a:rPr lang="en-US" dirty="0" smtClean="0"/>
              <a:t>: Items can be accessed or modified by their position.</a:t>
            </a:r>
          </a:p>
          <a:p>
            <a:r>
              <a:rPr lang="en-US" b="1" dirty="0" smtClean="0"/>
              <a:t>Implementation Independence</a:t>
            </a:r>
            <a:r>
              <a:rPr lang="en-US" dirty="0" smtClean="0"/>
              <a:t>: Can be implemented using arrays, linked lists, etc., without affecting external usage</a:t>
            </a:r>
            <a:r>
              <a:rPr lang="en-US" dirty="0" smtClean="0"/>
              <a:t>.</a:t>
            </a:r>
          </a:p>
          <a:p>
            <a:pPr>
              <a:buNone/>
            </a:pPr>
            <a:endParaRPr lang="en-US" dirty="0" smtClean="0"/>
          </a:p>
          <a:p>
            <a:pPr>
              <a:buNone/>
            </a:pPr>
            <a:r>
              <a:rPr lang="en-US" b="1" dirty="0" smtClean="0"/>
              <a:t>Common Operations</a:t>
            </a:r>
            <a:endParaRPr lang="en-US" dirty="0" smtClean="0"/>
          </a:p>
          <a:p>
            <a:r>
              <a:rPr lang="en-US" b="1" dirty="0" smtClean="0"/>
              <a:t>get(pos)</a:t>
            </a:r>
            <a:r>
              <a:rPr lang="en-US" dirty="0" smtClean="0"/>
              <a:t> – Retrieve the element at a given position.</a:t>
            </a:r>
          </a:p>
          <a:p>
            <a:r>
              <a:rPr lang="en-US" b="1" dirty="0" smtClean="0"/>
              <a:t>insert(pos, element)</a:t>
            </a:r>
            <a:r>
              <a:rPr lang="en-US" dirty="0" smtClean="0"/>
              <a:t> – Add an element at a specific position.</a:t>
            </a:r>
          </a:p>
          <a:p>
            <a:r>
              <a:rPr lang="en-US" b="1" dirty="0" smtClean="0"/>
              <a:t>remove(element)</a:t>
            </a:r>
            <a:r>
              <a:rPr lang="en-US" dirty="0" smtClean="0"/>
              <a:t> – Delete the first occurrence of a given element.</a:t>
            </a:r>
          </a:p>
          <a:p>
            <a:r>
              <a:rPr lang="en-US" b="1" dirty="0" smtClean="0"/>
              <a:t>removeAt(pos)</a:t>
            </a:r>
            <a:r>
              <a:rPr lang="en-US" dirty="0" smtClean="0"/>
              <a:t> – Remove the element at a specific position.</a:t>
            </a:r>
          </a:p>
          <a:p>
            <a:r>
              <a:rPr lang="en-US" b="1" dirty="0" smtClean="0"/>
              <a:t>replace(pos, element)</a:t>
            </a:r>
            <a:r>
              <a:rPr lang="en-US" dirty="0" smtClean="0"/>
              <a:t> – Replace the element at a given position.</a:t>
            </a:r>
          </a:p>
          <a:p>
            <a:r>
              <a:rPr lang="en-US" b="1" dirty="0" smtClean="0"/>
              <a:t>size()</a:t>
            </a:r>
            <a:r>
              <a:rPr lang="en-US" dirty="0" smtClean="0"/>
              <a:t> – Return the number of elements.</a:t>
            </a:r>
          </a:p>
          <a:p>
            <a:r>
              <a:rPr lang="en-US" b="1" dirty="0" smtClean="0"/>
              <a:t>isEmpty()</a:t>
            </a:r>
            <a:r>
              <a:rPr lang="en-US" dirty="0" smtClean="0"/>
              <a:t> – Check if the list is empty.</a:t>
            </a:r>
          </a:p>
          <a:p>
            <a:r>
              <a:rPr lang="en-US" b="1" dirty="0" smtClean="0"/>
              <a:t>isFull()</a:t>
            </a:r>
            <a:r>
              <a:rPr lang="en-US" dirty="0" smtClean="0"/>
              <a:t> – Check if the list is full (relevant for fixed-size implementations</a:t>
            </a:r>
            <a:r>
              <a:rPr lang="en-US" dirty="0" smtClean="0"/>
              <a:t>).</a:t>
            </a:r>
          </a:p>
          <a:p>
            <a:r>
              <a:rPr lang="en-US" dirty="0" smtClean="0"/>
              <a:t>Search(element) – Search for the given element </a:t>
            </a:r>
            <a:endParaRPr lang="en-US"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normAutofit fontScale="85000" lnSpcReduction="20000"/>
          </a:bodyPr>
          <a:lstStyle/>
          <a:p>
            <a:pPr>
              <a:buNone/>
            </a:pPr>
            <a:r>
              <a:rPr lang="en-US" b="1" dirty="0" smtClean="0"/>
              <a:t>Advantages</a:t>
            </a:r>
            <a:endParaRPr lang="en-US" dirty="0" smtClean="0"/>
          </a:p>
          <a:p>
            <a:r>
              <a:rPr lang="en-US" b="1" dirty="0" smtClean="0"/>
              <a:t>Encapsulation &amp; Abstraction</a:t>
            </a:r>
            <a:r>
              <a:rPr lang="en-US" dirty="0" smtClean="0"/>
              <a:t> – Hides implementation details.</a:t>
            </a:r>
          </a:p>
          <a:p>
            <a:r>
              <a:rPr lang="en-US" b="1" dirty="0" smtClean="0"/>
              <a:t>Flexibility</a:t>
            </a:r>
            <a:r>
              <a:rPr lang="en-US" dirty="0" smtClean="0"/>
              <a:t> – Can switch between array or linked list internally.</a:t>
            </a:r>
          </a:p>
          <a:p>
            <a:r>
              <a:rPr lang="en-US" b="1" dirty="0" smtClean="0"/>
              <a:t>Modularity</a:t>
            </a:r>
            <a:r>
              <a:rPr lang="en-US" dirty="0" smtClean="0"/>
              <a:t> – Easy to integrate with other ADTs</a:t>
            </a:r>
            <a:r>
              <a:rPr lang="en-US" dirty="0" smtClean="0"/>
              <a:t>.</a:t>
            </a:r>
          </a:p>
          <a:p>
            <a:endParaRPr lang="en-US" dirty="0" smtClean="0"/>
          </a:p>
          <a:p>
            <a:r>
              <a:rPr lang="en-US" b="1" dirty="0" smtClean="0"/>
              <a:t>Limitations</a:t>
            </a:r>
            <a:endParaRPr lang="en-US" dirty="0" smtClean="0"/>
          </a:p>
          <a:p>
            <a:r>
              <a:rPr lang="en-US" b="1" dirty="0" smtClean="0"/>
              <a:t>Overhead</a:t>
            </a:r>
            <a:r>
              <a:rPr lang="en-US" dirty="0" smtClean="0"/>
              <a:t> – May require extra memory or processing.</a:t>
            </a:r>
          </a:p>
          <a:p>
            <a:r>
              <a:rPr lang="en-US" b="1" dirty="0" smtClean="0"/>
              <a:t>Complexity</a:t>
            </a:r>
            <a:r>
              <a:rPr lang="en-US" dirty="0" smtClean="0"/>
              <a:t> – Implementation can be intricate for dynamic resizing.</a:t>
            </a:r>
          </a:p>
          <a:p>
            <a:r>
              <a:rPr lang="en-US" dirty="0" smtClean="0"/>
              <a:t>This makes the </a:t>
            </a:r>
            <a:r>
              <a:rPr lang="en-US" b="1" dirty="0" smtClean="0"/>
              <a:t>List ADT</a:t>
            </a:r>
            <a:r>
              <a:rPr lang="en-US" dirty="0" smtClean="0"/>
              <a:t> a foundational concept in data structures, widely used in algorithms and application development.</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normAutofit lnSpcReduction="10000"/>
          </a:bodyPr>
          <a:lstStyle/>
          <a:p>
            <a:pPr fontAlgn="base"/>
            <a:r>
              <a:rPr lang="en-US" dirty="0" smtClean="0"/>
              <a:t>A linked list is a type of linear data structure individual items are not necessarily at contiguous locations. The individual items are called nodes and connected with each other using links.</a:t>
            </a:r>
          </a:p>
          <a:p>
            <a:pPr fontAlgn="base"/>
            <a:r>
              <a:rPr lang="en-US" dirty="0" smtClean="0"/>
              <a:t>A node contains two things first is data and second is a link that connects it with another node.</a:t>
            </a:r>
          </a:p>
          <a:p>
            <a:pPr fontAlgn="base"/>
            <a:r>
              <a:rPr lang="en-US" dirty="0" smtClean="0"/>
              <a:t>The first node is called the head node and we can traverse the whole list using this head and next links.</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Grp="1" noChangeAspect="1" noChangeArrowheads="1"/>
          </p:cNvPicPr>
          <p:nvPr>
            <p:ph idx="1"/>
          </p:nvPr>
        </p:nvPicPr>
        <p:blipFill>
          <a:blip r:embed="rId2"/>
          <a:srcRect/>
          <a:stretch>
            <a:fillRect/>
          </a:stretch>
        </p:blipFill>
        <p:spPr bwMode="auto">
          <a:xfrm>
            <a:off x="457200" y="2363605"/>
            <a:ext cx="8229600" cy="299915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28670"/>
            <a:ext cx="8229600" cy="5197493"/>
          </a:xfrm>
        </p:spPr>
        <p:txBody>
          <a:bodyPr>
            <a:normAutofit/>
          </a:bodyPr>
          <a:lstStyle/>
          <a:p>
            <a:r>
              <a:rPr lang="en-US" dirty="0" smtClean="0"/>
              <a:t>A big benefit with using linked lists is that nodes are stored wherever there is free space in memory, the nodes do not have to be stored contiguously right after each other like elements are stored in arrays</a:t>
            </a:r>
            <a:r>
              <a:rPr lang="en-US" dirty="0" smtClean="0"/>
              <a:t>.</a:t>
            </a:r>
          </a:p>
          <a:p>
            <a:r>
              <a:rPr lang="en-US" dirty="0" smtClean="0"/>
              <a:t>Another </a:t>
            </a:r>
            <a:r>
              <a:rPr lang="en-US" dirty="0" smtClean="0"/>
              <a:t>nice thing with linked lists is that when adding or removing nodes, the rest of the nodes in the list do not have to be shifted.</a:t>
            </a:r>
          </a:p>
          <a:p>
            <a:pPr>
              <a:buNone/>
            </a:pP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142852"/>
            <a:ext cx="8472518" cy="5983311"/>
          </a:xfrm>
        </p:spPr>
        <p:txBody>
          <a:bodyPr>
            <a:noAutofit/>
          </a:bodyPr>
          <a:lstStyle/>
          <a:p>
            <a:pPr>
              <a:buNone/>
            </a:pPr>
            <a:r>
              <a:rPr lang="en-US" dirty="0" smtClean="0"/>
              <a:t>STACKS AND QUEUES :</a:t>
            </a:r>
          </a:p>
          <a:p>
            <a:r>
              <a:rPr lang="en-US" sz="2800" dirty="0" smtClean="0"/>
              <a:t>A stack is an ordered list in which all insertions and deletions are made at one end, called the top. A queue is an ordered list in which all insertions take place at one end, the rear, whereas all deletions take place at the other end, the front. </a:t>
            </a:r>
          </a:p>
          <a:p>
            <a:r>
              <a:rPr lang="en-US" sz="2800" dirty="0" smtClean="0"/>
              <a:t>The operations of a stack imply that if the elements A, B,C,D,and E are inserted into a stack, in that order, then the first element to be removed (deleted) must be E. Equivalently we say that the last element to be inserted into the stack is the first to be removed. </a:t>
            </a:r>
            <a:r>
              <a:rPr lang="en-US" sz="2800" dirty="0" smtClean="0"/>
              <a:t>Stacks are referred to as Last In First Out (LIFO) lists. </a:t>
            </a:r>
            <a:endParaRPr 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928662" y="642918"/>
            <a:ext cx="6910413" cy="52681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5768997"/>
          </a:xfrm>
        </p:spPr>
        <p:txBody>
          <a:bodyPr>
            <a:noAutofit/>
          </a:bodyPr>
          <a:lstStyle/>
          <a:p>
            <a:r>
              <a:rPr lang="en-US" sz="2800" dirty="0" smtClean="0"/>
              <a:t>The simplest way to represent a stack is by using a one-dimensional array,  say stack[0..n-1], where n is the maximum numberof allowable entries.</a:t>
            </a:r>
          </a:p>
          <a:p>
            <a:r>
              <a:rPr lang="en-US" sz="2800" dirty="0" smtClean="0"/>
              <a:t> The first or bottom element in the stack is stored at stack[0], the second at stack[1],and the ith at stack[i], Associated with the array is a variable, typically called </a:t>
            </a:r>
            <a:r>
              <a:rPr lang="en-US" sz="2800" b="1" i="1" dirty="0" smtClean="0"/>
              <a:t>top</a:t>
            </a:r>
            <a:r>
              <a:rPr lang="en-US" sz="2800" dirty="0" smtClean="0"/>
              <a:t>, which points to the top element in the stack. To test whether the stackis empty, we ask "if (top &lt; 0)". If not, the top most element is at stack[top]. Checking whether the stack is full can be done by asking "if (top &gt; n)”. </a:t>
            </a:r>
            <a:endParaRPr lang="en-US" sz="28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fontScale="85000" lnSpcReduction="10000"/>
          </a:bodyPr>
          <a:lstStyle/>
          <a:p>
            <a:r>
              <a:rPr lang="en-US" dirty="0" smtClean="0"/>
              <a:t>Two more substantial operations are inserting and deleting elements. Thecorresponding algorithms are Add and Delete. Each execution of Add or Delete takes a constant amountof time and is independent of the number of elements in the stack. </a:t>
            </a:r>
          </a:p>
          <a:p>
            <a:r>
              <a:rPr lang="en-US" dirty="0" smtClean="0"/>
              <a:t>Another way to represent a stack is by using links (or pointers). A node is a collection of data and link information. A stack can be represented by using nodes with two fields, possibly called data and link. The data field of each node contains an item in the stack and the corresponding link field points to the node containing the next item in the stack. The link field of the last node is zero, for we assume that all nodes have an address greater than zero.</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1062037" y="2410619"/>
            <a:ext cx="7019925" cy="29051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6215106"/>
          </a:xfrm>
        </p:spPr>
        <p:txBody>
          <a:bodyPr>
            <a:noAutofit/>
          </a:bodyPr>
          <a:lstStyle/>
          <a:p>
            <a:r>
              <a:rPr lang="en-US" dirty="0" smtClean="0"/>
              <a:t>Queues:</a:t>
            </a:r>
          </a:p>
          <a:p>
            <a:r>
              <a:rPr lang="en-US" dirty="0" smtClean="0"/>
              <a:t>The operations of a queue require that the first element that is inserted into the queue is the first one to be removed. Thus queues are known as FirstIn FirstOut (FIFO) lists.</a:t>
            </a:r>
          </a:p>
          <a:p>
            <a:r>
              <a:rPr lang="en-US" dirty="0" smtClean="0"/>
              <a:t>An </a:t>
            </a:r>
            <a:r>
              <a:rPr lang="en-US" dirty="0" smtClean="0"/>
              <a:t>efficient queue representation can be obtained by taking an array q[0 : n -1]and treating it as if it were circular. </a:t>
            </a:r>
          </a:p>
          <a:p>
            <a:r>
              <a:rPr lang="en-US" dirty="0" smtClean="0"/>
              <a:t>Elements are inserted by increasing the variable rear to the next free position</a:t>
            </a:r>
            <a:r>
              <a:rPr lang="en-US" dirty="0" smtClean="0"/>
              <a:t>. When </a:t>
            </a:r>
            <a:r>
              <a:rPr lang="en-US" dirty="0" smtClean="0"/>
              <a:t>rear = </a:t>
            </a:r>
            <a:r>
              <a:rPr lang="en-US" dirty="0" smtClean="0"/>
              <a:t>n-1, </a:t>
            </a:r>
            <a:r>
              <a:rPr lang="en-US" dirty="0" smtClean="0"/>
              <a:t>the next element is entered at q[0] in case that spot is free.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340369"/>
          </a:xfrm>
        </p:spPr>
        <p:txBody>
          <a:bodyPr/>
          <a:lstStyle/>
          <a:p>
            <a:r>
              <a:rPr lang="en-US" sz="3600" dirty="0" smtClean="0"/>
              <a:t>The variable front always points one position counter clockwise from the first element in the queue. The variable front= rear if and only if the queue is empty and we initially set front:=rear :=0. </a:t>
            </a:r>
          </a:p>
          <a:p>
            <a:r>
              <a:rPr lang="en-US" sz="3600" dirty="0" smtClean="0"/>
              <a:t>Figure illustrates two of the possible configurations for a circular queue containing the four elements </a:t>
            </a:r>
            <a:r>
              <a:rPr lang="en-US" sz="3600" dirty="0" smtClean="0"/>
              <a:t>J1 </a:t>
            </a:r>
            <a:r>
              <a:rPr lang="en-US" sz="3600" dirty="0" smtClean="0"/>
              <a:t>to J4 with n &gt;4.</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normAutofit/>
          </a:bodyPr>
          <a:lstStyle/>
          <a:p>
            <a:r>
              <a:rPr lang="en-US" sz="3600" dirty="0" smtClean="0"/>
              <a:t>To insert an element(enqueue), it is necessary to move rear one position clockwise. This can be done using the code </a:t>
            </a:r>
          </a:p>
          <a:p>
            <a:pPr>
              <a:buNone/>
            </a:pPr>
            <a:r>
              <a:rPr lang="en-US" sz="3600" b="1" dirty="0" smtClean="0"/>
              <a:t>    if (rear= n-1) then rear :=0; </a:t>
            </a:r>
          </a:p>
          <a:p>
            <a:pPr>
              <a:buNone/>
            </a:pPr>
            <a:r>
              <a:rPr lang="en-US" sz="3600" b="1" dirty="0" smtClean="0"/>
              <a:t>           else rear :=rear + 1;</a:t>
            </a:r>
          </a:p>
          <a:p>
            <a:pPr>
              <a:buNone/>
            </a:pP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214290"/>
            <a:ext cx="8472518" cy="6286544"/>
          </a:xfrm>
        </p:spPr>
        <p:txBody>
          <a:bodyPr>
            <a:normAutofit fontScale="85000" lnSpcReduction="20000"/>
          </a:bodyPr>
          <a:lstStyle/>
          <a:p>
            <a:pPr>
              <a:buNone/>
            </a:pPr>
            <a:endParaRPr lang="en-US" b="1" dirty="0" smtClean="0"/>
          </a:p>
          <a:p>
            <a:r>
              <a:rPr lang="en-US" sz="3900" dirty="0" smtClean="0"/>
              <a:t>A more elegant way to do this is to use the built-in modulo operator which computes remainders. Before doing an insert,we increase the </a:t>
            </a:r>
            <a:r>
              <a:rPr lang="en-US" sz="3900" i="1" dirty="0" smtClean="0"/>
              <a:t>rear</a:t>
            </a:r>
            <a:r>
              <a:rPr lang="en-US" sz="3900" dirty="0" smtClean="0"/>
              <a:t> pointer by saying </a:t>
            </a:r>
          </a:p>
          <a:p>
            <a:pPr>
              <a:buNone/>
            </a:pPr>
            <a:r>
              <a:rPr lang="en-US" sz="3900" dirty="0" smtClean="0"/>
              <a:t>        rear := (rear + 1) mod n;. </a:t>
            </a:r>
          </a:p>
          <a:p>
            <a:r>
              <a:rPr lang="en-US" sz="3900" dirty="0" smtClean="0"/>
              <a:t>Similarly</a:t>
            </a:r>
            <a:r>
              <a:rPr lang="en-US" sz="3900" dirty="0" smtClean="0"/>
              <a:t>, it </a:t>
            </a:r>
            <a:r>
              <a:rPr lang="en-US" sz="3900" dirty="0" smtClean="0"/>
              <a:t>is </a:t>
            </a:r>
            <a:r>
              <a:rPr lang="en-US" sz="3900" dirty="0" smtClean="0"/>
              <a:t>necessary to </a:t>
            </a:r>
            <a:r>
              <a:rPr lang="en-US" sz="3900" dirty="0" smtClean="0"/>
              <a:t>move </a:t>
            </a:r>
            <a:r>
              <a:rPr lang="en-US" sz="3900" i="1" dirty="0" smtClean="0"/>
              <a:t>front</a:t>
            </a:r>
            <a:r>
              <a:rPr lang="en-US" sz="3900" dirty="0" smtClean="0"/>
              <a:t> one position clockwise each time a deletion(dequeue) is made. </a:t>
            </a:r>
            <a:endParaRPr lang="en-US" sz="3900" dirty="0" smtClean="0"/>
          </a:p>
          <a:p>
            <a:r>
              <a:rPr lang="en-US" sz="3900" dirty="0" smtClean="0"/>
              <a:t>An </a:t>
            </a:r>
            <a:r>
              <a:rPr lang="en-US" sz="3900" dirty="0" smtClean="0"/>
              <a:t>examination of given Algorithm shows that by treating the array circularly, addition and deletion for queues can be carried out in a fixed amount of time or O(1)</a:t>
            </a:r>
          </a:p>
          <a:p>
            <a:pPr>
              <a:buNone/>
            </a:pP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a:bodyPr>
          <a:lstStyle/>
          <a:p>
            <a:r>
              <a:rPr lang="en-US" dirty="0" smtClean="0"/>
              <a:t>One feature that is to be noted in these two algorithms is that the test for </a:t>
            </a:r>
            <a:r>
              <a:rPr lang="en-US" i="1" dirty="0" smtClean="0"/>
              <a:t>queue full </a:t>
            </a:r>
            <a:r>
              <a:rPr lang="en-US" dirty="0" smtClean="0"/>
              <a:t>in AddQ and the test for </a:t>
            </a:r>
            <a:r>
              <a:rPr lang="en-US" i="1" dirty="0" smtClean="0"/>
              <a:t>queue empty </a:t>
            </a:r>
            <a:r>
              <a:rPr lang="en-US" dirty="0" smtClean="0"/>
              <a:t>in DeleteQ are the same.</a:t>
            </a:r>
          </a:p>
          <a:p>
            <a:r>
              <a:rPr lang="en-US" dirty="0" smtClean="0"/>
              <a:t> In the </a:t>
            </a:r>
            <a:r>
              <a:rPr lang="en-US" dirty="0" smtClean="0"/>
              <a:t>case of </a:t>
            </a:r>
            <a:r>
              <a:rPr lang="en-US" dirty="0" smtClean="0"/>
              <a:t>AddQ, however, when </a:t>
            </a:r>
          </a:p>
          <a:p>
            <a:pPr>
              <a:buNone/>
            </a:pPr>
            <a:r>
              <a:rPr lang="en-US" dirty="0" smtClean="0"/>
              <a:t>    front= rear, there is actually one space free, q[rear], since the first element in the queue is not at q[front]but is one position clockwise from this point.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428604"/>
            <a:ext cx="8643998" cy="6072230"/>
          </a:xfrm>
        </p:spPr>
        <p:txBody>
          <a:bodyPr>
            <a:normAutofit/>
          </a:bodyPr>
          <a:lstStyle/>
          <a:p>
            <a:r>
              <a:rPr lang="en-US" sz="3600" dirty="0" smtClean="0"/>
              <a:t>However</a:t>
            </a:r>
            <a:r>
              <a:rPr lang="en-US" sz="3600" dirty="0" smtClean="0"/>
              <a:t>, if </a:t>
            </a:r>
            <a:r>
              <a:rPr lang="en-US" sz="3600" dirty="0" smtClean="0"/>
              <a:t>we insert an item there, then we cannot distinguish between the cases full and empty, since this insertion leaves</a:t>
            </a:r>
          </a:p>
          <a:p>
            <a:pPr>
              <a:buNone/>
            </a:pPr>
            <a:r>
              <a:rPr lang="en-US" sz="3600" dirty="0" smtClean="0"/>
              <a:t>   front = rear. </a:t>
            </a:r>
          </a:p>
          <a:p>
            <a:r>
              <a:rPr lang="en-US" sz="3600" dirty="0" smtClean="0"/>
              <a:t>To avoid this, we signal </a:t>
            </a:r>
            <a:r>
              <a:rPr lang="en-US" sz="3600" i="1" dirty="0" smtClean="0"/>
              <a:t>queue full</a:t>
            </a:r>
            <a:r>
              <a:rPr lang="en-US" sz="3600" dirty="0" smtClean="0"/>
              <a:t> and permit a maximum of n -1 rather than n elements to be in the queue at any time. </a:t>
            </a:r>
          </a:p>
          <a:p>
            <a:pPr>
              <a:buNone/>
            </a:pP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428604"/>
            <a:ext cx="8643998" cy="6072230"/>
          </a:xfrm>
        </p:spPr>
        <p:txBody>
          <a:bodyPr>
            <a:normAutofit/>
          </a:bodyPr>
          <a:lstStyle/>
          <a:p>
            <a:pPr>
              <a:buNone/>
            </a:pPr>
            <a:r>
              <a:rPr lang="en-US" dirty="0" smtClean="0"/>
              <a:t> </a:t>
            </a:r>
          </a:p>
          <a:p>
            <a:r>
              <a:rPr lang="en-US" dirty="0" smtClean="0"/>
              <a:t>Oneway to use all n positions is to use another variable, tag, to distinguish between the two situations; that is, tag = 0 if and only if the queue is empty. This however slows down the two algorithms.</a:t>
            </a:r>
          </a:p>
          <a:p>
            <a:r>
              <a:rPr lang="en-US" dirty="0" smtClean="0"/>
              <a:t>Sincethe AddQ and DeleteQ algorithms are used many times in any problem involving queues, the loss of one queue position is more than madeup by the reduction in computing time.</a:t>
            </a:r>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l="25152" t="34093" r="22490" b="32760"/>
          <a:stretch>
            <a:fillRect/>
          </a:stretch>
        </p:blipFill>
        <p:spPr bwMode="auto">
          <a:xfrm>
            <a:off x="214282" y="1000108"/>
            <a:ext cx="8643966" cy="36433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lnSpcReduction="10000"/>
          </a:bodyPr>
          <a:lstStyle/>
          <a:p>
            <a:r>
              <a:rPr lang="en-US" dirty="0" smtClean="0"/>
              <a:t>Another way to represent a </a:t>
            </a:r>
            <a:r>
              <a:rPr lang="en-US" dirty="0" smtClean="0"/>
              <a:t>queue is </a:t>
            </a:r>
            <a:r>
              <a:rPr lang="en-US" dirty="0" smtClean="0"/>
              <a:t>by using links. Figure shows a queue with the four elements A, B,C, and D entered in that order. </a:t>
            </a:r>
          </a:p>
          <a:p>
            <a:r>
              <a:rPr lang="en-US" dirty="0" smtClean="0"/>
              <a:t>As with the linked stack example</a:t>
            </a:r>
            <a:r>
              <a:rPr lang="en-US" dirty="0" smtClean="0"/>
              <a:t>, each </a:t>
            </a:r>
            <a:r>
              <a:rPr lang="en-US" dirty="0" smtClean="0"/>
              <a:t>node of the queue is composed of the two fields data and link.</a:t>
            </a:r>
          </a:p>
          <a:p>
            <a:r>
              <a:rPr lang="en-US" dirty="0" smtClean="0"/>
              <a:t>A queue is pointed at by two variables,front and rear.</a:t>
            </a:r>
          </a:p>
          <a:p>
            <a:r>
              <a:rPr lang="en-US" dirty="0" smtClean="0"/>
              <a:t>Deletions are made from the front, and insertions at the rear. Variable </a:t>
            </a:r>
            <a:r>
              <a:rPr lang="en-US" i="1" dirty="0" smtClean="0"/>
              <a:t>front= 0 </a:t>
            </a:r>
            <a:r>
              <a:rPr lang="en-US" dirty="0" smtClean="0"/>
              <a:t>signals an empty queue. </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428596" y="928670"/>
            <a:ext cx="8286807" cy="422991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29307</TotalTime>
  <Words>1444</Words>
  <Application>Microsoft Office PowerPoint</Application>
  <PresentationFormat>On-screen Show (4:3)</PresentationFormat>
  <Paragraphs>78</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Abstract Data Type (ADT):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 Data Type (ADT): </dc:title>
  <dc:creator>Admin</dc:creator>
  <cp:lastModifiedBy>Admin</cp:lastModifiedBy>
  <cp:revision>3</cp:revision>
  <dcterms:created xsi:type="dcterms:W3CDTF">2026-08-19T04:31:20Z</dcterms:created>
  <dcterms:modified xsi:type="dcterms:W3CDTF">2026-09-08T12:58:53Z</dcterms:modified>
</cp:coreProperties>
</file>