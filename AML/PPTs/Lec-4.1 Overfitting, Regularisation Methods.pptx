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2434-039C-427A-8DDC-786818A0A41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E4223-2A93-4F93-9168-13C574E77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54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2434-039C-427A-8DDC-786818A0A41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E4223-2A93-4F93-9168-13C574E77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35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2434-039C-427A-8DDC-786818A0A41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E4223-2A93-4F93-9168-13C574E77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624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2434-039C-427A-8DDC-786818A0A41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E4223-2A93-4F93-9168-13C574E77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390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2434-039C-427A-8DDC-786818A0A41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E4223-2A93-4F93-9168-13C574E77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57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2434-039C-427A-8DDC-786818A0A41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E4223-2A93-4F93-9168-13C574E77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644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2434-039C-427A-8DDC-786818A0A41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E4223-2A93-4F93-9168-13C574E77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31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2434-039C-427A-8DDC-786818A0A41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E4223-2A93-4F93-9168-13C574E77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32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2434-039C-427A-8DDC-786818A0A41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E4223-2A93-4F93-9168-13C574E77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002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2434-039C-427A-8DDC-786818A0A41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E4223-2A93-4F93-9168-13C574E77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2434-039C-427A-8DDC-786818A0A41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E4223-2A93-4F93-9168-13C574E77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69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2434-039C-427A-8DDC-786818A0A41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E4223-2A93-4F93-9168-13C574E77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60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Overfitting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Overfitting happens when the model learns the training data too closely, including noise or random patterns, so it performs very well on training data but poorly on unseen data.</a:t>
            </a:r>
          </a:p>
          <a:p>
            <a:pPr algn="just"/>
            <a:r>
              <a:rPr lang="en-US" dirty="0" smtClean="0"/>
              <a:t>Example: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Suppose you're predicting whether a customer will buy a product:</a:t>
            </a:r>
          </a:p>
          <a:p>
            <a:r>
              <a:rPr lang="en-US" b="1" dirty="0" smtClean="0"/>
              <a:t>Training accuracy:</a:t>
            </a:r>
            <a:r>
              <a:rPr lang="en-US" dirty="0" smtClean="0"/>
              <a:t> 99% </a:t>
            </a:r>
          </a:p>
          <a:p>
            <a:r>
              <a:rPr lang="en-US" b="1" dirty="0" smtClean="0"/>
              <a:t>Test accuracy:</a:t>
            </a:r>
            <a:r>
              <a:rPr lang="en-US" dirty="0" smtClean="0"/>
              <a:t> 72%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 large gap suggests the model may be </a:t>
            </a:r>
            <a:r>
              <a:rPr lang="en-US" b="1" dirty="0" smtClean="0"/>
              <a:t>overfitting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7776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Continued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How to prevent overfitting?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b="1" dirty="0" smtClean="0"/>
              <a:t>Regularization : </a:t>
            </a:r>
            <a:r>
              <a:rPr lang="en-US" dirty="0" smtClean="0"/>
              <a:t>Regularization is the process of adding information to prevent over-fitting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 most common solution is regularization.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L2 (Ridge):</a:t>
            </a:r>
            <a:r>
              <a:rPr lang="en-US" dirty="0" smtClean="0"/>
              <a:t> shrinks coefficients toward zero.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L1 (Lasso):</a:t>
            </a:r>
            <a:r>
              <a:rPr lang="en-US" dirty="0" smtClean="0"/>
              <a:t> can shrink some coefficients exactly to zero, effectively performing feature selection.</a:t>
            </a:r>
          </a:p>
        </p:txBody>
      </p:sp>
    </p:spTree>
    <p:extLst>
      <p:ext uri="{BB962C8B-B14F-4D97-AF65-F5344CB8AC3E}">
        <p14:creationId xmlns:p14="http://schemas.microsoft.com/office/powerpoint/2010/main" val="1101403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LASSO </a:t>
            </a:r>
            <a:r>
              <a:rPr lang="en-IN" b="1" dirty="0" smtClean="0"/>
              <a:t>Regularization(L1)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426" y="1825625"/>
            <a:ext cx="10675374" cy="4351338"/>
          </a:xfrm>
        </p:spPr>
        <p:txBody>
          <a:bodyPr/>
          <a:lstStyle/>
          <a:p>
            <a:r>
              <a:rPr lang="en-US" dirty="0" smtClean="0"/>
              <a:t>LASSO stands for “</a:t>
            </a:r>
            <a:r>
              <a:rPr lang="en-US" b="1" dirty="0" smtClean="0"/>
              <a:t>Least Absolute Shrinkable and Selection Operator”</a:t>
            </a:r>
          </a:p>
          <a:p>
            <a:r>
              <a:rPr lang="en-US" dirty="0" smtClean="0"/>
              <a:t>Lasso can make some weights exactly zero</a:t>
            </a:r>
          </a:p>
          <a:p>
            <a:pPr marL="0" indent="0">
              <a:buNone/>
            </a:pPr>
            <a:r>
              <a:rPr lang="en-US" dirty="0" smtClean="0"/>
              <a:t>→ Removes unimportant features</a:t>
            </a:r>
          </a:p>
          <a:p>
            <a:pPr marL="0" indent="0">
              <a:buNone/>
            </a:pPr>
            <a:r>
              <a:rPr lang="en-US" dirty="0" smtClean="0"/>
              <a:t>→ Works like feature selection</a:t>
            </a:r>
          </a:p>
          <a:p>
            <a:pPr algn="just"/>
            <a:r>
              <a:rPr lang="en-US" dirty="0" smtClean="0"/>
              <a:t>In LASSO modification will be done to the cost function of the ordinary least square as shown below</a:t>
            </a:r>
          </a:p>
          <a:p>
            <a:pPr marL="0" indent="0" algn="ctr">
              <a:buNone/>
            </a:pPr>
            <a:endParaRPr lang="en-US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242" y="4831274"/>
            <a:ext cx="4645742" cy="134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50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Continued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The regularization parameter (λ) can be determined by cross-validation in a way that avoids under-fitting (when λ is too high) and over-fitting (when λ is too low).</a:t>
            </a:r>
          </a:p>
          <a:p>
            <a:pPr algn="just"/>
            <a:r>
              <a:rPr lang="en-US" dirty="0" smtClean="0"/>
              <a:t>If λ is equal to zero, the loss function will turn into the “Ordinary Least Square” model</a:t>
            </a:r>
          </a:p>
          <a:p>
            <a:pPr algn="just"/>
            <a:r>
              <a:rPr lang="en-US" dirty="0" smtClean="0"/>
              <a:t>Example: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Without regularization:</a:t>
            </a:r>
          </a:p>
          <a:p>
            <a:pPr marL="0" indent="0" algn="ctr">
              <a:buNone/>
            </a:pPr>
            <a:r>
              <a:rPr lang="en-US" dirty="0" smtClean="0"/>
              <a:t>y = 10x1 + 0.5x2 + 8x3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With lasso:</a:t>
            </a:r>
          </a:p>
          <a:p>
            <a:pPr marL="0" indent="0" algn="ctr">
              <a:buNone/>
            </a:pPr>
            <a:r>
              <a:rPr lang="en-US" dirty="0" smtClean="0"/>
              <a:t>y = 6x1 + 0x2 + 3x3</a:t>
            </a:r>
          </a:p>
          <a:p>
            <a:pPr algn="just"/>
            <a:r>
              <a:rPr lang="en-US" dirty="0" smtClean="0"/>
              <a:t>Feature x2 removed completely ❌ → Simpler model ✔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06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Ridge Regularization (L2)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Ridge regularization is a variation for LASSO</a:t>
            </a:r>
          </a:p>
          <a:p>
            <a:r>
              <a:rPr lang="en-US" dirty="0" smtClean="0"/>
              <a:t>In Ridge regularization, the penalty term can approach zero but will not be zero as it squares the coefficient (slope)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Ridge Regularization cannot be used in feature selection</a:t>
            </a:r>
          </a:p>
          <a:p>
            <a:r>
              <a:rPr lang="en-US" dirty="0"/>
              <a:t>when to use LASSO and Ridge?</a:t>
            </a:r>
            <a:endParaRPr lang="en-US" dirty="0" smtClean="0"/>
          </a:p>
          <a:p>
            <a:pPr marL="0" indent="0" algn="ctr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26" y="3108376"/>
            <a:ext cx="4129548" cy="122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78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61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Continued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3173"/>
            <a:ext cx="10515600" cy="491438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If you have many features with high correlation and you need to take away the useless features then LASSO is the better solution.</a:t>
            </a:r>
          </a:p>
          <a:p>
            <a:pPr algn="just"/>
            <a:r>
              <a:rPr lang="en-US" dirty="0"/>
              <a:t>If the number of features greater than the number of observations and many features with multi-collinearity, Ridge regularization is a better solution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Example:</a:t>
            </a:r>
          </a:p>
          <a:p>
            <a:pPr algn="just"/>
            <a:r>
              <a:rPr lang="en-US" dirty="0" smtClean="0"/>
              <a:t>Without regularization: </a:t>
            </a:r>
          </a:p>
          <a:p>
            <a:pPr marL="0" indent="0" algn="ctr">
              <a:buNone/>
            </a:pPr>
            <a:r>
              <a:rPr lang="en-US" dirty="0" smtClean="0"/>
              <a:t>y = 10x1 + 0.5x2 + 8x3 </a:t>
            </a:r>
          </a:p>
          <a:p>
            <a:pPr algn="just"/>
            <a:r>
              <a:rPr lang="en-US" dirty="0" smtClean="0"/>
              <a:t>With ridge: </a:t>
            </a:r>
          </a:p>
          <a:p>
            <a:pPr marL="0" indent="0" algn="ctr">
              <a:buNone/>
            </a:pPr>
            <a:r>
              <a:rPr lang="en-US" dirty="0" smtClean="0"/>
              <a:t>y = 6x1 + 0.3x2 + 4x3 </a:t>
            </a:r>
          </a:p>
          <a:p>
            <a:pPr marL="0" indent="0" algn="just">
              <a:buNone/>
            </a:pPr>
            <a:r>
              <a:rPr lang="en-US" dirty="0" smtClean="0"/>
              <a:t>Weights shrink → less overfitting ✔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502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3458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Pruning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6851"/>
            <a:ext cx="10515600" cy="4191717"/>
          </a:xfrm>
        </p:spPr>
        <p:txBody>
          <a:bodyPr/>
          <a:lstStyle/>
          <a:p>
            <a:pPr algn="just"/>
            <a:r>
              <a:rPr lang="en-US" dirty="0" smtClean="0"/>
              <a:t>Pruning is a method used to reduce the size of a decision tree by removing sections that provide little to no additional predictive power.</a:t>
            </a:r>
          </a:p>
          <a:p>
            <a:pPr algn="just"/>
            <a:r>
              <a:rPr lang="en-US" dirty="0" smtClean="0"/>
              <a:t>The goal is to avoid Overfitting and </a:t>
            </a:r>
            <a:r>
              <a:rPr lang="en-US" dirty="0" err="1" smtClean="0"/>
              <a:t>Underfitting</a:t>
            </a:r>
            <a:endParaRPr lang="en-US" dirty="0" smtClean="0"/>
          </a:p>
          <a:p>
            <a:pPr algn="just"/>
            <a:r>
              <a:rPr lang="en-IN" dirty="0" smtClean="0"/>
              <a:t>Pruning Techniques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Pre-pruning</a:t>
            </a:r>
            <a:r>
              <a:rPr lang="en-US" dirty="0"/>
              <a:t> (Early Stopping)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Post-pruning</a:t>
            </a:r>
            <a:r>
              <a:rPr lang="en-US" dirty="0"/>
              <a:t> (Pruning after full tree growth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466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Pre-Pruning (Early Stopping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6696"/>
            <a:ext cx="10515600" cy="5297846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Pre-pruning, also known as </a:t>
            </a:r>
            <a:r>
              <a:rPr lang="en-US" b="1" dirty="0" smtClean="0"/>
              <a:t>early stopping</a:t>
            </a:r>
            <a:r>
              <a:rPr lang="en-US" dirty="0" smtClean="0"/>
              <a:t>, involves halting the growth of the decision tree before it becomes fully developed.</a:t>
            </a:r>
          </a:p>
          <a:p>
            <a:pPr algn="just"/>
            <a:r>
              <a:rPr lang="en-US" dirty="0" smtClean="0"/>
              <a:t>In this approach, we impose certain conditions (constraints) to stop the tree from growing beyond a certain depth or complexity.</a:t>
            </a:r>
          </a:p>
          <a:p>
            <a:pPr algn="just"/>
            <a:r>
              <a:rPr lang="en-US" dirty="0" smtClean="0"/>
              <a:t>This way, the tree is restricted from learning the noise in the training data.</a:t>
            </a:r>
          </a:p>
          <a:p>
            <a:pPr algn="just"/>
            <a:r>
              <a:rPr lang="en-US" dirty="0" smtClean="0"/>
              <a:t>Advantages of Pre-Pruning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Reduces Overfitting: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Faster Training:</a:t>
            </a:r>
          </a:p>
          <a:p>
            <a:r>
              <a:rPr lang="en-US" dirty="0"/>
              <a:t>Disadvantages of </a:t>
            </a:r>
            <a:r>
              <a:rPr lang="en-US" dirty="0" smtClean="0"/>
              <a:t>Pre-Pruning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Risk of </a:t>
            </a:r>
            <a:r>
              <a:rPr lang="en-US" dirty="0" err="1"/>
              <a:t>Underfitting</a:t>
            </a:r>
            <a:endParaRPr lang="en-US" dirty="0"/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2504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Post-Pruning (Pruning After Full Growth)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19482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Post-pruning, also known as </a:t>
            </a:r>
            <a:r>
              <a:rPr lang="en-US" b="1" dirty="0" smtClean="0"/>
              <a:t>cost-complexity pruning</a:t>
            </a:r>
            <a:r>
              <a:rPr lang="en-US" dirty="0" smtClean="0"/>
              <a:t>, is the process of growing the decision tree fully, allowing it to </a:t>
            </a:r>
            <a:r>
              <a:rPr lang="en-US" dirty="0" err="1" smtClean="0"/>
              <a:t>overfit</a:t>
            </a:r>
            <a:r>
              <a:rPr lang="en-US" dirty="0" smtClean="0"/>
              <a:t> the training data, and then trimming back unnecessary branches that do not contribute to improving accuracy on unseen data.</a:t>
            </a:r>
          </a:p>
          <a:p>
            <a:pPr algn="just"/>
            <a:r>
              <a:rPr lang="en-US" dirty="0" smtClean="0"/>
              <a:t>Advantages of Post-Pruning: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Better Generalization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 smtClean="0"/>
              <a:t>Avoids Overfitting</a:t>
            </a:r>
          </a:p>
          <a:p>
            <a:pPr algn="just"/>
            <a:r>
              <a:rPr lang="en-IN" dirty="0" smtClean="0"/>
              <a:t>Disadvantages of Post-Pruning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Slower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Validation required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837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574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Overfitting</vt:lpstr>
      <vt:lpstr>Continued</vt:lpstr>
      <vt:lpstr>LASSO Regularization(L1)</vt:lpstr>
      <vt:lpstr>Continued</vt:lpstr>
      <vt:lpstr>Ridge Regularization (L2)</vt:lpstr>
      <vt:lpstr>Continued</vt:lpstr>
      <vt:lpstr>Pruning</vt:lpstr>
      <vt:lpstr>Pre-Pruning (Early Stopping)</vt:lpstr>
      <vt:lpstr>Post-Pruning (Pruning After Full Growth)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Overfitting</dc:title>
  <dc:creator>Dr Sameera P</dc:creator>
  <cp:lastModifiedBy>Dr Sameera P</cp:lastModifiedBy>
  <cp:revision>14</cp:revision>
  <dcterms:created xsi:type="dcterms:W3CDTF">2026-08-27T05:42:54Z</dcterms:created>
  <dcterms:modified xsi:type="dcterms:W3CDTF">2026-08-27T07:33:41Z</dcterms:modified>
</cp:coreProperties>
</file>