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311" r:id="rId2"/>
    <p:sldId id="265" r:id="rId3"/>
    <p:sldId id="278" r:id="rId4"/>
    <p:sldId id="315" r:id="rId5"/>
    <p:sldId id="314" r:id="rId6"/>
    <p:sldId id="316" r:id="rId7"/>
    <p:sldId id="267" r:id="rId8"/>
    <p:sldId id="270" r:id="rId9"/>
    <p:sldId id="271" r:id="rId10"/>
    <p:sldId id="330" r:id="rId11"/>
    <p:sldId id="331" r:id="rId12"/>
    <p:sldId id="335" r:id="rId13"/>
    <p:sldId id="332" r:id="rId14"/>
    <p:sldId id="336" r:id="rId15"/>
    <p:sldId id="274" r:id="rId16"/>
    <p:sldId id="33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58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C3D8AA-BFDE-46B4-B319-DB86248C299D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57485D-B7A6-452B-AFEC-10DA6E5F0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818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04E61-D0CF-4F9F-97C7-54A4C49F224F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C0E5A-4720-42B4-8CF6-5A82FA36E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803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04E61-D0CF-4F9F-97C7-54A4C49F224F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C0E5A-4720-42B4-8CF6-5A82FA36E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378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04E61-D0CF-4F9F-97C7-54A4C49F224F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C0E5A-4720-42B4-8CF6-5A82FA36E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686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04E61-D0CF-4F9F-97C7-54A4C49F224F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C0E5A-4720-42B4-8CF6-5A82FA36E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852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04E61-D0CF-4F9F-97C7-54A4C49F224F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C0E5A-4720-42B4-8CF6-5A82FA36E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660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04E61-D0CF-4F9F-97C7-54A4C49F224F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C0E5A-4720-42B4-8CF6-5A82FA36E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951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04E61-D0CF-4F9F-97C7-54A4C49F224F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C0E5A-4720-42B4-8CF6-5A82FA36E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361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04E61-D0CF-4F9F-97C7-54A4C49F224F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C0E5A-4720-42B4-8CF6-5A82FA36E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261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04E61-D0CF-4F9F-97C7-54A4C49F224F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C0E5A-4720-42B4-8CF6-5A82FA36E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318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04E61-D0CF-4F9F-97C7-54A4C49F224F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C0E5A-4720-42B4-8CF6-5A82FA36E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126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04E61-D0CF-4F9F-97C7-54A4C49F224F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C0E5A-4720-42B4-8CF6-5A82FA36E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460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F04E61-D0CF-4F9F-97C7-54A4C49F224F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FC0E5A-4720-42B4-8CF6-5A82FA36E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560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IN" sz="4800" b="1">
                <a:solidFill>
                  <a:srgbClr val="FFFFFF"/>
                </a:solidFill>
              </a:rPr>
              <a:t>Feature Selection</a:t>
            </a:r>
            <a:endParaRPr lang="en-US" sz="4800">
              <a:solidFill>
                <a:srgbClr val="FFFF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endParaRPr lang="en-US"/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654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Topics Covered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342900" indent="-342900"/>
            <a:r>
              <a:rPr lang="en-US" dirty="0"/>
              <a:t>Feature Selection </a:t>
            </a:r>
          </a:p>
          <a:p>
            <a:pPr marL="342900" indent="-342900"/>
            <a:r>
              <a:rPr lang="en-US" dirty="0"/>
              <a:t>Different methods of feature selection </a:t>
            </a:r>
          </a:p>
          <a:p>
            <a:pPr marL="342900" indent="-342900"/>
            <a:r>
              <a:rPr lang="en-US" dirty="0"/>
              <a:t>Example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437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What is Feature Selection?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599" y="1891970"/>
            <a:ext cx="9724031" cy="4109585"/>
          </a:xfrm>
        </p:spPr>
        <p:txBody>
          <a:bodyPr anchor="ctr">
            <a:normAutofit lnSpcReduction="10000"/>
          </a:bodyPr>
          <a:lstStyle/>
          <a:p>
            <a:r>
              <a:rPr lang="en-US" sz="2400" dirty="0"/>
              <a:t>Feature selection means selecting and retaining only the most important features in the model. </a:t>
            </a:r>
          </a:p>
          <a:p>
            <a:endParaRPr lang="en-US" sz="2400" dirty="0"/>
          </a:p>
          <a:p>
            <a:r>
              <a:rPr lang="en-US" sz="2400" dirty="0"/>
              <a:t>Feature selection is different from feature extraction. </a:t>
            </a:r>
          </a:p>
          <a:p>
            <a:endParaRPr lang="en-US" sz="2400" dirty="0"/>
          </a:p>
          <a:p>
            <a:pPr fontAlgn="base"/>
            <a:r>
              <a:rPr lang="en-US" sz="2400" b="1" dirty="0"/>
              <a:t>Extraction</a:t>
            </a:r>
            <a:r>
              <a:rPr lang="en-US" sz="2400" dirty="0"/>
              <a:t>: create a new feature from the existing features. </a:t>
            </a:r>
          </a:p>
          <a:p>
            <a:pPr lvl="1" fontAlgn="base"/>
            <a:r>
              <a:rPr lang="en-US" b="1" dirty="0"/>
              <a:t>Principal Component </a:t>
            </a:r>
            <a:r>
              <a:rPr lang="en-US" b="1" dirty="0" smtClean="0"/>
              <a:t>Analysis (PCA)</a:t>
            </a:r>
            <a:r>
              <a:rPr lang="en-US" dirty="0"/>
              <a:t> technique to reduce the dimensionality and eliminate redundancy</a:t>
            </a:r>
          </a:p>
          <a:p>
            <a:pPr fontAlgn="base"/>
            <a:endParaRPr lang="en-US" sz="2400" b="1" dirty="0"/>
          </a:p>
          <a:p>
            <a:pPr fontAlgn="base"/>
            <a:r>
              <a:rPr lang="en-US" sz="2400" b="1" dirty="0"/>
              <a:t>Selection</a:t>
            </a:r>
            <a:r>
              <a:rPr lang="en-US" sz="2400" dirty="0"/>
              <a:t>: choosing a subset of the original pool of features.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07504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eature extraction vs. feature selec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881784"/>
            <a:ext cx="10515601" cy="521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7328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Feature selection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38011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Given a set of potential features, select some of them and discard the rest. </a:t>
            </a:r>
          </a:p>
          <a:p>
            <a:pPr algn="just"/>
            <a:r>
              <a:rPr lang="en-US" sz="2400" dirty="0"/>
              <a:t>Feature selection is applied to remove irrelevant and/or redundant features, reduce overfitting, and simplify the model..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7640529"/>
              </p:ext>
            </p:extLst>
          </p:nvPr>
        </p:nvGraphicFramePr>
        <p:xfrm>
          <a:off x="1241946" y="3601551"/>
          <a:ext cx="9539785" cy="275103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511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47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79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79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79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194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User ID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Gender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Age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 err="1">
                          <a:effectLst/>
                        </a:rPr>
                        <a:t>EstimatedSalary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Purchased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324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15624510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Male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19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19000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324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15810944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Male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35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20000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324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15668575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Female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43000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324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15603246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Female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27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57000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324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15804002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Male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19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76000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3602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When should we apply feature extraction and selection?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/>
              <a:t>Feature extraction:</a:t>
            </a:r>
            <a:endParaRPr lang="en-US" dirty="0"/>
          </a:p>
          <a:p>
            <a:pPr algn="just"/>
            <a:r>
              <a:rPr lang="en-US" sz="2400" dirty="0"/>
              <a:t>Feature extraction is always needed for ML models.</a:t>
            </a:r>
          </a:p>
          <a:p>
            <a:pPr algn="just"/>
            <a:r>
              <a:rPr lang="en-US" sz="2400" dirty="0"/>
              <a:t>We wouldn’t need any feature extraction in deep learning neural networks (our algorithm can perform feature extraction by itself). </a:t>
            </a:r>
          </a:p>
          <a:p>
            <a:pPr algn="just"/>
            <a:endParaRPr lang="en-US" dirty="0"/>
          </a:p>
          <a:p>
            <a:pPr marL="0" indent="0" algn="just">
              <a:buNone/>
            </a:pPr>
            <a:r>
              <a:rPr lang="en-US" b="1" dirty="0"/>
              <a:t>Feature selection:</a:t>
            </a:r>
            <a:endParaRPr lang="en-US" dirty="0"/>
          </a:p>
          <a:p>
            <a:pPr algn="just"/>
            <a:r>
              <a:rPr lang="en-US" sz="2400" dirty="0"/>
              <a:t>Apply feature selection when there is a </a:t>
            </a:r>
            <a:r>
              <a:rPr lang="en-US" sz="2400" b="1" dirty="0"/>
              <a:t>redundancy or irrelevancy in dataset</a:t>
            </a:r>
            <a:r>
              <a:rPr lang="en-US" sz="2400" dirty="0"/>
              <a:t>, since these affect the model accuracy or simply add noise. </a:t>
            </a:r>
          </a:p>
          <a:p>
            <a:pPr algn="just"/>
            <a:r>
              <a:rPr lang="en-US" sz="2400" dirty="0"/>
              <a:t>Feature selection may be performed only to reduce the number of features, in order </a:t>
            </a:r>
            <a:r>
              <a:rPr lang="en-US" sz="2400" b="1" dirty="0"/>
              <a:t>to favor computing feasibility</a:t>
            </a:r>
            <a:r>
              <a:rPr lang="en-US" sz="2400" dirty="0"/>
              <a:t>.  </a:t>
            </a:r>
          </a:p>
        </p:txBody>
      </p:sp>
    </p:spTree>
    <p:extLst>
      <p:ext uri="{BB962C8B-B14F-4D97-AF65-F5344CB8AC3E}">
        <p14:creationId xmlns:p14="http://schemas.microsoft.com/office/powerpoint/2010/main" val="505593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Filter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30385" cy="2077635"/>
          </a:xfrm>
        </p:spPr>
        <p:txBody>
          <a:bodyPr>
            <a:normAutofit/>
          </a:bodyPr>
          <a:lstStyle/>
          <a:p>
            <a:r>
              <a:rPr lang="en-US" sz="2400" dirty="0"/>
              <a:t>Filter methods are generally used as a </a:t>
            </a:r>
            <a:r>
              <a:rPr lang="en-US" sz="2400" dirty="0">
                <a:solidFill>
                  <a:srgbClr val="0070C0"/>
                </a:solidFill>
              </a:rPr>
              <a:t>preprocessing</a:t>
            </a:r>
            <a:r>
              <a:rPr lang="en-US" sz="2400" dirty="0"/>
              <a:t> step. </a:t>
            </a:r>
          </a:p>
          <a:p>
            <a:r>
              <a:rPr lang="en-US" sz="2400" dirty="0"/>
              <a:t>The selection of features is </a:t>
            </a:r>
            <a:r>
              <a:rPr lang="en-US" sz="2400" dirty="0">
                <a:solidFill>
                  <a:srgbClr val="0070C0"/>
                </a:solidFill>
              </a:rPr>
              <a:t>independent of any machine learning algorithms</a:t>
            </a:r>
            <a:r>
              <a:rPr lang="en-US" sz="2400" dirty="0"/>
              <a:t>. </a:t>
            </a:r>
          </a:p>
          <a:p>
            <a:r>
              <a:rPr lang="en-US" sz="2400" dirty="0"/>
              <a:t>Features are selected based on their scores </a:t>
            </a:r>
            <a:r>
              <a:rPr lang="en-US" sz="2400" dirty="0">
                <a:solidFill>
                  <a:srgbClr val="C00000"/>
                </a:solidFill>
              </a:rPr>
              <a:t>in various statistical tests for their correlation with the outcome variable</a:t>
            </a:r>
            <a:r>
              <a:rPr lang="en-US" sz="2400" dirty="0"/>
              <a:t>. 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347648" y="4717352"/>
            <a:ext cx="2175163" cy="183197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Examples:</a:t>
            </a:r>
          </a:p>
          <a:p>
            <a:pPr lvl="1"/>
            <a:r>
              <a:rPr lang="en-US" sz="1600" dirty="0"/>
              <a:t>Correlation</a:t>
            </a:r>
          </a:p>
          <a:p>
            <a:pPr lvl="1"/>
            <a:r>
              <a:rPr lang="en-US" sz="1600" dirty="0"/>
              <a:t>Chi-square test</a:t>
            </a:r>
          </a:p>
          <a:p>
            <a:pPr lvl="1"/>
            <a:r>
              <a:rPr lang="en-US" sz="1600" dirty="0"/>
              <a:t>Information gain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768723" y="3784257"/>
            <a:ext cx="10030670" cy="946189"/>
            <a:chOff x="768723" y="3576436"/>
            <a:chExt cx="10030670" cy="946189"/>
          </a:xfrm>
        </p:grpSpPr>
        <p:sp>
          <p:nvSpPr>
            <p:cNvPr id="4" name="Rounded Rectangle 3"/>
            <p:cNvSpPr/>
            <p:nvPr/>
          </p:nvSpPr>
          <p:spPr>
            <a:xfrm>
              <a:off x="768723" y="3594375"/>
              <a:ext cx="2175163" cy="914400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Set of all features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366451" y="3576436"/>
              <a:ext cx="2175163" cy="914400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Selecting the best subset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991874" y="3608225"/>
              <a:ext cx="2175163" cy="914400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Apply learning algorithm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624230" y="3608225"/>
              <a:ext cx="2175163" cy="914400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Measure performance</a:t>
              </a:r>
            </a:p>
          </p:txBody>
        </p:sp>
        <p:sp>
          <p:nvSpPr>
            <p:cNvPr id="6" name="Right Arrow 5"/>
            <p:cNvSpPr/>
            <p:nvPr/>
          </p:nvSpPr>
          <p:spPr>
            <a:xfrm>
              <a:off x="2957741" y="3944825"/>
              <a:ext cx="422565" cy="203730"/>
            </a:xfrm>
            <a:prstGeom prst="rightArrow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ight Arrow 10"/>
            <p:cNvSpPr/>
            <p:nvPr/>
          </p:nvSpPr>
          <p:spPr>
            <a:xfrm>
              <a:off x="5562385" y="3944820"/>
              <a:ext cx="422565" cy="203730"/>
            </a:xfrm>
            <a:prstGeom prst="rightArrow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Arrow 11"/>
            <p:cNvSpPr/>
            <p:nvPr/>
          </p:nvSpPr>
          <p:spPr>
            <a:xfrm>
              <a:off x="8180906" y="3944820"/>
              <a:ext cx="422565" cy="203730"/>
            </a:xfrm>
            <a:prstGeom prst="rightArrow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47780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Wrapper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9"/>
            <a:ext cx="10325669" cy="1939616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400" dirty="0"/>
              <a:t>A wrapper </a:t>
            </a:r>
            <a:r>
              <a:rPr lang="en-US" sz="2400" dirty="0">
                <a:solidFill>
                  <a:srgbClr val="C00000"/>
                </a:solidFill>
              </a:rPr>
              <a:t>evaluates a specific model </a:t>
            </a:r>
            <a:r>
              <a:rPr lang="en-US" sz="2400" dirty="0"/>
              <a:t>sequentially using different subsets of features to get the best subset. 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They are</a:t>
            </a:r>
            <a:r>
              <a:rPr lang="en-US" sz="2400" b="1" dirty="0"/>
              <a:t> highly costly</a:t>
            </a:r>
            <a:r>
              <a:rPr lang="en-US" sz="2400" dirty="0"/>
              <a:t> and have a </a:t>
            </a:r>
            <a:r>
              <a:rPr lang="en-US" sz="2400" b="1" dirty="0"/>
              <a:t>high chance of overfitting</a:t>
            </a:r>
            <a:r>
              <a:rPr lang="en-US" sz="2400" dirty="0"/>
              <a:t>, but also a </a:t>
            </a:r>
            <a:r>
              <a:rPr lang="en-US" sz="2400" b="1" dirty="0"/>
              <a:t>high chance of success</a:t>
            </a:r>
            <a:r>
              <a:rPr lang="en-US" sz="2400" dirty="0"/>
              <a:t>, on the other hand. </a:t>
            </a:r>
          </a:p>
        </p:txBody>
      </p:sp>
      <p:pic>
        <p:nvPicPr>
          <p:cNvPr id="5" name="Picture 2" descr="wrapper_1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83" b="8169"/>
          <a:stretch/>
        </p:blipFill>
        <p:spPr bwMode="auto">
          <a:xfrm>
            <a:off x="1266346" y="3765241"/>
            <a:ext cx="9239534" cy="2770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4233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Wrapper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These methods are usually computationally very expensive.</a:t>
            </a:r>
          </a:p>
          <a:p>
            <a:endParaRPr lang="en-US" dirty="0"/>
          </a:p>
          <a:p>
            <a:r>
              <a:rPr lang="en-US" dirty="0"/>
              <a:t>Examples of wrapper methods are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Forward feature selection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Backward feature elimination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Recursive feature elimination</a:t>
            </a:r>
          </a:p>
        </p:txBody>
      </p:sp>
    </p:spTree>
    <p:extLst>
      <p:ext uri="{BB962C8B-B14F-4D97-AF65-F5344CB8AC3E}">
        <p14:creationId xmlns:p14="http://schemas.microsoft.com/office/powerpoint/2010/main" val="577475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44243"/>
          </a:xfrm>
        </p:spPr>
        <p:txBody>
          <a:bodyPr/>
          <a:lstStyle/>
          <a:p>
            <a:pPr algn="ctr"/>
            <a:r>
              <a:rPr lang="en-US" b="1" dirty="0"/>
              <a:t>Forward Selection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44243"/>
            <a:ext cx="10515600" cy="1404272"/>
          </a:xfrm>
        </p:spPr>
        <p:txBody>
          <a:bodyPr/>
          <a:lstStyle/>
          <a:p>
            <a:pPr algn="just"/>
            <a:r>
              <a:rPr lang="en-US" dirty="0"/>
              <a:t>It begins with an empty set of features and iteratively adds the feature that provides the most significant improvement to the model's performance until a stopping criterion is met.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2115779"/>
            <a:ext cx="10287000" cy="4609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008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Backward Elimination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Backward elimination is used in machine learning to build a more efficient model by removing features that are not statistically significant.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 process starts with all features and iteratively removes the one with the highest p-value until only significant features remain.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740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187" y="324465"/>
            <a:ext cx="11208774" cy="6073724"/>
          </a:xfrm>
        </p:spPr>
      </p:pic>
    </p:spTree>
    <p:extLst>
      <p:ext uri="{BB962C8B-B14F-4D97-AF65-F5344CB8AC3E}">
        <p14:creationId xmlns:p14="http://schemas.microsoft.com/office/powerpoint/2010/main" val="32854213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Recursive Feature Elimination</a:t>
            </a:r>
            <a:endParaRPr lang="en-US" dirty="0"/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C8D8CB0C-E90E-8241-912D-A2078242AE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6875" t="23839" r="9911" b="10356"/>
          <a:stretch>
            <a:fillRect/>
          </a:stretch>
        </p:blipFill>
        <p:spPr>
          <a:xfrm>
            <a:off x="838200" y="1589314"/>
            <a:ext cx="10145486" cy="4713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1896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948" y="368710"/>
            <a:ext cx="11312013" cy="6312309"/>
          </a:xfrm>
        </p:spPr>
      </p:pic>
    </p:spTree>
    <p:extLst>
      <p:ext uri="{BB962C8B-B14F-4D97-AF65-F5344CB8AC3E}">
        <p14:creationId xmlns:p14="http://schemas.microsoft.com/office/powerpoint/2010/main" val="13588610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Embedded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680510" cy="117688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Embedded methods combine the qualities of filter and wrapper methods. </a:t>
            </a:r>
          </a:p>
          <a:p>
            <a:r>
              <a:rPr lang="en-US" dirty="0"/>
              <a:t>It’s implemented by algorithms that have their own built-in feature selection methods.</a:t>
            </a:r>
          </a:p>
        </p:txBody>
      </p:sp>
      <p:pic>
        <p:nvPicPr>
          <p:cNvPr id="5122" name="Picture 2" descr="embedded_1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9" t="12179" r="2044" b="7582"/>
          <a:stretch/>
        </p:blipFill>
        <p:spPr bwMode="auto">
          <a:xfrm>
            <a:off x="1351126" y="3207222"/>
            <a:ext cx="9376013" cy="3057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55424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51411" y="2967335"/>
            <a:ext cx="308917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4954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2221</TotalTime>
  <Words>482</Words>
  <Application>Microsoft Office PowerPoint</Application>
  <PresentationFormat>Widescreen</PresentationFormat>
  <Paragraphs>92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Feature Selection</vt:lpstr>
      <vt:lpstr>Topics Covered</vt:lpstr>
      <vt:lpstr>What is Feature Selection?</vt:lpstr>
      <vt:lpstr>PowerPoint Presentation</vt:lpstr>
      <vt:lpstr>Feature selection</vt:lpstr>
      <vt:lpstr>When should we apply feature extraction and selection?</vt:lpstr>
      <vt:lpstr>Filter Methods</vt:lpstr>
      <vt:lpstr>Wrapper Methods</vt:lpstr>
      <vt:lpstr>Wrapper Methods</vt:lpstr>
      <vt:lpstr>Forward Selection</vt:lpstr>
      <vt:lpstr>Backward Elimination</vt:lpstr>
      <vt:lpstr>PowerPoint Presentation</vt:lpstr>
      <vt:lpstr>Recursive Feature Elimination</vt:lpstr>
      <vt:lpstr>PowerPoint Presentation</vt:lpstr>
      <vt:lpstr>Embedded Methods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Arockiaraj Simiyon</dc:creator>
  <cp:lastModifiedBy>Dr Sameera P</cp:lastModifiedBy>
  <cp:revision>82</cp:revision>
  <dcterms:created xsi:type="dcterms:W3CDTF">2020-12-16T06:11:28Z</dcterms:created>
  <dcterms:modified xsi:type="dcterms:W3CDTF">2026-08-13T09:31:37Z</dcterms:modified>
</cp:coreProperties>
</file>