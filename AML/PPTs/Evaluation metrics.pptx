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260" r:id="rId3"/>
    <p:sldId id="262" r:id="rId4"/>
    <p:sldId id="281" r:id="rId5"/>
    <p:sldId id="283" r:id="rId6"/>
    <p:sldId id="298" r:id="rId7"/>
    <p:sldId id="299" r:id="rId8"/>
    <p:sldId id="310" r:id="rId9"/>
    <p:sldId id="311" r:id="rId10"/>
    <p:sldId id="312" r:id="rId11"/>
    <p:sldId id="313" r:id="rId12"/>
    <p:sldId id="314" r:id="rId13"/>
    <p:sldId id="31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6C9B7E-AC41-48CD-A3C0-54F727DA0E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0463C0-A0DD-45E9-BD34-191436C08B1D}">
      <dgm:prSet/>
      <dgm:spPr/>
      <dgm:t>
        <a:bodyPr/>
        <a:lstStyle/>
        <a:p>
          <a:r>
            <a:rPr lang="en-US"/>
            <a:t>What is a Confusion Matrix?</a:t>
          </a:r>
        </a:p>
      </dgm:t>
    </dgm:pt>
    <dgm:pt modelId="{F5D96B8F-2390-4E48-9653-4750D846ADD0}" type="parTrans" cxnId="{35CA99B8-E648-47D1-8B8F-BEA82253CE9E}">
      <dgm:prSet/>
      <dgm:spPr/>
      <dgm:t>
        <a:bodyPr/>
        <a:lstStyle/>
        <a:p>
          <a:endParaRPr lang="en-US"/>
        </a:p>
      </dgm:t>
    </dgm:pt>
    <dgm:pt modelId="{DC68ED67-35C9-4784-B47E-CA7DDA9F0FB7}" type="sibTrans" cxnId="{35CA99B8-E648-47D1-8B8F-BEA82253CE9E}">
      <dgm:prSet/>
      <dgm:spPr/>
      <dgm:t>
        <a:bodyPr/>
        <a:lstStyle/>
        <a:p>
          <a:endParaRPr lang="en-US"/>
        </a:p>
      </dgm:t>
    </dgm:pt>
    <dgm:pt modelId="{0D29246F-6EF8-4EB6-B6C4-EBC3B19105D8}">
      <dgm:prSet/>
      <dgm:spPr/>
      <dgm:t>
        <a:bodyPr/>
        <a:lstStyle/>
        <a:p>
          <a:r>
            <a:rPr lang="en-US"/>
            <a:t>True Positive</a:t>
          </a:r>
        </a:p>
      </dgm:t>
    </dgm:pt>
    <dgm:pt modelId="{DB51AB8F-840D-4AE3-9920-57DC58E52DC4}" type="parTrans" cxnId="{CF95082C-DC01-43D6-B2EB-157079DB486E}">
      <dgm:prSet/>
      <dgm:spPr/>
      <dgm:t>
        <a:bodyPr/>
        <a:lstStyle/>
        <a:p>
          <a:endParaRPr lang="en-US"/>
        </a:p>
      </dgm:t>
    </dgm:pt>
    <dgm:pt modelId="{4288C7C2-2A0A-4544-A607-2FF02361810E}" type="sibTrans" cxnId="{CF95082C-DC01-43D6-B2EB-157079DB486E}">
      <dgm:prSet/>
      <dgm:spPr/>
      <dgm:t>
        <a:bodyPr/>
        <a:lstStyle/>
        <a:p>
          <a:endParaRPr lang="en-US"/>
        </a:p>
      </dgm:t>
    </dgm:pt>
    <dgm:pt modelId="{03A64F84-6147-439C-ABD4-18D1CF74494D}">
      <dgm:prSet/>
      <dgm:spPr/>
      <dgm:t>
        <a:bodyPr/>
        <a:lstStyle/>
        <a:p>
          <a:r>
            <a:rPr lang="en-US"/>
            <a:t>True Negative</a:t>
          </a:r>
        </a:p>
      </dgm:t>
    </dgm:pt>
    <dgm:pt modelId="{334617EB-9A6D-4C8B-A292-CC517B3EDDF6}" type="parTrans" cxnId="{D19892E0-EFE8-4EF1-B2AC-337C7D9B3A16}">
      <dgm:prSet/>
      <dgm:spPr/>
      <dgm:t>
        <a:bodyPr/>
        <a:lstStyle/>
        <a:p>
          <a:endParaRPr lang="en-US"/>
        </a:p>
      </dgm:t>
    </dgm:pt>
    <dgm:pt modelId="{51B105E5-90B7-4694-9197-FA9A3E360AF7}" type="sibTrans" cxnId="{D19892E0-EFE8-4EF1-B2AC-337C7D9B3A16}">
      <dgm:prSet/>
      <dgm:spPr/>
      <dgm:t>
        <a:bodyPr/>
        <a:lstStyle/>
        <a:p>
          <a:endParaRPr lang="en-US"/>
        </a:p>
      </dgm:t>
    </dgm:pt>
    <dgm:pt modelId="{C6193F8C-012E-4E0A-9081-603CDAEF5973}">
      <dgm:prSet/>
      <dgm:spPr/>
      <dgm:t>
        <a:bodyPr/>
        <a:lstStyle/>
        <a:p>
          <a:r>
            <a:rPr lang="en-US"/>
            <a:t>False Positive – Type 1 Error</a:t>
          </a:r>
        </a:p>
      </dgm:t>
    </dgm:pt>
    <dgm:pt modelId="{4E1F9C52-24F0-46C8-B9D0-3A67B94DF2A9}" type="parTrans" cxnId="{FF10CBB5-3E48-4D7F-85E8-4FB2C4A01F51}">
      <dgm:prSet/>
      <dgm:spPr/>
      <dgm:t>
        <a:bodyPr/>
        <a:lstStyle/>
        <a:p>
          <a:endParaRPr lang="en-US"/>
        </a:p>
      </dgm:t>
    </dgm:pt>
    <dgm:pt modelId="{1A398DC8-8A93-438B-9E3E-97AD4AE763A5}" type="sibTrans" cxnId="{FF10CBB5-3E48-4D7F-85E8-4FB2C4A01F51}">
      <dgm:prSet/>
      <dgm:spPr/>
      <dgm:t>
        <a:bodyPr/>
        <a:lstStyle/>
        <a:p>
          <a:endParaRPr lang="en-US"/>
        </a:p>
      </dgm:t>
    </dgm:pt>
    <dgm:pt modelId="{789D89B8-5F0D-41FF-9776-9E8C36C676BA}">
      <dgm:prSet/>
      <dgm:spPr/>
      <dgm:t>
        <a:bodyPr/>
        <a:lstStyle/>
        <a:p>
          <a:r>
            <a:rPr lang="en-US"/>
            <a:t>False Negative – Type 2 Error</a:t>
          </a:r>
        </a:p>
      </dgm:t>
    </dgm:pt>
    <dgm:pt modelId="{C137CD24-3AD7-4F9F-90BD-EA0F41E15617}" type="parTrans" cxnId="{DD014ECA-B2D6-403F-B1F3-F0F1A7DEEDDD}">
      <dgm:prSet/>
      <dgm:spPr/>
      <dgm:t>
        <a:bodyPr/>
        <a:lstStyle/>
        <a:p>
          <a:endParaRPr lang="en-US"/>
        </a:p>
      </dgm:t>
    </dgm:pt>
    <dgm:pt modelId="{5CA9770A-B945-493C-84F0-0F573D151B8C}" type="sibTrans" cxnId="{DD014ECA-B2D6-403F-B1F3-F0F1A7DEEDDD}">
      <dgm:prSet/>
      <dgm:spPr/>
      <dgm:t>
        <a:bodyPr/>
        <a:lstStyle/>
        <a:p>
          <a:endParaRPr lang="en-US"/>
        </a:p>
      </dgm:t>
    </dgm:pt>
    <dgm:pt modelId="{EE544E7F-11AA-42A8-B577-4C58656E9ABB}">
      <dgm:prSet/>
      <dgm:spPr/>
      <dgm:t>
        <a:bodyPr/>
        <a:lstStyle/>
        <a:p>
          <a:r>
            <a:rPr lang="en-US"/>
            <a:t>Why need a Confusion matrix?</a:t>
          </a:r>
        </a:p>
      </dgm:t>
    </dgm:pt>
    <dgm:pt modelId="{AACB56F7-2909-44D1-97F1-CAF951318EC7}" type="parTrans" cxnId="{F689A7D8-91BF-43EF-8611-AB6EDFE7AF1F}">
      <dgm:prSet/>
      <dgm:spPr/>
      <dgm:t>
        <a:bodyPr/>
        <a:lstStyle/>
        <a:p>
          <a:endParaRPr lang="en-US"/>
        </a:p>
      </dgm:t>
    </dgm:pt>
    <dgm:pt modelId="{D45DC439-E67A-461B-80AD-7AC172BAACDB}" type="sibTrans" cxnId="{F689A7D8-91BF-43EF-8611-AB6EDFE7AF1F}">
      <dgm:prSet/>
      <dgm:spPr/>
      <dgm:t>
        <a:bodyPr/>
        <a:lstStyle/>
        <a:p>
          <a:endParaRPr lang="en-US"/>
        </a:p>
      </dgm:t>
    </dgm:pt>
    <dgm:pt modelId="{2247EF43-B9E5-4445-AC61-B2D6985593F3}">
      <dgm:prSet/>
      <dgm:spPr/>
      <dgm:t>
        <a:bodyPr/>
        <a:lstStyle/>
        <a:p>
          <a:r>
            <a:rPr lang="en-US"/>
            <a:t>Precision vs Recall</a:t>
          </a:r>
        </a:p>
      </dgm:t>
    </dgm:pt>
    <dgm:pt modelId="{AEF7EE79-76D4-4748-A71F-7C306403EA30}" type="parTrans" cxnId="{C28257AD-0160-4B77-A631-4F8E7A213F62}">
      <dgm:prSet/>
      <dgm:spPr/>
      <dgm:t>
        <a:bodyPr/>
        <a:lstStyle/>
        <a:p>
          <a:endParaRPr lang="en-US"/>
        </a:p>
      </dgm:t>
    </dgm:pt>
    <dgm:pt modelId="{037642E4-D2CE-4E67-AC6B-C3A83187A3B1}" type="sibTrans" cxnId="{C28257AD-0160-4B77-A631-4F8E7A213F62}">
      <dgm:prSet/>
      <dgm:spPr/>
      <dgm:t>
        <a:bodyPr/>
        <a:lstStyle/>
        <a:p>
          <a:endParaRPr lang="en-US"/>
        </a:p>
      </dgm:t>
    </dgm:pt>
    <dgm:pt modelId="{07788070-9FFB-49DD-AD1D-9F7168D246D5}">
      <dgm:prSet/>
      <dgm:spPr/>
      <dgm:t>
        <a:bodyPr/>
        <a:lstStyle/>
        <a:p>
          <a:r>
            <a:rPr lang="en-US"/>
            <a:t>F1-score</a:t>
          </a:r>
        </a:p>
      </dgm:t>
    </dgm:pt>
    <dgm:pt modelId="{48971165-9325-4E46-ADF4-E2229C56CDBC}" type="parTrans" cxnId="{E237E73D-E395-4CFA-9919-A0A866AA2D2A}">
      <dgm:prSet/>
      <dgm:spPr/>
      <dgm:t>
        <a:bodyPr/>
        <a:lstStyle/>
        <a:p>
          <a:endParaRPr lang="en-US"/>
        </a:p>
      </dgm:t>
    </dgm:pt>
    <dgm:pt modelId="{BA934C89-FDAE-45FA-A169-F989433095DC}" type="sibTrans" cxnId="{E237E73D-E395-4CFA-9919-A0A866AA2D2A}">
      <dgm:prSet/>
      <dgm:spPr/>
      <dgm:t>
        <a:bodyPr/>
        <a:lstStyle/>
        <a:p>
          <a:endParaRPr lang="en-US"/>
        </a:p>
      </dgm:t>
    </dgm:pt>
    <dgm:pt modelId="{4E4200DA-5596-4701-80BF-3AC40385C43C}" type="pres">
      <dgm:prSet presAssocID="{AD6C9B7E-AC41-48CD-A3C0-54F727DA0E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A6832D-6611-4FDC-B7B1-BCD67AAF0FCC}" type="pres">
      <dgm:prSet presAssocID="{E50463C0-A0DD-45E9-BD34-191436C08B1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54195-BB3E-44BE-B124-ED887CC71F85}" type="pres">
      <dgm:prSet presAssocID="{E50463C0-A0DD-45E9-BD34-191436C08B1D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BC20D4-0EA7-4890-AAA5-5267BE1830A7}" type="pres">
      <dgm:prSet presAssocID="{EE544E7F-11AA-42A8-B577-4C58656E9AB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8CE779-A01E-46E1-BC27-D69BA0B4DBD1}" type="pres">
      <dgm:prSet presAssocID="{D45DC439-E67A-461B-80AD-7AC172BAACDB}" presName="spacer" presStyleCnt="0"/>
      <dgm:spPr/>
    </dgm:pt>
    <dgm:pt modelId="{807DBC20-1B3F-4312-9260-EC3D3DC409D7}" type="pres">
      <dgm:prSet presAssocID="{2247EF43-B9E5-4445-AC61-B2D6985593F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DDAB4C-4230-4FEB-9371-AA9464ED0A04}" type="pres">
      <dgm:prSet presAssocID="{037642E4-D2CE-4E67-AC6B-C3A83187A3B1}" presName="spacer" presStyleCnt="0"/>
      <dgm:spPr/>
    </dgm:pt>
    <dgm:pt modelId="{27AF7C0B-2181-4A9D-9FCD-9FCF78B56025}" type="pres">
      <dgm:prSet presAssocID="{07788070-9FFB-49DD-AD1D-9F7168D246D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95082C-DC01-43D6-B2EB-157079DB486E}" srcId="{E50463C0-A0DD-45E9-BD34-191436C08B1D}" destId="{0D29246F-6EF8-4EB6-B6C4-EBC3B19105D8}" srcOrd="0" destOrd="0" parTransId="{DB51AB8F-840D-4AE3-9920-57DC58E52DC4}" sibTransId="{4288C7C2-2A0A-4544-A607-2FF02361810E}"/>
    <dgm:cxn modelId="{FAD2D14B-F9DB-42E6-A2FB-E587ECD67FD2}" type="presOf" srcId="{0D29246F-6EF8-4EB6-B6C4-EBC3B19105D8}" destId="{8F654195-BB3E-44BE-B124-ED887CC71F85}" srcOrd="0" destOrd="0" presId="urn:microsoft.com/office/officeart/2005/8/layout/vList2"/>
    <dgm:cxn modelId="{DD014ECA-B2D6-403F-B1F3-F0F1A7DEEDDD}" srcId="{E50463C0-A0DD-45E9-BD34-191436C08B1D}" destId="{789D89B8-5F0D-41FF-9776-9E8C36C676BA}" srcOrd="3" destOrd="0" parTransId="{C137CD24-3AD7-4F9F-90BD-EA0F41E15617}" sibTransId="{5CA9770A-B945-493C-84F0-0F573D151B8C}"/>
    <dgm:cxn modelId="{35CA99B8-E648-47D1-8B8F-BEA82253CE9E}" srcId="{AD6C9B7E-AC41-48CD-A3C0-54F727DA0E9F}" destId="{E50463C0-A0DD-45E9-BD34-191436C08B1D}" srcOrd="0" destOrd="0" parTransId="{F5D96B8F-2390-4E48-9653-4750D846ADD0}" sibTransId="{DC68ED67-35C9-4784-B47E-CA7DDA9F0FB7}"/>
    <dgm:cxn modelId="{F689A7D8-91BF-43EF-8611-AB6EDFE7AF1F}" srcId="{AD6C9B7E-AC41-48CD-A3C0-54F727DA0E9F}" destId="{EE544E7F-11AA-42A8-B577-4C58656E9ABB}" srcOrd="1" destOrd="0" parTransId="{AACB56F7-2909-44D1-97F1-CAF951318EC7}" sibTransId="{D45DC439-E67A-461B-80AD-7AC172BAACDB}"/>
    <dgm:cxn modelId="{65B5CF55-B5EA-4912-9BB8-EF4FDB917D06}" type="presOf" srcId="{07788070-9FFB-49DD-AD1D-9F7168D246D5}" destId="{27AF7C0B-2181-4A9D-9FCD-9FCF78B56025}" srcOrd="0" destOrd="0" presId="urn:microsoft.com/office/officeart/2005/8/layout/vList2"/>
    <dgm:cxn modelId="{4FE1B1C7-2D57-4240-826C-495B3D3888D8}" type="presOf" srcId="{03A64F84-6147-439C-ABD4-18D1CF74494D}" destId="{8F654195-BB3E-44BE-B124-ED887CC71F85}" srcOrd="0" destOrd="1" presId="urn:microsoft.com/office/officeart/2005/8/layout/vList2"/>
    <dgm:cxn modelId="{A585BD22-2001-43E5-96C4-FB1DFB3960CA}" type="presOf" srcId="{2247EF43-B9E5-4445-AC61-B2D6985593F3}" destId="{807DBC20-1B3F-4312-9260-EC3D3DC409D7}" srcOrd="0" destOrd="0" presId="urn:microsoft.com/office/officeart/2005/8/layout/vList2"/>
    <dgm:cxn modelId="{D19892E0-EFE8-4EF1-B2AC-337C7D9B3A16}" srcId="{E50463C0-A0DD-45E9-BD34-191436C08B1D}" destId="{03A64F84-6147-439C-ABD4-18D1CF74494D}" srcOrd="1" destOrd="0" parTransId="{334617EB-9A6D-4C8B-A292-CC517B3EDDF6}" sibTransId="{51B105E5-90B7-4694-9197-FA9A3E360AF7}"/>
    <dgm:cxn modelId="{E237E73D-E395-4CFA-9919-A0A866AA2D2A}" srcId="{AD6C9B7E-AC41-48CD-A3C0-54F727DA0E9F}" destId="{07788070-9FFB-49DD-AD1D-9F7168D246D5}" srcOrd="3" destOrd="0" parTransId="{48971165-9325-4E46-ADF4-E2229C56CDBC}" sibTransId="{BA934C89-FDAE-45FA-A169-F989433095DC}"/>
    <dgm:cxn modelId="{1F01EBBD-C8F8-4BA5-AAAC-9940F49181A6}" type="presOf" srcId="{789D89B8-5F0D-41FF-9776-9E8C36C676BA}" destId="{8F654195-BB3E-44BE-B124-ED887CC71F85}" srcOrd="0" destOrd="3" presId="urn:microsoft.com/office/officeart/2005/8/layout/vList2"/>
    <dgm:cxn modelId="{FF10CBB5-3E48-4D7F-85E8-4FB2C4A01F51}" srcId="{E50463C0-A0DD-45E9-BD34-191436C08B1D}" destId="{C6193F8C-012E-4E0A-9081-603CDAEF5973}" srcOrd="2" destOrd="0" parTransId="{4E1F9C52-24F0-46C8-B9D0-3A67B94DF2A9}" sibTransId="{1A398DC8-8A93-438B-9E3E-97AD4AE763A5}"/>
    <dgm:cxn modelId="{84050201-60D8-4D55-8253-FD5963B822C1}" type="presOf" srcId="{EE544E7F-11AA-42A8-B577-4C58656E9ABB}" destId="{AFBC20D4-0EA7-4890-AAA5-5267BE1830A7}" srcOrd="0" destOrd="0" presId="urn:microsoft.com/office/officeart/2005/8/layout/vList2"/>
    <dgm:cxn modelId="{FE2A917F-3D56-4DB0-97AD-FD0414B06FDD}" type="presOf" srcId="{E50463C0-A0DD-45E9-BD34-191436C08B1D}" destId="{F9A6832D-6611-4FDC-B7B1-BCD67AAF0FCC}" srcOrd="0" destOrd="0" presId="urn:microsoft.com/office/officeart/2005/8/layout/vList2"/>
    <dgm:cxn modelId="{384B2F43-E13B-449A-87EE-1243BB161EBF}" type="presOf" srcId="{C6193F8C-012E-4E0A-9081-603CDAEF5973}" destId="{8F654195-BB3E-44BE-B124-ED887CC71F85}" srcOrd="0" destOrd="2" presId="urn:microsoft.com/office/officeart/2005/8/layout/vList2"/>
    <dgm:cxn modelId="{3292676A-C100-4974-85FB-C8E6BBBDF529}" type="presOf" srcId="{AD6C9B7E-AC41-48CD-A3C0-54F727DA0E9F}" destId="{4E4200DA-5596-4701-80BF-3AC40385C43C}" srcOrd="0" destOrd="0" presId="urn:microsoft.com/office/officeart/2005/8/layout/vList2"/>
    <dgm:cxn modelId="{C28257AD-0160-4B77-A631-4F8E7A213F62}" srcId="{AD6C9B7E-AC41-48CD-A3C0-54F727DA0E9F}" destId="{2247EF43-B9E5-4445-AC61-B2D6985593F3}" srcOrd="2" destOrd="0" parTransId="{AEF7EE79-76D4-4748-A71F-7C306403EA30}" sibTransId="{037642E4-D2CE-4E67-AC6B-C3A83187A3B1}"/>
    <dgm:cxn modelId="{24DBC2B6-4730-4C3E-AD8E-B0513A0986D2}" type="presParOf" srcId="{4E4200DA-5596-4701-80BF-3AC40385C43C}" destId="{F9A6832D-6611-4FDC-B7B1-BCD67AAF0FCC}" srcOrd="0" destOrd="0" presId="urn:microsoft.com/office/officeart/2005/8/layout/vList2"/>
    <dgm:cxn modelId="{CD2B4ACA-A3C6-426A-A8EF-9C27E521AB23}" type="presParOf" srcId="{4E4200DA-5596-4701-80BF-3AC40385C43C}" destId="{8F654195-BB3E-44BE-B124-ED887CC71F85}" srcOrd="1" destOrd="0" presId="urn:microsoft.com/office/officeart/2005/8/layout/vList2"/>
    <dgm:cxn modelId="{DFBC0B33-36EF-4D63-BF5F-78ADE5C9CDE8}" type="presParOf" srcId="{4E4200DA-5596-4701-80BF-3AC40385C43C}" destId="{AFBC20D4-0EA7-4890-AAA5-5267BE1830A7}" srcOrd="2" destOrd="0" presId="urn:microsoft.com/office/officeart/2005/8/layout/vList2"/>
    <dgm:cxn modelId="{F4DD774C-01C2-4D12-8918-3BC6A5558AED}" type="presParOf" srcId="{4E4200DA-5596-4701-80BF-3AC40385C43C}" destId="{948CE779-A01E-46E1-BC27-D69BA0B4DBD1}" srcOrd="3" destOrd="0" presId="urn:microsoft.com/office/officeart/2005/8/layout/vList2"/>
    <dgm:cxn modelId="{8345662F-7A7F-4187-8771-646ECA0E35DE}" type="presParOf" srcId="{4E4200DA-5596-4701-80BF-3AC40385C43C}" destId="{807DBC20-1B3F-4312-9260-EC3D3DC409D7}" srcOrd="4" destOrd="0" presId="urn:microsoft.com/office/officeart/2005/8/layout/vList2"/>
    <dgm:cxn modelId="{AE78F554-38DD-4810-95C8-12528550F606}" type="presParOf" srcId="{4E4200DA-5596-4701-80BF-3AC40385C43C}" destId="{8BDDAB4C-4230-4FEB-9371-AA9464ED0A04}" srcOrd="5" destOrd="0" presId="urn:microsoft.com/office/officeart/2005/8/layout/vList2"/>
    <dgm:cxn modelId="{7DEEE9DB-85FF-42E7-BC8D-2E6E685DD1AC}" type="presParOf" srcId="{4E4200DA-5596-4701-80BF-3AC40385C43C}" destId="{27AF7C0B-2181-4A9D-9FCD-9FCF78B560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6832D-6611-4FDC-B7B1-BCD67AAF0FCC}">
      <dsp:nvSpPr>
        <dsp:cNvPr id="0" name=""/>
        <dsp:cNvSpPr/>
      </dsp:nvSpPr>
      <dsp:spPr>
        <a:xfrm>
          <a:off x="0" y="648697"/>
          <a:ext cx="4828172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What is a Confusion Matrix?</a:t>
          </a:r>
        </a:p>
      </dsp:txBody>
      <dsp:txXfrm>
        <a:off x="32784" y="681481"/>
        <a:ext cx="4762604" cy="606012"/>
      </dsp:txXfrm>
    </dsp:sp>
    <dsp:sp modelId="{8F654195-BB3E-44BE-B124-ED887CC71F85}">
      <dsp:nvSpPr>
        <dsp:cNvPr id="0" name=""/>
        <dsp:cNvSpPr/>
      </dsp:nvSpPr>
      <dsp:spPr>
        <a:xfrm>
          <a:off x="0" y="1320277"/>
          <a:ext cx="4828172" cy="150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9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True Positive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True Negative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False Positive – Type 1 Error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False Negative – Type 2 Error</a:t>
          </a:r>
        </a:p>
      </dsp:txBody>
      <dsp:txXfrm>
        <a:off x="0" y="1320277"/>
        <a:ext cx="4828172" cy="1506960"/>
      </dsp:txXfrm>
    </dsp:sp>
    <dsp:sp modelId="{AFBC20D4-0EA7-4890-AAA5-5267BE1830A7}">
      <dsp:nvSpPr>
        <dsp:cNvPr id="0" name=""/>
        <dsp:cNvSpPr/>
      </dsp:nvSpPr>
      <dsp:spPr>
        <a:xfrm>
          <a:off x="0" y="2827237"/>
          <a:ext cx="4828172" cy="67158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Why need a Confusion matrix?</a:t>
          </a:r>
        </a:p>
      </dsp:txBody>
      <dsp:txXfrm>
        <a:off x="32784" y="2860021"/>
        <a:ext cx="4762604" cy="606012"/>
      </dsp:txXfrm>
    </dsp:sp>
    <dsp:sp modelId="{807DBC20-1B3F-4312-9260-EC3D3DC409D7}">
      <dsp:nvSpPr>
        <dsp:cNvPr id="0" name=""/>
        <dsp:cNvSpPr/>
      </dsp:nvSpPr>
      <dsp:spPr>
        <a:xfrm>
          <a:off x="0" y="3579457"/>
          <a:ext cx="4828172" cy="67158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Precision vs Recall</a:t>
          </a:r>
        </a:p>
      </dsp:txBody>
      <dsp:txXfrm>
        <a:off x="32784" y="3612241"/>
        <a:ext cx="4762604" cy="606012"/>
      </dsp:txXfrm>
    </dsp:sp>
    <dsp:sp modelId="{27AF7C0B-2181-4A9D-9FCD-9FCF78B56025}">
      <dsp:nvSpPr>
        <dsp:cNvPr id="0" name=""/>
        <dsp:cNvSpPr/>
      </dsp:nvSpPr>
      <dsp:spPr>
        <a:xfrm>
          <a:off x="0" y="4331677"/>
          <a:ext cx="4828172" cy="6715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F1-score</a:t>
          </a:r>
        </a:p>
      </dsp:txBody>
      <dsp:txXfrm>
        <a:off x="32784" y="4364461"/>
        <a:ext cx="4762604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9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6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0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3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5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3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4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02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6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E7233-AF5A-42C9-AA3D-1BFAC6B7D77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08736-B0F6-46BE-93F7-3D2C18AA9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2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93E7BB-3677-D8C0-0007-D206494A3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Evaluation metrics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851A9-9456-2E3A-9235-B7249E60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Evaluation metrics for classification and regression</a:t>
            </a:r>
          </a:p>
          <a:p>
            <a:pPr algn="l"/>
            <a:r>
              <a:rPr lang="en-US" dirty="0"/>
              <a:t>1. Accuracy, precision, recall, f1 score </a:t>
            </a:r>
          </a:p>
          <a:p>
            <a:pPr algn="l"/>
            <a:r>
              <a:rPr lang="en-US" dirty="0"/>
              <a:t>2. Mean Square Error, R-square error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69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Confusion Matrix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FDE03D-F5D3-45DF-3AC5-80D219900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939004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238EF3C-3AB1-8172-8C06-5A8AF3D0D4F2}"/>
              </a:ext>
            </a:extLst>
          </p:cNvPr>
          <p:cNvSpPr txBox="1"/>
          <p:nvPr/>
        </p:nvSpPr>
        <p:spPr>
          <a:xfrm>
            <a:off x="59554" y="16554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Classification Performance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110751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fusion matrix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86" y="1547406"/>
            <a:ext cx="3298936" cy="313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36720" y="779147"/>
            <a:ext cx="714538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>
                <a:solidFill>
                  <a:srgbClr val="222222"/>
                </a:solidFill>
                <a:latin typeface="Lato"/>
              </a:rPr>
              <a:t>The different values of the Confusion matrix would be as follows: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b="1">
              <a:solidFill>
                <a:srgbClr val="222222"/>
              </a:solidFill>
              <a:latin typeface="La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222222"/>
                </a:solidFill>
                <a:latin typeface="Lato"/>
              </a:rPr>
              <a:t>True Positive (TP) </a:t>
            </a:r>
            <a:r>
              <a:rPr lang="en-US" sz="2000">
                <a:solidFill>
                  <a:srgbClr val="222222"/>
                </a:solidFill>
                <a:latin typeface="Lato"/>
              </a:rPr>
              <a:t>= 560; meaning 560 positive class data points were correctly classified by the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>
              <a:solidFill>
                <a:srgbClr val="222222"/>
              </a:solidFill>
              <a:latin typeface="La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222222"/>
                </a:solidFill>
                <a:latin typeface="Lato"/>
              </a:rPr>
              <a:t>True Negative (TN)</a:t>
            </a:r>
            <a:r>
              <a:rPr lang="en-US" sz="2000">
                <a:solidFill>
                  <a:srgbClr val="222222"/>
                </a:solidFill>
                <a:latin typeface="Lato"/>
              </a:rPr>
              <a:t> = 330; meaning 330 negative class data points were correctly classified by the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>
              <a:solidFill>
                <a:srgbClr val="222222"/>
              </a:solidFill>
              <a:latin typeface="La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222222"/>
                </a:solidFill>
                <a:latin typeface="Lato"/>
              </a:rPr>
              <a:t>False Positive (FP)</a:t>
            </a:r>
            <a:r>
              <a:rPr lang="en-US" sz="2000">
                <a:solidFill>
                  <a:srgbClr val="222222"/>
                </a:solidFill>
                <a:latin typeface="Lato"/>
              </a:rPr>
              <a:t> = 60; meaning 60 negative class data points were incorrectly classified as belonging to the positive class by the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>
              <a:solidFill>
                <a:srgbClr val="222222"/>
              </a:solidFill>
              <a:latin typeface="La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222222"/>
                </a:solidFill>
                <a:latin typeface="Lato"/>
              </a:rPr>
              <a:t>False Negative (FN) </a:t>
            </a:r>
            <a:r>
              <a:rPr lang="en-US" sz="2000">
                <a:solidFill>
                  <a:srgbClr val="222222"/>
                </a:solidFill>
                <a:latin typeface="Lato"/>
              </a:rPr>
              <a:t>= 50; meaning 50 positive class data points were incorrectly classified as belonging to the negative class by the model</a:t>
            </a:r>
            <a:endParaRPr lang="en-US" sz="2000" b="0" i="0" dirty="0">
              <a:solidFill>
                <a:srgbClr val="222222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6518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E8BE45-3FF7-DE81-A8D4-698D1A3F4980}"/>
              </a:ext>
            </a:extLst>
          </p:cNvPr>
          <p:cNvSpPr txBox="1"/>
          <p:nvPr/>
        </p:nvSpPr>
        <p:spPr>
          <a:xfrm>
            <a:off x="1584959" y="572254"/>
            <a:ext cx="9121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i="0" dirty="0">
                <a:solidFill>
                  <a:srgbClr val="273239"/>
                </a:solidFill>
                <a:effectLst/>
                <a:latin typeface="Nunito" pitchFamily="2" charset="0"/>
              </a:rPr>
              <a:t>Confusion Matrix For Multi-class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49322-E1F8-BDBC-BAA9-88463FC58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6" y="1180786"/>
            <a:ext cx="9221487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0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A36F4-2E88-F18B-C73B-9472BC737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58" y="56679"/>
            <a:ext cx="8373644" cy="3372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18BD13-4634-A6D2-47F0-3A90A211BF1D}"/>
              </a:ext>
            </a:extLst>
          </p:cNvPr>
          <p:cNvSpPr txBox="1"/>
          <p:nvPr/>
        </p:nvSpPr>
        <p:spPr>
          <a:xfrm>
            <a:off x="767080" y="3795098"/>
            <a:ext cx="10947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this scenario: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Cats: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8 were correctly identified, 1 was misidentified as a dog, and 1 was misidentified as a horse.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Dogs: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10 were correctly identified, 2 were misidentified as cats.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Horses: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8 were correctly identified, 2 were misidentified as dogs.</a:t>
            </a:r>
          </a:p>
        </p:txBody>
      </p:sp>
    </p:spTree>
    <p:extLst>
      <p:ext uri="{BB962C8B-B14F-4D97-AF65-F5344CB8AC3E}">
        <p14:creationId xmlns:p14="http://schemas.microsoft.com/office/powerpoint/2010/main" val="428690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D88B-D066-F227-76D3-2F7597B0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 Performance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9451-3128-4B4E-71BB-74AAD5F88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b="1" i="0" dirty="0">
                <a:effectLst/>
                <a:latin typeface="Inter"/>
              </a:rPr>
              <a:t>Mean Absolute Error (MAE)</a:t>
            </a:r>
          </a:p>
          <a:p>
            <a:pPr lvl="1" algn="just"/>
            <a:r>
              <a:rPr lang="en-US" sz="2800" b="0" i="0" dirty="0">
                <a:solidFill>
                  <a:srgbClr val="383838"/>
                </a:solidFill>
                <a:effectLst/>
                <a:latin typeface="Inter"/>
              </a:rPr>
              <a:t>It is the average difference between the original and predicted values. </a:t>
            </a:r>
          </a:p>
          <a:p>
            <a:pPr lvl="1" algn="just"/>
            <a:r>
              <a:rPr lang="en-US" sz="2800" b="0" i="0" dirty="0">
                <a:solidFill>
                  <a:srgbClr val="383838"/>
                </a:solidFill>
                <a:effectLst/>
                <a:latin typeface="Inter"/>
              </a:rPr>
              <a:t>It measures how far the predictions are from the actual output</a:t>
            </a:r>
          </a:p>
          <a:p>
            <a:pPr lvl="1" algn="just"/>
            <a:r>
              <a:rPr lang="en-US" sz="2800" dirty="0">
                <a:solidFill>
                  <a:srgbClr val="383838"/>
                </a:solidFill>
                <a:latin typeface="Inter"/>
              </a:rPr>
              <a:t>We want to minimize it. </a:t>
            </a:r>
          </a:p>
          <a:p>
            <a:pPr lvl="1" algn="just"/>
            <a:r>
              <a:rPr lang="en-US" sz="2800" b="0" i="0" dirty="0">
                <a:solidFill>
                  <a:srgbClr val="383838"/>
                </a:solidFill>
                <a:effectLst/>
                <a:latin typeface="Inter"/>
              </a:rPr>
              <a:t>It doesn’t give you an idea of the direction of the error since you are taking only the absolute values. </a:t>
            </a:r>
          </a:p>
          <a:p>
            <a:pPr lvl="1" algn="just"/>
            <a:r>
              <a:rPr lang="en-US" sz="2800" b="0" i="0" dirty="0">
                <a:solidFill>
                  <a:srgbClr val="383838"/>
                </a:solidFill>
                <a:effectLst/>
                <a:latin typeface="Inter"/>
              </a:rPr>
              <a:t>It doesn’t penalize large errors as much as compared to RMSE.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360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CAAF-6158-16B7-35AD-0615F62A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Inter"/>
              </a:rPr>
              <a:t>Mean Absolute Error (MAE)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0D4F-B5BC-B559-04BE-DD13579F4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700"/>
              </a:lnSpc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Mathematically, it is represented as:</a:t>
            </a:r>
          </a:p>
          <a:p>
            <a:pPr algn="l">
              <a:lnSpc>
                <a:spcPts val="2700"/>
              </a:lnSpc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algn="l">
              <a:lnSpc>
                <a:spcPts val="2700"/>
              </a:lnSpc>
            </a:pP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lnSpc>
                <a:spcPts val="2700"/>
              </a:lnSpc>
            </a:pPr>
            <a:endParaRPr lang="en-US" dirty="0">
              <a:solidFill>
                <a:srgbClr val="383838"/>
              </a:solidFill>
              <a:latin typeface="Inter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here,</a:t>
            </a:r>
          </a:p>
          <a:p>
            <a:pPr algn="l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n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 is the number of observations</a:t>
            </a:r>
          </a:p>
          <a:p>
            <a:pPr algn="l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𝑦</a:t>
            </a:r>
            <a:r>
              <a:rPr lang="en-US" b="0" i="0" baseline="-25000" dirty="0">
                <a:solidFill>
                  <a:srgbClr val="383838"/>
                </a:solidFill>
                <a:effectLst/>
                <a:latin typeface="Inter"/>
              </a:rPr>
              <a:t>𝑗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 is the actual value for sample 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j</a:t>
            </a:r>
            <a:endParaRPr lang="en-US" b="0" i="0" dirty="0">
              <a:solidFill>
                <a:srgbClr val="383838"/>
              </a:solidFill>
              <a:effectLst/>
              <a:latin typeface="Inter"/>
            </a:endParaRPr>
          </a:p>
          <a:p>
            <a:pPr algn="l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𝑦̂</a:t>
            </a:r>
            <a:r>
              <a:rPr lang="en-US" b="0" i="0" baseline="-25000" dirty="0">
                <a:solidFill>
                  <a:srgbClr val="383838"/>
                </a:solidFill>
                <a:effectLst/>
                <a:latin typeface="Inter"/>
              </a:rPr>
              <a:t>𝑗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 is the predicted value for sample </a:t>
            </a:r>
            <a:r>
              <a:rPr lang="en-US" b="0" i="1" dirty="0">
                <a:solidFill>
                  <a:srgbClr val="383838"/>
                </a:solidFill>
                <a:effectLst/>
                <a:latin typeface="Inter"/>
              </a:rPr>
              <a:t>j</a:t>
            </a:r>
            <a:endParaRPr lang="en-IN" dirty="0"/>
          </a:p>
        </p:txBody>
      </p:sp>
      <p:pic>
        <p:nvPicPr>
          <p:cNvPr id="4098" name="Picture 2" descr="mean absolute error">
            <a:extLst>
              <a:ext uri="{FF2B5EF4-FFF2-40B4-BE49-F238E27FC236}">
                <a16:creationId xmlns:a16="http://schemas.microsoft.com/office/drawing/2014/main" id="{55C98133-10D8-D845-5C35-E5C77A29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493" y="2459990"/>
            <a:ext cx="4620578" cy="132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99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Cross-Validation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152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It is a resampling procedure used to evaluate machine learning models and access how the model will perform for an independent test </a:t>
            </a:r>
            <a:r>
              <a:rPr lang="en-US" dirty="0" smtClean="0"/>
              <a:t>dataset</a:t>
            </a:r>
          </a:p>
          <a:p>
            <a:pPr algn="just"/>
            <a:r>
              <a:rPr lang="en-US" dirty="0"/>
              <a:t>Why Use Cross Validation?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Model Validation: </a:t>
            </a:r>
            <a:r>
              <a:rPr lang="en-US" dirty="0"/>
              <a:t>Ensures that our model is not overfitting or </a:t>
            </a:r>
            <a:r>
              <a:rPr lang="en-US" dirty="0" err="1"/>
              <a:t>underfitting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Performance Estimation: </a:t>
            </a:r>
            <a:r>
              <a:rPr lang="en-US" dirty="0"/>
              <a:t>Provides an estimate of how well our model will perform on unseen data.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Hyperparameter Tuning: </a:t>
            </a:r>
            <a:r>
              <a:rPr lang="en-US" dirty="0"/>
              <a:t>Helps in selecting the best </a:t>
            </a:r>
            <a:r>
              <a:rPr lang="en-US" dirty="0" err="1"/>
              <a:t>hyperparameters</a:t>
            </a:r>
            <a:r>
              <a:rPr lang="en-US" dirty="0"/>
              <a:t> for our model by evaluating different combinations.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09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6602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K-Fold Cross </a:t>
            </a:r>
            <a:r>
              <a:rPr lang="en-IN" b="1" dirty="0" smtClean="0"/>
              <a:t>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4177"/>
            <a:ext cx="10515600" cy="4488384"/>
          </a:xfrm>
        </p:spPr>
        <p:txBody>
          <a:bodyPr/>
          <a:lstStyle/>
          <a:p>
            <a:pPr algn="just"/>
            <a:r>
              <a:rPr lang="en-US" dirty="0"/>
              <a:t>In K-Fold cross validation, the dataset is randomly divided into K equal-sized subsamples. </a:t>
            </a:r>
            <a:endParaRPr lang="en-US" dirty="0" smtClean="0"/>
          </a:p>
          <a:p>
            <a:pPr algn="just"/>
            <a:r>
              <a:rPr lang="en-US" dirty="0" smtClean="0"/>
              <a:t>Out of </a:t>
            </a:r>
            <a:r>
              <a:rPr lang="en-US" dirty="0"/>
              <a:t>the K subsamples, a single subsample is retained as the validation data, and the remaining K-1 subsamples are used as training data.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cross-validation process is then repeated K times, with each of the K subsamples used exactly once as the validation data.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860" y="5065310"/>
            <a:ext cx="3166280" cy="11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2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765" y="368490"/>
            <a:ext cx="10126638" cy="603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72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Stratified k-fold cross-validation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Stratified k-fold cross-validation works well for an imbalanced dataset.</a:t>
            </a:r>
          </a:p>
          <a:p>
            <a:pPr algn="just"/>
            <a:r>
              <a:rPr lang="en-US" dirty="0"/>
              <a:t>In Stratified k-fold cross-validation, the dataset is partitioned into k groups or folds such that the validation data/Test set has an equal number of instances of target class label.</a:t>
            </a:r>
          </a:p>
          <a:p>
            <a:pPr algn="just"/>
            <a:r>
              <a:rPr lang="en-US" dirty="0"/>
              <a:t>This ensures that one particular class is not over present in the validation or train data especially when the dataset is imbalanced.</a:t>
            </a:r>
          </a:p>
          <a:p>
            <a:pPr algn="just"/>
            <a:r>
              <a:rPr lang="en-US" dirty="0"/>
              <a:t>The final score is computed by taking the mean of scores of each fold.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4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366" y="955342"/>
            <a:ext cx="9062113" cy="51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12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Leave-One-Out Cross Validation (LOOCV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In LOOCV, a single observation from the original dataset is used as the validation data, and the remaining observations are used as training data.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process is repeated such that each observation in the dataset is used once as the validation data.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370" y="3501232"/>
            <a:ext cx="7451678" cy="29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3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8F957B13-815D-15B9-3FDA-8AD45A228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D56A0-2639-7963-CF7D-98397FEA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926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623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Inter</vt:lpstr>
      <vt:lpstr>Lato</vt:lpstr>
      <vt:lpstr>Nunito</vt:lpstr>
      <vt:lpstr>Office Theme</vt:lpstr>
      <vt:lpstr>Evaluation metrics</vt:lpstr>
      <vt:lpstr>Confusion Matrix </vt:lpstr>
      <vt:lpstr>PowerPoint Presentation</vt:lpstr>
      <vt:lpstr>PowerPoint Presentation</vt:lpstr>
      <vt:lpstr>PowerPoint Presentation</vt:lpstr>
      <vt:lpstr>Regression Performance Evaluation Metrics</vt:lpstr>
      <vt:lpstr>Mean Absolute Error (MAE)</vt:lpstr>
      <vt:lpstr>Cross-Validation</vt:lpstr>
      <vt:lpstr>K-Fold Cross Validation</vt:lpstr>
      <vt:lpstr>PowerPoint Presentation</vt:lpstr>
      <vt:lpstr>Stratified k-fold cross-validation</vt:lpstr>
      <vt:lpstr>PowerPoint Presentation</vt:lpstr>
      <vt:lpstr>Leave-One-Out Cross Validation (LOOCV)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Arockiaraj S [MAHE-MSIS]</dc:creator>
  <cp:lastModifiedBy>Dr Sameera P</cp:lastModifiedBy>
  <cp:revision>47</cp:revision>
  <dcterms:created xsi:type="dcterms:W3CDTF">2021-12-01T15:40:12Z</dcterms:created>
  <dcterms:modified xsi:type="dcterms:W3CDTF">2026-08-27T08:14:36Z</dcterms:modified>
</cp:coreProperties>
</file>