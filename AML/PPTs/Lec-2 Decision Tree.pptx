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42" r:id="rId2"/>
    <p:sldId id="264" r:id="rId3"/>
    <p:sldId id="266" r:id="rId4"/>
    <p:sldId id="277" r:id="rId5"/>
    <p:sldId id="278" r:id="rId6"/>
    <p:sldId id="272" r:id="rId7"/>
    <p:sldId id="273" r:id="rId8"/>
    <p:sldId id="286" r:id="rId9"/>
    <p:sldId id="289" r:id="rId10"/>
    <p:sldId id="290" r:id="rId11"/>
    <p:sldId id="291" r:id="rId12"/>
    <p:sldId id="292" r:id="rId13"/>
    <p:sldId id="293" r:id="rId14"/>
    <p:sldId id="309" r:id="rId15"/>
    <p:sldId id="312" r:id="rId16"/>
    <p:sldId id="314" r:id="rId17"/>
    <p:sldId id="315" r:id="rId18"/>
    <p:sldId id="317" r:id="rId19"/>
    <p:sldId id="449" r:id="rId20"/>
    <p:sldId id="334" r:id="rId21"/>
    <p:sldId id="323" r:id="rId22"/>
    <p:sldId id="324" r:id="rId23"/>
    <p:sldId id="32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4162C0-D704-4900-A509-C15447AA8387}" type="datetimeFigureOut">
              <a:rPr lang="en-US" smtClean="0"/>
              <a:t>7/27/2026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E853BC-103A-4F17-8A6D-4CA415F61CEC}" type="slidenum">
              <a:rPr lang="en-US" smtClean="0"/>
              <a:t>‹#›</a:t>
            </a:fld>
            <a:endParaRPr lang="en-US"/>
          </a:p>
        </p:txBody>
      </p:sp>
    </p:spTree>
    <p:extLst>
      <p:ext uri="{BB962C8B-B14F-4D97-AF65-F5344CB8AC3E}">
        <p14:creationId xmlns:p14="http://schemas.microsoft.com/office/powerpoint/2010/main" val="1748211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E853BC-103A-4F17-8A6D-4CA415F61CEC}" type="slidenum">
              <a:rPr lang="en-US" smtClean="0"/>
              <a:t>10</a:t>
            </a:fld>
            <a:endParaRPr lang="en-US"/>
          </a:p>
        </p:txBody>
      </p:sp>
    </p:spTree>
    <p:extLst>
      <p:ext uri="{BB962C8B-B14F-4D97-AF65-F5344CB8AC3E}">
        <p14:creationId xmlns:p14="http://schemas.microsoft.com/office/powerpoint/2010/main" val="1721190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EE853BC-103A-4F17-8A6D-4CA415F61CEC}" type="slidenum">
              <a:rPr lang="en-US" smtClean="0"/>
              <a:t>12</a:t>
            </a:fld>
            <a:endParaRPr lang="en-US"/>
          </a:p>
        </p:txBody>
      </p:sp>
    </p:spTree>
    <p:extLst>
      <p:ext uri="{BB962C8B-B14F-4D97-AF65-F5344CB8AC3E}">
        <p14:creationId xmlns:p14="http://schemas.microsoft.com/office/powerpoint/2010/main" val="2730613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14D2A33-F208-4412-A296-3DC846D4450D}"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2350927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4D2A33-F208-4412-A296-3DC846D4450D}"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3231319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14D2A33-F208-4412-A296-3DC846D4450D}"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3291391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14D2A33-F208-4412-A296-3DC846D4450D}"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258780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14D2A33-F208-4412-A296-3DC846D4450D}"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3041002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14D2A33-F208-4412-A296-3DC846D4450D}"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1473882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4D2A33-F208-4412-A296-3DC846D4450D}"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3429041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4D2A33-F208-4412-A296-3DC846D4450D}"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130415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14D2A33-F208-4412-A296-3DC846D4450D}"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783765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4D2A33-F208-4412-A296-3DC846D4450D}"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63964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14D2A33-F208-4412-A296-3DC846D4450D}"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B81AFE-3570-499A-A26F-39B4C7E22493}" type="slidenum">
              <a:rPr lang="en-US" smtClean="0"/>
              <a:t>‹#›</a:t>
            </a:fld>
            <a:endParaRPr lang="en-US"/>
          </a:p>
        </p:txBody>
      </p:sp>
    </p:spTree>
    <p:extLst>
      <p:ext uri="{BB962C8B-B14F-4D97-AF65-F5344CB8AC3E}">
        <p14:creationId xmlns:p14="http://schemas.microsoft.com/office/powerpoint/2010/main" val="235228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4D2A33-F208-4412-A296-3DC846D4450D}" type="datetimeFigureOut">
              <a:rPr lang="en-US" smtClean="0"/>
              <a:t>7/27/2026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B81AFE-3570-499A-A26F-39B4C7E22493}" type="slidenum">
              <a:rPr lang="en-US" smtClean="0"/>
              <a:t>‹#›</a:t>
            </a:fld>
            <a:endParaRPr lang="en-US"/>
          </a:p>
        </p:txBody>
      </p:sp>
    </p:spTree>
    <p:extLst>
      <p:ext uri="{BB962C8B-B14F-4D97-AF65-F5344CB8AC3E}">
        <p14:creationId xmlns:p14="http://schemas.microsoft.com/office/powerpoint/2010/main" val="6909802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404"/>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mall tree">
            <a:extLst>
              <a:ext uri="{FF2B5EF4-FFF2-40B4-BE49-F238E27FC236}">
                <a16:creationId xmlns:a16="http://schemas.microsoft.com/office/drawing/2014/main" id="{A9AAE82D-98FD-2F49-1907-9C23B8BFA471}"/>
              </a:ext>
            </a:extLst>
          </p:cNvPr>
          <p:cNvPicPr>
            <a:picLocks noChangeAspect="1"/>
          </p:cNvPicPr>
          <p:nvPr/>
        </p:nvPicPr>
        <p:blipFill>
          <a:blip r:embed="rId2"/>
          <a:srcRect l="1055" r="19728"/>
          <a:stretch/>
        </p:blipFill>
        <p:spPr>
          <a:xfrm>
            <a:off x="4038599" y="10"/>
            <a:ext cx="8160026" cy="6875809"/>
          </a:xfrm>
          <a:prstGeom prst="rect">
            <a:avLst/>
          </a:prstGeom>
        </p:spPr>
      </p:pic>
      <p:sp>
        <p:nvSpPr>
          <p:cNvPr id="15" name="Freeform: Shape 14">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CA122E0-38E0-A806-6BC1-534C7BAC6AC5}"/>
              </a:ext>
            </a:extLst>
          </p:cNvPr>
          <p:cNvSpPr>
            <a:spLocks noGrp="1"/>
          </p:cNvSpPr>
          <p:nvPr>
            <p:ph type="title"/>
          </p:nvPr>
        </p:nvSpPr>
        <p:spPr>
          <a:xfrm>
            <a:off x="534473" y="2950387"/>
            <a:ext cx="3052293" cy="3531403"/>
          </a:xfrm>
        </p:spPr>
        <p:txBody>
          <a:bodyPr vert="horz" lIns="91440" tIns="45720" rIns="91440" bIns="45720" rtlCol="0" anchor="t">
            <a:normAutofit/>
          </a:bodyPr>
          <a:lstStyle/>
          <a:p>
            <a:pPr algn="r"/>
            <a:r>
              <a:rPr lang="en-US" sz="4000">
                <a:solidFill>
                  <a:srgbClr val="FFFFFF"/>
                </a:solidFill>
              </a:rPr>
              <a:t>Part-1: Decision Tree Classifier</a:t>
            </a:r>
          </a:p>
        </p:txBody>
      </p:sp>
    </p:spTree>
    <p:extLst>
      <p:ext uri="{BB962C8B-B14F-4D97-AF65-F5344CB8AC3E}">
        <p14:creationId xmlns:p14="http://schemas.microsoft.com/office/powerpoint/2010/main" val="848114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a:bodyPr>
          <a:lstStyle/>
          <a:p>
            <a:pPr marL="342900" indent="-342900" algn="just">
              <a:lnSpc>
                <a:spcPts val="2300"/>
              </a:lnSpc>
            </a:pPr>
            <a:r>
              <a:rPr lang="en-US" dirty="0"/>
              <a:t>Decision tree builds </a:t>
            </a:r>
            <a:r>
              <a:rPr lang="en-US" dirty="0">
                <a:solidFill>
                  <a:srgbClr val="0070C0"/>
                </a:solidFill>
              </a:rPr>
              <a:t>regression</a:t>
            </a:r>
            <a:r>
              <a:rPr lang="en-US" dirty="0"/>
              <a:t> or </a:t>
            </a:r>
            <a:r>
              <a:rPr lang="en-US" dirty="0">
                <a:solidFill>
                  <a:srgbClr val="0070C0"/>
                </a:solidFill>
              </a:rPr>
              <a:t>classification</a:t>
            </a:r>
            <a:r>
              <a:rPr lang="en-US" dirty="0"/>
              <a:t> models in the form of a tree structure. </a:t>
            </a:r>
          </a:p>
          <a:p>
            <a:pPr marL="800100" lvl="1" indent="-342900" algn="just">
              <a:lnSpc>
                <a:spcPts val="2300"/>
              </a:lnSpc>
            </a:pPr>
            <a:r>
              <a:rPr lang="en-CA" dirty="0">
                <a:cs typeface="Arial"/>
              </a:rPr>
              <a:t>For </a:t>
            </a:r>
            <a:r>
              <a:rPr lang="en-CA" dirty="0">
                <a:solidFill>
                  <a:srgbClr val="FF0000"/>
                </a:solidFill>
                <a:cs typeface="Arial"/>
              </a:rPr>
              <a:t>discrete</a:t>
            </a:r>
            <a:r>
              <a:rPr lang="en-CA" dirty="0">
                <a:cs typeface="Arial"/>
              </a:rPr>
              <a:t> value target functions (labels) </a:t>
            </a:r>
            <a:r>
              <a:rPr lang="en-CA" dirty="0">
                <a:solidFill>
                  <a:srgbClr val="0070C0"/>
                </a:solidFill>
                <a:cs typeface="Arial"/>
              </a:rPr>
              <a:t>– classification models </a:t>
            </a:r>
          </a:p>
          <a:p>
            <a:pPr marL="800100" lvl="1" indent="-342900" algn="just">
              <a:lnSpc>
                <a:spcPts val="2300"/>
              </a:lnSpc>
            </a:pPr>
            <a:r>
              <a:rPr lang="en-CA" dirty="0">
                <a:cs typeface="Arial"/>
              </a:rPr>
              <a:t>For </a:t>
            </a:r>
            <a:r>
              <a:rPr lang="en-CA" dirty="0">
                <a:solidFill>
                  <a:srgbClr val="FF0000"/>
                </a:solidFill>
                <a:cs typeface="Arial"/>
              </a:rPr>
              <a:t>continuous</a:t>
            </a:r>
            <a:r>
              <a:rPr lang="en-CA" dirty="0">
                <a:cs typeface="Arial"/>
              </a:rPr>
              <a:t> value target functions (labels) </a:t>
            </a:r>
            <a:r>
              <a:rPr lang="en-CA" dirty="0">
                <a:solidFill>
                  <a:srgbClr val="0070C0"/>
                </a:solidFill>
                <a:cs typeface="Arial"/>
              </a:rPr>
              <a:t>– regression models </a:t>
            </a:r>
          </a:p>
          <a:p>
            <a:pPr marL="342900" indent="-342900" algn="just">
              <a:lnSpc>
                <a:spcPts val="2300"/>
              </a:lnSpc>
            </a:pPr>
            <a:endParaRPr lang="en-US" dirty="0"/>
          </a:p>
          <a:p>
            <a:pPr marL="342900" indent="-342900" algn="just">
              <a:lnSpc>
                <a:spcPts val="2300"/>
              </a:lnSpc>
            </a:pPr>
            <a:r>
              <a:rPr lang="en-US" dirty="0"/>
              <a:t>It breaks down a </a:t>
            </a:r>
            <a:r>
              <a:rPr lang="en-US" dirty="0">
                <a:solidFill>
                  <a:srgbClr val="0070C0"/>
                </a:solidFill>
              </a:rPr>
              <a:t>dataset into smaller and smaller subsets </a:t>
            </a:r>
            <a:r>
              <a:rPr lang="en-US" dirty="0"/>
              <a:t>while at the same time an associated decision tree is incrementally developed.</a:t>
            </a:r>
            <a:endParaRPr lang="en-CA" dirty="0">
              <a:solidFill>
                <a:srgbClr val="000000"/>
              </a:solidFill>
              <a:cs typeface="Arial"/>
            </a:endParaRPr>
          </a:p>
          <a:p>
            <a:pPr marL="342900" indent="-342900" algn="just">
              <a:lnSpc>
                <a:spcPts val="2300"/>
              </a:lnSpc>
            </a:pPr>
            <a:endParaRPr lang="en-CA" dirty="0">
              <a:solidFill>
                <a:srgbClr val="000000"/>
              </a:solidFill>
              <a:cs typeface="Arial"/>
            </a:endParaRPr>
          </a:p>
          <a:p>
            <a:pPr marL="342900" indent="-342900" algn="just">
              <a:lnSpc>
                <a:spcPts val="2300"/>
              </a:lnSpc>
            </a:pPr>
            <a:r>
              <a:rPr lang="en-CA" dirty="0">
                <a:solidFill>
                  <a:srgbClr val="000000"/>
                </a:solidFill>
                <a:cs typeface="Arial"/>
              </a:rPr>
              <a:t>For </a:t>
            </a:r>
            <a:r>
              <a:rPr lang="en-CA" dirty="0">
                <a:solidFill>
                  <a:srgbClr val="0070C0"/>
                </a:solidFill>
                <a:cs typeface="Arial"/>
              </a:rPr>
              <a:t>discrete value target functions (for classification)</a:t>
            </a:r>
          </a:p>
          <a:p>
            <a:pPr marL="800100" lvl="1" indent="-342900" algn="just">
              <a:lnSpc>
                <a:spcPts val="2300"/>
              </a:lnSpc>
            </a:pPr>
            <a:r>
              <a:rPr lang="en-CA" dirty="0">
                <a:solidFill>
                  <a:srgbClr val="000000"/>
                </a:solidFill>
                <a:cs typeface="Arial"/>
              </a:rPr>
              <a:t>If-then-else rule</a:t>
            </a:r>
          </a:p>
          <a:p>
            <a:pPr marL="800100" lvl="1" indent="-342900" algn="just">
              <a:lnSpc>
                <a:spcPts val="2300"/>
              </a:lnSpc>
            </a:pPr>
            <a:r>
              <a:rPr lang="en-CA" dirty="0">
                <a:solidFill>
                  <a:srgbClr val="000000"/>
                </a:solidFill>
                <a:cs typeface="Arial"/>
              </a:rPr>
              <a:t>Most widely used approach</a:t>
            </a:r>
            <a:endParaRPr lang="en-US" dirty="0"/>
          </a:p>
        </p:txBody>
      </p:sp>
      <p:sp>
        <p:nvSpPr>
          <p:cNvPr id="5" name="TextBox 2"/>
          <p:cNvSpPr txBox="1"/>
          <p:nvPr/>
        </p:nvSpPr>
        <p:spPr>
          <a:xfrm>
            <a:off x="4281061" y="177800"/>
            <a:ext cx="3349122" cy="1179810"/>
          </a:xfrm>
          <a:prstGeom prst="rect">
            <a:avLst/>
          </a:prstGeom>
          <a:noFill/>
        </p:spPr>
        <p:txBody>
          <a:bodyPr vert="horz" wrap="none" lIns="0" tIns="0" rIns="0" bIns="0" rtlCol="0">
            <a:spAutoFit/>
          </a:bodyPr>
          <a:lstStyle/>
          <a:p>
            <a:pPr>
              <a:lnSpc>
                <a:spcPts val="4600"/>
              </a:lnSpc>
            </a:pPr>
            <a:r>
              <a:rPr lang="en-CA" sz="4012" b="1" dirty="0">
                <a:solidFill>
                  <a:srgbClr val="000000"/>
                </a:solidFill>
                <a:latin typeface="Arial Bold"/>
                <a:cs typeface="Arial Bold"/>
              </a:rPr>
              <a:t>Decision Tree</a:t>
            </a:r>
          </a:p>
          <a:p>
            <a:pPr>
              <a:lnSpc>
                <a:spcPts val="4600"/>
              </a:lnSpc>
            </a:pPr>
            <a:endParaRPr lang="en-CA" sz="4002" dirty="0">
              <a:solidFill>
                <a:srgbClr val="000000"/>
              </a:solidFill>
            </a:endParaRPr>
          </a:p>
        </p:txBody>
      </p:sp>
    </p:spTree>
    <p:extLst>
      <p:ext uri="{BB962C8B-B14F-4D97-AF65-F5344CB8AC3E}">
        <p14:creationId xmlns:p14="http://schemas.microsoft.com/office/powerpoint/2010/main" val="1385098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p:cNvPicPr>
          <p:nvPr/>
        </p:nvPicPr>
        <p:blipFill rotWithShape="1">
          <a:blip r:embed="rId2" cstate="print"/>
          <a:srcRect l="20505" t="22013" r="22172" b="23956"/>
          <a:stretch/>
        </p:blipFill>
        <p:spPr>
          <a:xfrm>
            <a:off x="4911849" y="1688108"/>
            <a:ext cx="5659142" cy="3756903"/>
          </a:xfrm>
          <a:prstGeom prst="rect">
            <a:avLst/>
          </a:prstGeom>
        </p:spPr>
      </p:pic>
      <p:sp>
        <p:nvSpPr>
          <p:cNvPr id="5" name="TextBox 3"/>
          <p:cNvSpPr txBox="1"/>
          <p:nvPr/>
        </p:nvSpPr>
        <p:spPr>
          <a:xfrm>
            <a:off x="1815505" y="1428881"/>
            <a:ext cx="7128792" cy="269304"/>
          </a:xfrm>
          <a:prstGeom prst="rect">
            <a:avLst/>
          </a:prstGeom>
          <a:noFill/>
        </p:spPr>
        <p:txBody>
          <a:bodyPr vert="horz" wrap="square" lIns="0" tIns="0" rIns="0" bIns="0" rtlCol="0">
            <a:spAutoFit/>
          </a:bodyPr>
          <a:lstStyle/>
          <a:p>
            <a:pPr>
              <a:lnSpc>
                <a:spcPts val="2070"/>
              </a:lnSpc>
            </a:pPr>
            <a:r>
              <a:rPr lang="en-CA" sz="2000" dirty="0">
                <a:solidFill>
                  <a:srgbClr val="000000"/>
                </a:solidFill>
                <a:latin typeface="Arial"/>
                <a:cs typeface="Arial"/>
              </a:rPr>
              <a:t> Instance classification starts at the </a:t>
            </a:r>
            <a:r>
              <a:rPr lang="en-CA" sz="2000" dirty="0">
                <a:solidFill>
                  <a:srgbClr val="0070C0"/>
                </a:solidFill>
                <a:latin typeface="Arial"/>
                <a:cs typeface="Arial"/>
              </a:rPr>
              <a:t>root node</a:t>
            </a:r>
            <a:r>
              <a:rPr lang="en-CA" sz="2000" dirty="0">
                <a:solidFill>
                  <a:srgbClr val="000000"/>
                </a:solidFill>
                <a:latin typeface="Arial"/>
                <a:cs typeface="Arial"/>
              </a:rPr>
              <a:t> of the tree</a:t>
            </a:r>
            <a:endParaRPr lang="en-CA" sz="2000" dirty="0">
              <a:solidFill>
                <a:srgbClr val="000000"/>
              </a:solidFill>
            </a:endParaRPr>
          </a:p>
        </p:txBody>
      </p:sp>
      <p:sp>
        <p:nvSpPr>
          <p:cNvPr id="6" name="TextBox 4"/>
          <p:cNvSpPr txBox="1"/>
          <p:nvPr/>
        </p:nvSpPr>
        <p:spPr>
          <a:xfrm>
            <a:off x="1743497" y="3200276"/>
            <a:ext cx="1800200" cy="1885131"/>
          </a:xfrm>
          <a:prstGeom prst="rect">
            <a:avLst/>
          </a:prstGeom>
          <a:noFill/>
        </p:spPr>
        <p:txBody>
          <a:bodyPr vert="horz" wrap="square" lIns="0" tIns="0" rIns="0" bIns="0" rtlCol="0">
            <a:spAutoFit/>
          </a:bodyPr>
          <a:lstStyle/>
          <a:p>
            <a:pPr>
              <a:lnSpc>
                <a:spcPts val="2070"/>
              </a:lnSpc>
            </a:pPr>
            <a:r>
              <a:rPr lang="en-CA" sz="1800" dirty="0">
                <a:solidFill>
                  <a:srgbClr val="000000"/>
                </a:solidFill>
                <a:latin typeface="Arial"/>
                <a:cs typeface="Arial"/>
              </a:rPr>
              <a:t>Moving down the tree </a:t>
            </a:r>
            <a:r>
              <a:rPr lang="en-CA" dirty="0">
                <a:solidFill>
                  <a:srgbClr val="000000"/>
                </a:solidFill>
                <a:latin typeface="Arial"/>
                <a:cs typeface="Arial"/>
              </a:rPr>
              <a:t>branch corresponding to the value of the attribute in the given example. </a:t>
            </a:r>
            <a:endParaRPr lang="en-CA" sz="1800" dirty="0">
              <a:solidFill>
                <a:srgbClr val="000000"/>
              </a:solidFill>
              <a:latin typeface="Arial"/>
              <a:cs typeface="Arial"/>
            </a:endParaRPr>
          </a:p>
          <a:p>
            <a:pPr>
              <a:lnSpc>
                <a:spcPts val="2070"/>
              </a:lnSpc>
            </a:pPr>
            <a:endParaRPr lang="en-CA" sz="1800" dirty="0">
              <a:solidFill>
                <a:srgbClr val="000000"/>
              </a:solidFill>
            </a:endParaRPr>
          </a:p>
        </p:txBody>
      </p:sp>
      <p:sp>
        <p:nvSpPr>
          <p:cNvPr id="8" name="Rectangle 7"/>
          <p:cNvSpPr/>
          <p:nvPr/>
        </p:nvSpPr>
        <p:spPr>
          <a:xfrm>
            <a:off x="2319561" y="1832124"/>
            <a:ext cx="2448272" cy="900246"/>
          </a:xfrm>
          <a:prstGeom prst="rect">
            <a:avLst/>
          </a:prstGeom>
        </p:spPr>
        <p:txBody>
          <a:bodyPr wrap="square">
            <a:spAutoFit/>
          </a:bodyPr>
          <a:lstStyle/>
          <a:p>
            <a:pPr>
              <a:lnSpc>
                <a:spcPts val="2070"/>
              </a:lnSpc>
            </a:pPr>
            <a:r>
              <a:rPr lang="en-CA" dirty="0">
                <a:solidFill>
                  <a:srgbClr val="000000"/>
                </a:solidFill>
                <a:latin typeface="Arial"/>
                <a:cs typeface="Arial"/>
              </a:rPr>
              <a:t>Testing the attribute values specified by this node</a:t>
            </a:r>
            <a:endParaRPr lang="en-CA" dirty="0">
              <a:solidFill>
                <a:srgbClr val="000000"/>
              </a:solidFill>
            </a:endParaRPr>
          </a:p>
        </p:txBody>
      </p:sp>
      <p:sp>
        <p:nvSpPr>
          <p:cNvPr id="9" name="Rectangle 8"/>
          <p:cNvSpPr/>
          <p:nvPr/>
        </p:nvSpPr>
        <p:spPr>
          <a:xfrm>
            <a:off x="1733980" y="5298333"/>
            <a:ext cx="7920880" cy="369332"/>
          </a:xfrm>
          <a:prstGeom prst="rect">
            <a:avLst/>
          </a:prstGeom>
        </p:spPr>
        <p:txBody>
          <a:bodyPr wrap="square">
            <a:spAutoFit/>
          </a:bodyPr>
          <a:lstStyle/>
          <a:p>
            <a:r>
              <a:rPr lang="en-CA" dirty="0">
                <a:solidFill>
                  <a:srgbClr val="000000"/>
                </a:solidFill>
                <a:latin typeface="Arial"/>
                <a:cs typeface="Arial"/>
              </a:rPr>
              <a:t>This process is then repeated for the </a:t>
            </a:r>
            <a:r>
              <a:rPr lang="en-CA" dirty="0" err="1">
                <a:solidFill>
                  <a:srgbClr val="000000"/>
                </a:solidFill>
                <a:latin typeface="Arial"/>
                <a:cs typeface="Arial"/>
              </a:rPr>
              <a:t>subtree</a:t>
            </a:r>
            <a:r>
              <a:rPr lang="en-CA" dirty="0">
                <a:solidFill>
                  <a:srgbClr val="000000"/>
                </a:solidFill>
                <a:latin typeface="Arial"/>
                <a:cs typeface="Arial"/>
              </a:rPr>
              <a:t> rooted at the new node</a:t>
            </a:r>
            <a:endParaRPr lang="en-US" dirty="0"/>
          </a:p>
        </p:txBody>
      </p:sp>
      <p:sp>
        <p:nvSpPr>
          <p:cNvPr id="11" name="TextBox 2"/>
          <p:cNvSpPr txBox="1"/>
          <p:nvPr/>
        </p:nvSpPr>
        <p:spPr>
          <a:xfrm>
            <a:off x="4281061" y="177800"/>
            <a:ext cx="3349122" cy="1179810"/>
          </a:xfrm>
          <a:prstGeom prst="rect">
            <a:avLst/>
          </a:prstGeom>
          <a:noFill/>
        </p:spPr>
        <p:txBody>
          <a:bodyPr vert="horz" wrap="none" lIns="0" tIns="0" rIns="0" bIns="0" rtlCol="0">
            <a:spAutoFit/>
          </a:bodyPr>
          <a:lstStyle/>
          <a:p>
            <a:pPr>
              <a:lnSpc>
                <a:spcPts val="4600"/>
              </a:lnSpc>
            </a:pPr>
            <a:r>
              <a:rPr lang="en-CA" sz="4012" b="1" dirty="0">
                <a:solidFill>
                  <a:srgbClr val="000000"/>
                </a:solidFill>
                <a:latin typeface="Arial Bold"/>
                <a:cs typeface="Arial Bold"/>
              </a:rPr>
              <a:t>Decision Tree</a:t>
            </a:r>
          </a:p>
          <a:p>
            <a:pPr>
              <a:lnSpc>
                <a:spcPts val="4600"/>
              </a:lnSpc>
            </a:pPr>
            <a:endParaRPr lang="en-CA" sz="4002" dirty="0">
              <a:solidFill>
                <a:srgbClr val="000000"/>
              </a:solidFill>
            </a:endParaRPr>
          </a:p>
        </p:txBody>
      </p:sp>
      <p:pic>
        <p:nvPicPr>
          <p:cNvPr id="12" name="Picture 2" descr="datas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4534" y="155522"/>
            <a:ext cx="3705832" cy="224131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4750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p:cNvPicPr>
          <p:nvPr/>
        </p:nvPicPr>
        <p:blipFill rotWithShape="1">
          <a:blip r:embed="rId2" cstate="print"/>
          <a:srcRect l="11244" t="21534" r="15219" b="4926"/>
          <a:stretch/>
        </p:blipFill>
        <p:spPr>
          <a:xfrm>
            <a:off x="2618509" y="1468582"/>
            <a:ext cx="6705600" cy="5015345"/>
          </a:xfrm>
          <a:prstGeom prst="rect">
            <a:avLst/>
          </a:prstGeom>
        </p:spPr>
      </p:pic>
      <p:sp>
        <p:nvSpPr>
          <p:cNvPr id="5" name="TextBox 3"/>
          <p:cNvSpPr txBox="1"/>
          <p:nvPr/>
        </p:nvSpPr>
        <p:spPr>
          <a:xfrm>
            <a:off x="2812471" y="5295900"/>
            <a:ext cx="7899400" cy="241300"/>
          </a:xfrm>
          <a:prstGeom prst="rect">
            <a:avLst/>
          </a:prstGeom>
          <a:noFill/>
        </p:spPr>
        <p:txBody>
          <a:bodyPr vert="horz" wrap="none" lIns="0" tIns="0" rIns="0" bIns="0" rtlCol="0">
            <a:spAutoFit/>
          </a:bodyPr>
          <a:lstStyle/>
          <a:p>
            <a:pPr>
              <a:lnSpc>
                <a:spcPts val="1610"/>
              </a:lnSpc>
            </a:pPr>
            <a:r>
              <a:rPr lang="en-CA" sz="1407" b="1" i="1" dirty="0">
                <a:solidFill>
                  <a:srgbClr val="000000"/>
                </a:solidFill>
                <a:latin typeface="Arial Bold Italic"/>
                <a:cs typeface="Arial Bold Italic"/>
              </a:rPr>
              <a:t>&lt;Outlook </a:t>
            </a:r>
            <a:r>
              <a:rPr lang="en-CA" sz="1397" dirty="0">
                <a:solidFill>
                  <a:srgbClr val="000000"/>
                </a:solidFill>
                <a:latin typeface="Arial"/>
                <a:cs typeface="Arial"/>
              </a:rPr>
              <a:t>= </a:t>
            </a:r>
            <a:r>
              <a:rPr lang="en-CA" sz="1407" b="1" i="1" dirty="0">
                <a:solidFill>
                  <a:srgbClr val="000000"/>
                </a:solidFill>
                <a:latin typeface="Arial Bold Italic"/>
                <a:cs typeface="Arial Bold Italic"/>
              </a:rPr>
              <a:t>Sunny, Temperature </a:t>
            </a:r>
            <a:r>
              <a:rPr lang="en-CA" sz="1397" dirty="0">
                <a:solidFill>
                  <a:srgbClr val="000000"/>
                </a:solidFill>
                <a:latin typeface="Arial"/>
                <a:cs typeface="Arial"/>
              </a:rPr>
              <a:t>= </a:t>
            </a:r>
            <a:r>
              <a:rPr lang="en-CA" sz="1407" b="1" i="1" dirty="0">
                <a:solidFill>
                  <a:srgbClr val="000000"/>
                </a:solidFill>
                <a:latin typeface="Arial Bold Italic"/>
                <a:cs typeface="Arial Bold Italic"/>
              </a:rPr>
              <a:t>Hot, Humidity </a:t>
            </a:r>
            <a:r>
              <a:rPr lang="en-CA" sz="1397" dirty="0">
                <a:solidFill>
                  <a:srgbClr val="000000"/>
                </a:solidFill>
                <a:latin typeface="Arial"/>
                <a:cs typeface="Arial"/>
              </a:rPr>
              <a:t>= </a:t>
            </a:r>
            <a:r>
              <a:rPr lang="en-CA" sz="1407" b="1" i="1" dirty="0">
                <a:solidFill>
                  <a:srgbClr val="000000"/>
                </a:solidFill>
                <a:latin typeface="Arial Bold Italic"/>
                <a:cs typeface="Arial Bold Italic"/>
              </a:rPr>
              <a:t>High, Wind </a:t>
            </a:r>
            <a:r>
              <a:rPr lang="en-CA" sz="1397" dirty="0">
                <a:solidFill>
                  <a:srgbClr val="000000"/>
                </a:solidFill>
                <a:latin typeface="Arial"/>
                <a:cs typeface="Arial"/>
              </a:rPr>
              <a:t>= </a:t>
            </a:r>
            <a:r>
              <a:rPr lang="en-CA" sz="1407" b="1" i="1" dirty="0">
                <a:solidFill>
                  <a:srgbClr val="000000"/>
                </a:solidFill>
                <a:latin typeface="Arial Bold Italic"/>
                <a:cs typeface="Arial Bold Italic"/>
              </a:rPr>
              <a:t>Strong&gt;</a:t>
            </a:r>
          </a:p>
          <a:p>
            <a:pPr>
              <a:lnSpc>
                <a:spcPts val="1610"/>
              </a:lnSpc>
            </a:pPr>
            <a:endParaRPr lang="en-CA" sz="1397" dirty="0">
              <a:solidFill>
                <a:srgbClr val="000000"/>
              </a:solidFill>
            </a:endParaRPr>
          </a:p>
        </p:txBody>
      </p:sp>
      <p:sp>
        <p:nvSpPr>
          <p:cNvPr id="6" name="TextBox 4"/>
          <p:cNvSpPr txBox="1"/>
          <p:nvPr/>
        </p:nvSpPr>
        <p:spPr>
          <a:xfrm>
            <a:off x="4946071" y="6134100"/>
            <a:ext cx="5765800" cy="342900"/>
          </a:xfrm>
          <a:prstGeom prst="rect">
            <a:avLst/>
          </a:prstGeom>
          <a:noFill/>
        </p:spPr>
        <p:txBody>
          <a:bodyPr vert="horz" wrap="none" lIns="0" tIns="0" rIns="0" bIns="0" rtlCol="0">
            <a:spAutoFit/>
          </a:bodyPr>
          <a:lstStyle/>
          <a:p>
            <a:pPr>
              <a:lnSpc>
                <a:spcPts val="2070"/>
              </a:lnSpc>
            </a:pPr>
            <a:r>
              <a:rPr lang="en-CA" sz="1800">
                <a:solidFill>
                  <a:srgbClr val="000000"/>
                </a:solidFill>
                <a:latin typeface="Arial"/>
                <a:cs typeface="Arial"/>
              </a:rPr>
              <a:t>PlayTennis = No</a:t>
            </a:r>
          </a:p>
          <a:p>
            <a:pPr>
              <a:lnSpc>
                <a:spcPts val="2070"/>
              </a:lnSpc>
            </a:pPr>
            <a:endParaRPr lang="en-CA" sz="1800">
              <a:solidFill>
                <a:srgbClr val="000000"/>
              </a:solidFill>
            </a:endParaRPr>
          </a:p>
        </p:txBody>
      </p:sp>
      <p:sp>
        <p:nvSpPr>
          <p:cNvPr id="8" name="TextBox 2"/>
          <p:cNvSpPr txBox="1"/>
          <p:nvPr/>
        </p:nvSpPr>
        <p:spPr>
          <a:xfrm>
            <a:off x="4281061" y="177800"/>
            <a:ext cx="3349122" cy="1179810"/>
          </a:xfrm>
          <a:prstGeom prst="rect">
            <a:avLst/>
          </a:prstGeom>
          <a:noFill/>
        </p:spPr>
        <p:txBody>
          <a:bodyPr vert="horz" wrap="none" lIns="0" tIns="0" rIns="0" bIns="0" rtlCol="0">
            <a:spAutoFit/>
          </a:bodyPr>
          <a:lstStyle/>
          <a:p>
            <a:pPr>
              <a:lnSpc>
                <a:spcPts val="4600"/>
              </a:lnSpc>
            </a:pPr>
            <a:r>
              <a:rPr lang="en-CA" sz="4012" b="1" dirty="0">
                <a:solidFill>
                  <a:srgbClr val="000000"/>
                </a:solidFill>
                <a:latin typeface="Arial Bold"/>
                <a:cs typeface="Arial Bold"/>
              </a:rPr>
              <a:t>Decision Tree</a:t>
            </a:r>
          </a:p>
          <a:p>
            <a:pPr>
              <a:lnSpc>
                <a:spcPts val="4600"/>
              </a:lnSpc>
            </a:pPr>
            <a:endParaRPr lang="en-CA" sz="4002" dirty="0">
              <a:solidFill>
                <a:srgbClr val="000000"/>
              </a:solidFill>
            </a:endParaRPr>
          </a:p>
        </p:txBody>
      </p:sp>
      <p:sp>
        <p:nvSpPr>
          <p:cNvPr id="10" name="Rectangle 9">
            <a:extLst>
              <a:ext uri="{FF2B5EF4-FFF2-40B4-BE49-F238E27FC236}">
                <a16:creationId xmlns:a16="http://schemas.microsoft.com/office/drawing/2014/main" id="{65ACBB18-4131-2E0A-474A-5568AC162F46}"/>
              </a:ext>
            </a:extLst>
          </p:cNvPr>
          <p:cNvSpPr/>
          <p:nvPr/>
        </p:nvSpPr>
        <p:spPr>
          <a:xfrm>
            <a:off x="3690256" y="1240971"/>
            <a:ext cx="5290457" cy="37229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626397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rotWithShape="1">
          <a:blip r:embed="rId2" cstate="print"/>
          <a:srcRect l="35786" t="32144" r="33417" b="45683"/>
          <a:stretch/>
        </p:blipFill>
        <p:spPr>
          <a:xfrm>
            <a:off x="491256" y="1133829"/>
            <a:ext cx="2929827" cy="1714818"/>
          </a:xfrm>
          <a:prstGeom prst="rect">
            <a:avLst/>
          </a:prstGeom>
        </p:spPr>
      </p:pic>
      <p:sp>
        <p:nvSpPr>
          <p:cNvPr id="18" name="TextBox 2"/>
          <p:cNvSpPr txBox="1"/>
          <p:nvPr/>
        </p:nvSpPr>
        <p:spPr>
          <a:xfrm>
            <a:off x="4852555" y="1693400"/>
            <a:ext cx="7159336" cy="595676"/>
          </a:xfrm>
          <a:prstGeom prst="rect">
            <a:avLst/>
          </a:prstGeom>
          <a:noFill/>
        </p:spPr>
        <p:txBody>
          <a:bodyPr vert="horz" wrap="square" lIns="0" tIns="0" rIns="0" bIns="0" rtlCol="0">
            <a:spAutoFit/>
          </a:bodyPr>
          <a:lstStyle/>
          <a:p>
            <a:pPr algn="ctr">
              <a:lnSpc>
                <a:spcPts val="5060"/>
              </a:lnSpc>
            </a:pPr>
            <a:r>
              <a:rPr lang="en-CA" sz="2800" b="1" dirty="0">
                <a:solidFill>
                  <a:srgbClr val="000000"/>
                </a:solidFill>
                <a:latin typeface="Arial Bold"/>
                <a:cs typeface="Arial Bold"/>
              </a:rPr>
              <a:t>Decision Trees (F = A ^ B</a:t>
            </a:r>
            <a:r>
              <a:rPr lang="en-CA" sz="2400" dirty="0">
                <a:solidFill>
                  <a:srgbClr val="000000"/>
                </a:solidFill>
                <a:latin typeface="Arial"/>
                <a:cs typeface="Arial"/>
              </a:rPr>
              <a:t>'</a:t>
            </a:r>
            <a:r>
              <a:rPr lang="en-CA" sz="2800" b="1" dirty="0">
                <a:solidFill>
                  <a:srgbClr val="000000"/>
                </a:solidFill>
                <a:latin typeface="Arial Bold"/>
                <a:cs typeface="Arial Bold"/>
              </a:rPr>
              <a:t>)</a:t>
            </a:r>
            <a:endParaRPr lang="en-CA" sz="2400" dirty="0">
              <a:solidFill>
                <a:srgbClr val="000000"/>
              </a:solidFill>
            </a:endParaRPr>
          </a:p>
        </p:txBody>
      </p:sp>
      <p:sp>
        <p:nvSpPr>
          <p:cNvPr id="19" name="Rectangle 18"/>
          <p:cNvSpPr/>
          <p:nvPr/>
        </p:nvSpPr>
        <p:spPr>
          <a:xfrm>
            <a:off x="7523018" y="2777276"/>
            <a:ext cx="4342411" cy="1169551"/>
          </a:xfrm>
          <a:prstGeom prst="rect">
            <a:avLst/>
          </a:prstGeom>
        </p:spPr>
        <p:txBody>
          <a:bodyPr wrap="square">
            <a:spAutoFit/>
          </a:bodyPr>
          <a:lstStyle/>
          <a:p>
            <a:pPr indent="5326">
              <a:lnSpc>
                <a:spcPts val="2100"/>
              </a:lnSpc>
            </a:pPr>
            <a:r>
              <a:rPr lang="en-CA" b="1" dirty="0">
                <a:latin typeface="Arial Bold"/>
                <a:cs typeface="Arial Bold"/>
              </a:rPr>
              <a:t>If (A=True and B = False) then Yes</a:t>
            </a:r>
            <a:br>
              <a:rPr lang="en-CA" sz="1600" dirty="0">
                <a:latin typeface="Times New Roman"/>
              </a:rPr>
            </a:br>
            <a:endParaRPr lang="en-CA" sz="1600" dirty="0">
              <a:latin typeface="Times New Roman"/>
            </a:endParaRPr>
          </a:p>
          <a:p>
            <a:pPr indent="5326">
              <a:lnSpc>
                <a:spcPts val="2100"/>
              </a:lnSpc>
            </a:pPr>
            <a:r>
              <a:rPr lang="en-CA" b="1" dirty="0">
                <a:latin typeface="Arial Bold"/>
                <a:cs typeface="Arial Bold"/>
              </a:rPr>
              <a:t>else</a:t>
            </a:r>
          </a:p>
          <a:p>
            <a:pPr indent="5326">
              <a:lnSpc>
                <a:spcPts val="2100"/>
              </a:lnSpc>
            </a:pPr>
            <a:r>
              <a:rPr lang="en-CA" b="1" dirty="0">
                <a:latin typeface="Arial Bold"/>
                <a:cs typeface="Arial Bold"/>
              </a:rPr>
              <a:t>     No </a:t>
            </a:r>
          </a:p>
        </p:txBody>
      </p:sp>
      <p:sp>
        <p:nvSpPr>
          <p:cNvPr id="21" name="TextBox 7"/>
          <p:cNvSpPr txBox="1"/>
          <p:nvPr/>
        </p:nvSpPr>
        <p:spPr>
          <a:xfrm>
            <a:off x="4000500" y="3467100"/>
            <a:ext cx="5118100" cy="457200"/>
          </a:xfrm>
          <a:prstGeom prst="rect">
            <a:avLst/>
          </a:prstGeom>
          <a:noFill/>
        </p:spPr>
        <p:txBody>
          <a:bodyPr vert="horz" wrap="none" lIns="0" tIns="0" rIns="0" bIns="0" rtlCol="0">
            <a:spAutoFit/>
          </a:bodyPr>
          <a:lstStyle/>
          <a:p>
            <a:pPr>
              <a:lnSpc>
                <a:spcPts val="2760"/>
              </a:lnSpc>
            </a:pPr>
            <a:r>
              <a:rPr lang="en-CA" sz="2400" dirty="0">
                <a:solidFill>
                  <a:srgbClr val="000000"/>
                </a:solidFill>
                <a:latin typeface="Arial"/>
                <a:cs typeface="Arial"/>
              </a:rPr>
              <a:t>A</a:t>
            </a:r>
          </a:p>
          <a:p>
            <a:pPr>
              <a:lnSpc>
                <a:spcPts val="2760"/>
              </a:lnSpc>
            </a:pPr>
            <a:endParaRPr lang="en-CA" sz="2400" dirty="0">
              <a:solidFill>
                <a:srgbClr val="000000"/>
              </a:solidFill>
            </a:endParaRPr>
          </a:p>
        </p:txBody>
      </p:sp>
      <p:sp>
        <p:nvSpPr>
          <p:cNvPr id="29" name="TextBox 28"/>
          <p:cNvSpPr txBox="1"/>
          <p:nvPr/>
        </p:nvSpPr>
        <p:spPr>
          <a:xfrm>
            <a:off x="5084616" y="4741718"/>
            <a:ext cx="351378" cy="461665"/>
          </a:xfrm>
          <a:prstGeom prst="rect">
            <a:avLst/>
          </a:prstGeom>
          <a:noFill/>
        </p:spPr>
        <p:txBody>
          <a:bodyPr wrap="none" rtlCol="0">
            <a:spAutoFit/>
          </a:bodyPr>
          <a:lstStyle/>
          <a:p>
            <a:r>
              <a:rPr lang="en-US" sz="2400" dirty="0"/>
              <a:t>B</a:t>
            </a:r>
          </a:p>
        </p:txBody>
      </p:sp>
      <p:sp>
        <p:nvSpPr>
          <p:cNvPr id="30" name="TextBox 2"/>
          <p:cNvSpPr txBox="1"/>
          <p:nvPr/>
        </p:nvSpPr>
        <p:spPr>
          <a:xfrm>
            <a:off x="1393371" y="373743"/>
            <a:ext cx="9565079" cy="589905"/>
          </a:xfrm>
          <a:prstGeom prst="rect">
            <a:avLst/>
          </a:prstGeom>
          <a:noFill/>
        </p:spPr>
        <p:txBody>
          <a:bodyPr vert="horz" wrap="square" lIns="0" tIns="0" rIns="0" bIns="0" rtlCol="0">
            <a:spAutoFit/>
          </a:bodyPr>
          <a:lstStyle/>
          <a:p>
            <a:pPr algn="ctr">
              <a:lnSpc>
                <a:spcPts val="4600"/>
              </a:lnSpc>
            </a:pPr>
            <a:r>
              <a:rPr lang="en-CA" sz="4012" b="1" dirty="0">
                <a:latin typeface="Arial Bold"/>
                <a:cs typeface="Arial Bold"/>
              </a:rPr>
              <a:t>Decision Tree</a:t>
            </a:r>
            <a:endParaRPr lang="en-CA" sz="4002" dirty="0"/>
          </a:p>
        </p:txBody>
      </p:sp>
      <p:grpSp>
        <p:nvGrpSpPr>
          <p:cNvPr id="33" name="Group 32"/>
          <p:cNvGrpSpPr/>
          <p:nvPr/>
        </p:nvGrpSpPr>
        <p:grpSpPr>
          <a:xfrm>
            <a:off x="2743200" y="3061854"/>
            <a:ext cx="3851564" cy="3699755"/>
            <a:chOff x="2743200" y="3061854"/>
            <a:chExt cx="3851564" cy="3699755"/>
          </a:xfrm>
        </p:grpSpPr>
        <p:grpSp>
          <p:nvGrpSpPr>
            <p:cNvPr id="31" name="Group 30"/>
            <p:cNvGrpSpPr/>
            <p:nvPr/>
          </p:nvGrpSpPr>
          <p:grpSpPr>
            <a:xfrm>
              <a:off x="2743200" y="3061854"/>
              <a:ext cx="3851564" cy="3699755"/>
              <a:chOff x="2743200" y="3061854"/>
              <a:chExt cx="3851564" cy="3699755"/>
            </a:xfrm>
          </p:grpSpPr>
          <p:pic>
            <p:nvPicPr>
              <p:cNvPr id="20" name="Picture 19"/>
              <p:cNvPicPr>
                <a:picLocks/>
              </p:cNvPicPr>
              <p:nvPr/>
            </p:nvPicPr>
            <p:blipFill rotWithShape="1">
              <a:blip r:embed="rId3" cstate="print"/>
              <a:srcRect l="31299" t="44896" r="33603" b="8177"/>
              <a:stretch/>
            </p:blipFill>
            <p:spPr>
              <a:xfrm>
                <a:off x="2854036" y="3061854"/>
                <a:ext cx="3200400" cy="3200401"/>
              </a:xfrm>
              <a:prstGeom prst="rect">
                <a:avLst/>
              </a:prstGeom>
            </p:spPr>
          </p:pic>
          <p:sp>
            <p:nvSpPr>
              <p:cNvPr id="22" name="TextBox 8"/>
              <p:cNvSpPr txBox="1"/>
              <p:nvPr/>
            </p:nvSpPr>
            <p:spPr>
              <a:xfrm>
                <a:off x="2895600" y="4000500"/>
                <a:ext cx="1943100" cy="381000"/>
              </a:xfrm>
              <a:prstGeom prst="rect">
                <a:avLst/>
              </a:prstGeom>
              <a:noFill/>
            </p:spPr>
            <p:txBody>
              <a:bodyPr vert="horz" wrap="none" lIns="0" tIns="0" rIns="0" bIns="0" rtlCol="0">
                <a:spAutoFit/>
              </a:bodyPr>
              <a:lstStyle/>
              <a:p>
                <a:pPr>
                  <a:lnSpc>
                    <a:spcPts val="2100"/>
                  </a:lnSpc>
                </a:pPr>
                <a:r>
                  <a:rPr lang="en-CA" sz="1800" dirty="0">
                    <a:solidFill>
                      <a:srgbClr val="000000"/>
                    </a:solidFill>
                    <a:latin typeface="Arial"/>
                    <a:cs typeface="Arial"/>
                  </a:rPr>
                  <a:t>False</a:t>
                </a:r>
              </a:p>
              <a:p>
                <a:pPr>
                  <a:lnSpc>
                    <a:spcPts val="2070"/>
                  </a:lnSpc>
                </a:pPr>
                <a:endParaRPr lang="en-CA" sz="1800" dirty="0">
                  <a:solidFill>
                    <a:srgbClr val="000000"/>
                  </a:solidFill>
                </a:endParaRPr>
              </a:p>
            </p:txBody>
          </p:sp>
          <p:sp>
            <p:nvSpPr>
              <p:cNvPr id="23" name="TextBox 9"/>
              <p:cNvSpPr txBox="1"/>
              <p:nvPr/>
            </p:nvSpPr>
            <p:spPr>
              <a:xfrm>
                <a:off x="2743200" y="4762500"/>
                <a:ext cx="2095500" cy="381000"/>
              </a:xfrm>
              <a:prstGeom prst="rect">
                <a:avLst/>
              </a:prstGeom>
              <a:noFill/>
            </p:spPr>
            <p:txBody>
              <a:bodyPr vert="horz" wrap="none" lIns="0" tIns="0" rIns="0" bIns="0" rtlCol="0">
                <a:spAutoFit/>
              </a:bodyPr>
              <a:lstStyle/>
              <a:p>
                <a:pPr>
                  <a:lnSpc>
                    <a:spcPts val="2100"/>
                  </a:lnSpc>
                </a:pPr>
                <a:r>
                  <a:rPr lang="en-CA" sz="1800" dirty="0">
                    <a:solidFill>
                      <a:srgbClr val="000000"/>
                    </a:solidFill>
                    <a:latin typeface="Arial"/>
                    <a:cs typeface="Arial"/>
                  </a:rPr>
                  <a:t>No</a:t>
                </a:r>
              </a:p>
              <a:p>
                <a:pPr>
                  <a:lnSpc>
                    <a:spcPts val="2070"/>
                  </a:lnSpc>
                </a:pPr>
                <a:endParaRPr lang="en-CA" sz="1800" dirty="0">
                  <a:solidFill>
                    <a:srgbClr val="000000"/>
                  </a:solidFill>
                </a:endParaRPr>
              </a:p>
            </p:txBody>
          </p:sp>
          <p:sp>
            <p:nvSpPr>
              <p:cNvPr id="24" name="TextBox 10"/>
              <p:cNvSpPr txBox="1"/>
              <p:nvPr/>
            </p:nvSpPr>
            <p:spPr>
              <a:xfrm>
                <a:off x="4114800" y="5448300"/>
                <a:ext cx="723900" cy="381000"/>
              </a:xfrm>
              <a:prstGeom prst="rect">
                <a:avLst/>
              </a:prstGeom>
              <a:noFill/>
            </p:spPr>
            <p:txBody>
              <a:bodyPr vert="horz" wrap="none" lIns="0" tIns="0" rIns="0" bIns="0" rtlCol="0">
                <a:spAutoFit/>
              </a:bodyPr>
              <a:lstStyle/>
              <a:p>
                <a:pPr>
                  <a:lnSpc>
                    <a:spcPts val="2100"/>
                  </a:lnSpc>
                </a:pPr>
                <a:r>
                  <a:rPr lang="en-CA" sz="1800" dirty="0">
                    <a:solidFill>
                      <a:srgbClr val="000000"/>
                    </a:solidFill>
                    <a:latin typeface="Arial"/>
                    <a:cs typeface="Arial"/>
                  </a:rPr>
                  <a:t>False</a:t>
                </a:r>
              </a:p>
              <a:p>
                <a:pPr>
                  <a:lnSpc>
                    <a:spcPts val="2070"/>
                  </a:lnSpc>
                </a:pPr>
                <a:endParaRPr lang="en-CA" sz="1800" dirty="0">
                  <a:solidFill>
                    <a:srgbClr val="000000"/>
                  </a:solidFill>
                </a:endParaRPr>
              </a:p>
            </p:txBody>
          </p:sp>
          <p:sp>
            <p:nvSpPr>
              <p:cNvPr id="25" name="TextBox 11"/>
              <p:cNvSpPr txBox="1"/>
              <p:nvPr/>
            </p:nvSpPr>
            <p:spPr>
              <a:xfrm>
                <a:off x="4267200" y="6286500"/>
                <a:ext cx="571500" cy="381000"/>
              </a:xfrm>
              <a:prstGeom prst="rect">
                <a:avLst/>
              </a:prstGeom>
              <a:noFill/>
            </p:spPr>
            <p:txBody>
              <a:bodyPr vert="horz" wrap="none" lIns="0" tIns="0" rIns="0" bIns="0" rtlCol="0">
                <a:spAutoFit/>
              </a:bodyPr>
              <a:lstStyle/>
              <a:p>
                <a:pPr>
                  <a:lnSpc>
                    <a:spcPts val="2100"/>
                  </a:lnSpc>
                </a:pPr>
                <a:r>
                  <a:rPr lang="en-CA" sz="1800">
                    <a:solidFill>
                      <a:srgbClr val="000000"/>
                    </a:solidFill>
                    <a:latin typeface="Arial"/>
                    <a:cs typeface="Arial"/>
                  </a:rPr>
                  <a:t>Yes</a:t>
                </a:r>
              </a:p>
              <a:p>
                <a:pPr>
                  <a:lnSpc>
                    <a:spcPts val="2070"/>
                  </a:lnSpc>
                </a:pPr>
                <a:endParaRPr lang="en-CA" sz="1800">
                  <a:solidFill>
                    <a:srgbClr val="000000"/>
                  </a:solidFill>
                </a:endParaRPr>
              </a:p>
            </p:txBody>
          </p:sp>
          <p:sp>
            <p:nvSpPr>
              <p:cNvPr id="26" name="TextBox 12"/>
              <p:cNvSpPr txBox="1"/>
              <p:nvPr/>
            </p:nvSpPr>
            <p:spPr>
              <a:xfrm>
                <a:off x="4953000" y="3924300"/>
                <a:ext cx="838200" cy="538609"/>
              </a:xfrm>
              <a:prstGeom prst="rect">
                <a:avLst/>
              </a:prstGeom>
              <a:noFill/>
            </p:spPr>
            <p:txBody>
              <a:bodyPr vert="horz" wrap="square" lIns="0" tIns="0" rIns="0" bIns="0" rtlCol="0">
                <a:spAutoFit/>
              </a:bodyPr>
              <a:lstStyle/>
              <a:p>
                <a:pPr>
                  <a:lnSpc>
                    <a:spcPts val="2100"/>
                  </a:lnSpc>
                </a:pPr>
                <a:r>
                  <a:rPr lang="en-CA" sz="1800" dirty="0">
                    <a:solidFill>
                      <a:srgbClr val="000000"/>
                    </a:solidFill>
                    <a:latin typeface="Arial"/>
                    <a:cs typeface="Arial"/>
                  </a:rPr>
                  <a:t>True</a:t>
                </a:r>
              </a:p>
              <a:p>
                <a:pPr>
                  <a:lnSpc>
                    <a:spcPts val="2070"/>
                  </a:lnSpc>
                </a:pPr>
                <a:endParaRPr lang="en-CA" sz="1800" dirty="0">
                  <a:solidFill>
                    <a:srgbClr val="000000"/>
                  </a:solidFill>
                </a:endParaRPr>
              </a:p>
            </p:txBody>
          </p:sp>
          <p:sp>
            <p:nvSpPr>
              <p:cNvPr id="27" name="TextBox 14"/>
              <p:cNvSpPr txBox="1"/>
              <p:nvPr/>
            </p:nvSpPr>
            <p:spPr>
              <a:xfrm>
                <a:off x="5791200" y="5372100"/>
                <a:ext cx="803564" cy="538609"/>
              </a:xfrm>
              <a:prstGeom prst="rect">
                <a:avLst/>
              </a:prstGeom>
              <a:noFill/>
            </p:spPr>
            <p:txBody>
              <a:bodyPr vert="horz" wrap="square" lIns="0" tIns="0" rIns="0" bIns="0" rtlCol="0">
                <a:spAutoFit/>
              </a:bodyPr>
              <a:lstStyle/>
              <a:p>
                <a:pPr>
                  <a:lnSpc>
                    <a:spcPts val="2100"/>
                  </a:lnSpc>
                </a:pPr>
                <a:r>
                  <a:rPr lang="en-CA" sz="1800" dirty="0">
                    <a:solidFill>
                      <a:srgbClr val="000000"/>
                    </a:solidFill>
                    <a:latin typeface="Arial"/>
                    <a:cs typeface="Arial"/>
                  </a:rPr>
                  <a:t>True</a:t>
                </a:r>
              </a:p>
              <a:p>
                <a:pPr>
                  <a:lnSpc>
                    <a:spcPts val="2070"/>
                  </a:lnSpc>
                </a:pPr>
                <a:endParaRPr lang="en-CA" sz="1800" dirty="0">
                  <a:solidFill>
                    <a:srgbClr val="000000"/>
                  </a:solidFill>
                </a:endParaRPr>
              </a:p>
            </p:txBody>
          </p:sp>
          <p:sp>
            <p:nvSpPr>
              <p:cNvPr id="28" name="TextBox 15"/>
              <p:cNvSpPr txBox="1"/>
              <p:nvPr/>
            </p:nvSpPr>
            <p:spPr>
              <a:xfrm>
                <a:off x="5867400" y="6223000"/>
                <a:ext cx="727364" cy="538609"/>
              </a:xfrm>
              <a:prstGeom prst="rect">
                <a:avLst/>
              </a:prstGeom>
              <a:noFill/>
            </p:spPr>
            <p:txBody>
              <a:bodyPr vert="horz" wrap="square" lIns="0" tIns="0" rIns="0" bIns="0" rtlCol="0">
                <a:spAutoFit/>
              </a:bodyPr>
              <a:lstStyle/>
              <a:p>
                <a:pPr>
                  <a:lnSpc>
                    <a:spcPts val="2100"/>
                  </a:lnSpc>
                </a:pPr>
                <a:r>
                  <a:rPr lang="en-CA" sz="1800" dirty="0">
                    <a:solidFill>
                      <a:srgbClr val="000000"/>
                    </a:solidFill>
                    <a:latin typeface="Arial"/>
                    <a:cs typeface="Arial"/>
                  </a:rPr>
                  <a:t>No</a:t>
                </a:r>
              </a:p>
              <a:p>
                <a:pPr>
                  <a:lnSpc>
                    <a:spcPts val="2070"/>
                  </a:lnSpc>
                </a:pPr>
                <a:endParaRPr lang="en-CA" sz="1800" dirty="0">
                  <a:solidFill>
                    <a:srgbClr val="000000"/>
                  </a:solidFill>
                </a:endParaRPr>
              </a:p>
            </p:txBody>
          </p:sp>
        </p:grpSp>
        <p:sp>
          <p:nvSpPr>
            <p:cNvPr id="32" name="TextBox 31"/>
            <p:cNvSpPr txBox="1"/>
            <p:nvPr/>
          </p:nvSpPr>
          <p:spPr>
            <a:xfrm>
              <a:off x="3908714" y="3442855"/>
              <a:ext cx="362600" cy="461665"/>
            </a:xfrm>
            <a:prstGeom prst="rect">
              <a:avLst/>
            </a:prstGeom>
            <a:noFill/>
          </p:spPr>
          <p:txBody>
            <a:bodyPr wrap="none" rtlCol="0">
              <a:spAutoFit/>
            </a:bodyPr>
            <a:lstStyle/>
            <a:p>
              <a:r>
                <a:rPr lang="en-US" sz="2400" dirty="0"/>
                <a:t>A</a:t>
              </a:r>
            </a:p>
          </p:txBody>
        </p:sp>
      </p:grpSp>
      <p:sp>
        <p:nvSpPr>
          <p:cNvPr id="34" name="TextBox 33"/>
          <p:cNvSpPr txBox="1"/>
          <p:nvPr/>
        </p:nvSpPr>
        <p:spPr>
          <a:xfrm>
            <a:off x="5086351" y="4772894"/>
            <a:ext cx="362600" cy="461665"/>
          </a:xfrm>
          <a:prstGeom prst="rect">
            <a:avLst/>
          </a:prstGeom>
          <a:noFill/>
        </p:spPr>
        <p:txBody>
          <a:bodyPr wrap="none" rtlCol="0">
            <a:spAutoFit/>
          </a:bodyPr>
          <a:lstStyle/>
          <a:p>
            <a:r>
              <a:rPr lang="en-US" sz="2400" dirty="0"/>
              <a:t>B</a:t>
            </a:r>
          </a:p>
        </p:txBody>
      </p:sp>
    </p:spTree>
    <p:extLst>
      <p:ext uri="{BB962C8B-B14F-4D97-AF65-F5344CB8AC3E}">
        <p14:creationId xmlns:p14="http://schemas.microsoft.com/office/powerpoint/2010/main" val="3773996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70704"/>
            <a:ext cx="12192000" cy="568425"/>
          </a:xfrm>
          <a:prstGeom prst="rect">
            <a:avLst/>
          </a:prstGeom>
        </p:spPr>
        <p:txBody>
          <a:bodyPr wrap="square">
            <a:spAutoFit/>
          </a:bodyPr>
          <a:lstStyle/>
          <a:p>
            <a:pPr algn="ctr">
              <a:lnSpc>
                <a:spcPts val="4140"/>
              </a:lnSpc>
            </a:pPr>
            <a:r>
              <a:rPr lang="en-CA" sz="2800" b="1" dirty="0">
                <a:solidFill>
                  <a:srgbClr val="000000"/>
                </a:solidFill>
                <a:latin typeface="Arial Bold"/>
                <a:cs typeface="Arial Bold"/>
              </a:rPr>
              <a:t>Types of Problems Suitable for Decision Tree Classifier</a:t>
            </a:r>
          </a:p>
        </p:txBody>
      </p:sp>
      <p:sp>
        <p:nvSpPr>
          <p:cNvPr id="3" name="Rectangle 2"/>
          <p:cNvSpPr/>
          <p:nvPr/>
        </p:nvSpPr>
        <p:spPr>
          <a:xfrm>
            <a:off x="277086" y="1613346"/>
            <a:ext cx="10989628" cy="3927678"/>
          </a:xfrm>
          <a:prstGeom prst="rect">
            <a:avLst/>
          </a:prstGeom>
          <a:solidFill>
            <a:schemeClr val="accent2">
              <a:lumMod val="20000"/>
              <a:lumOff val="80000"/>
            </a:schemeClr>
          </a:solidFill>
        </p:spPr>
        <p:txBody>
          <a:bodyPr wrap="square">
            <a:spAutoFit/>
          </a:bodyPr>
          <a:lstStyle/>
          <a:p>
            <a:pPr marL="342900" indent="-342900">
              <a:lnSpc>
                <a:spcPts val="2070"/>
              </a:lnSpc>
              <a:buFont typeface="Arial" panose="020B0604020202020204" pitchFamily="34" charset="0"/>
              <a:buChar char="•"/>
            </a:pPr>
            <a:r>
              <a:rPr lang="en-CA" sz="1900" b="1" i="1" dirty="0">
                <a:latin typeface="Arial Bold Italic"/>
                <a:cs typeface="Arial Bold Italic"/>
              </a:rPr>
              <a:t>Instances are represented by multiple attribute values </a:t>
            </a: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742950" lvl="1" indent="-285750">
              <a:lnSpc>
                <a:spcPts val="2070"/>
              </a:lnSpc>
              <a:buFont typeface="Arial" panose="020B0604020202020204" pitchFamily="34" charset="0"/>
              <a:buChar char="•"/>
            </a:pPr>
            <a:r>
              <a:rPr lang="en-CA" sz="1900" b="1" i="1" dirty="0">
                <a:latin typeface="Arial Bold Italic"/>
                <a:cs typeface="Arial Bold Italic"/>
              </a:rPr>
              <a:t>Temperature: (Hot, Mild, Cold) </a:t>
            </a: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285750" indent="-285750">
              <a:lnSpc>
                <a:spcPts val="2070"/>
              </a:lnSpc>
              <a:buFont typeface="Arial" panose="020B0604020202020204" pitchFamily="34" charset="0"/>
              <a:buChar char="•"/>
            </a:pPr>
            <a:r>
              <a:rPr lang="en-CA" sz="1900" b="1" i="1" dirty="0">
                <a:latin typeface="Arial Bold Italic"/>
                <a:cs typeface="Arial Bold Italic"/>
              </a:rPr>
              <a:t>The target function has discrete output values</a:t>
            </a: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285750" indent="-285750">
              <a:lnSpc>
                <a:spcPts val="2070"/>
              </a:lnSpc>
              <a:buFont typeface="Arial" panose="020B0604020202020204" pitchFamily="34" charset="0"/>
              <a:buChar char="•"/>
            </a:pPr>
            <a:r>
              <a:rPr lang="en-CA" sz="1900" b="1" i="1" dirty="0">
                <a:latin typeface="Arial Bold Italic"/>
                <a:cs typeface="Arial Bold Italic"/>
              </a:rPr>
              <a:t>Disjunctive descriptions may be required</a:t>
            </a: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285750" indent="-285750">
              <a:lnSpc>
                <a:spcPts val="2070"/>
              </a:lnSpc>
              <a:buFont typeface="Arial" panose="020B0604020202020204" pitchFamily="34" charset="0"/>
              <a:buChar char="•"/>
            </a:pPr>
            <a:endParaRPr lang="en-CA" sz="1900" b="1" i="1" dirty="0">
              <a:latin typeface="Arial Bold Italic"/>
              <a:cs typeface="Arial Bold Italic"/>
            </a:endParaRPr>
          </a:p>
          <a:p>
            <a:pPr marL="285750" indent="-285750">
              <a:lnSpc>
                <a:spcPts val="2070"/>
              </a:lnSpc>
              <a:buFont typeface="Arial" panose="020B0604020202020204" pitchFamily="34" charset="0"/>
              <a:buChar char="•"/>
            </a:pPr>
            <a:r>
              <a:rPr lang="en-CA" sz="1900" b="1" i="1" dirty="0">
                <a:latin typeface="Arial Bold Italic"/>
                <a:cs typeface="Arial Bold Italic"/>
              </a:rPr>
              <a:t>The training data may contain errors</a:t>
            </a:r>
          </a:p>
          <a:p>
            <a:pPr marL="285750" indent="-285750">
              <a:lnSpc>
                <a:spcPct val="250000"/>
              </a:lnSpc>
              <a:buFont typeface="Arial" panose="020B0604020202020204" pitchFamily="34" charset="0"/>
              <a:buChar char="•"/>
            </a:pPr>
            <a:r>
              <a:rPr lang="en-CA" sz="1900" b="1" i="1" dirty="0">
                <a:latin typeface="Arial Bold Italic"/>
                <a:cs typeface="Arial Bold Italic"/>
              </a:rPr>
              <a:t>The training data may contain missing attribute values</a:t>
            </a:r>
          </a:p>
        </p:txBody>
      </p:sp>
    </p:spTree>
    <p:extLst>
      <p:ext uri="{BB962C8B-B14F-4D97-AF65-F5344CB8AC3E}">
        <p14:creationId xmlns:p14="http://schemas.microsoft.com/office/powerpoint/2010/main" val="2921912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900" y="431857"/>
            <a:ext cx="7342755" cy="523220"/>
          </a:xfrm>
          <a:prstGeom prst="rect">
            <a:avLst/>
          </a:prstGeom>
        </p:spPr>
        <p:txBody>
          <a:bodyPr wrap="square">
            <a:spAutoFit/>
          </a:bodyPr>
          <a:lstStyle/>
          <a:p>
            <a:r>
              <a:rPr lang="en-CA" sz="2800" b="1" dirty="0">
                <a:solidFill>
                  <a:srgbClr val="000000"/>
                </a:solidFill>
                <a:latin typeface="Arial Bold"/>
                <a:cs typeface="Arial Bold"/>
              </a:rPr>
              <a:t>Decision Tree Learning</a:t>
            </a:r>
            <a:endParaRPr lang="en-US" sz="2800" dirty="0"/>
          </a:p>
        </p:txBody>
      </p:sp>
      <p:sp>
        <p:nvSpPr>
          <p:cNvPr id="3" name="Rectangle 2"/>
          <p:cNvSpPr/>
          <p:nvPr/>
        </p:nvSpPr>
        <p:spPr>
          <a:xfrm>
            <a:off x="704758" y="1549023"/>
            <a:ext cx="10779672" cy="3054682"/>
          </a:xfrm>
          <a:prstGeom prst="rect">
            <a:avLst/>
          </a:prstGeom>
        </p:spPr>
        <p:txBody>
          <a:bodyPr wrap="square">
            <a:spAutoFit/>
          </a:bodyPr>
          <a:lstStyle/>
          <a:p>
            <a:pPr algn="just">
              <a:lnSpc>
                <a:spcPts val="2070"/>
              </a:lnSpc>
            </a:pPr>
            <a:r>
              <a:rPr lang="en-CA" sz="2400" b="1" i="1" dirty="0">
                <a:cs typeface="Arial Bold Italic"/>
              </a:rPr>
              <a:t>ID3 Algorithm (Quinlan 1986)</a:t>
            </a:r>
          </a:p>
          <a:p>
            <a:pPr marL="285750" indent="-285750" algn="just">
              <a:lnSpc>
                <a:spcPts val="2070"/>
              </a:lnSpc>
              <a:buFont typeface="Arial" panose="020B0604020202020204" pitchFamily="34" charset="0"/>
              <a:buChar char="•"/>
            </a:pPr>
            <a:endParaRPr lang="en-CA" sz="2100" b="1" i="1" dirty="0">
              <a:latin typeface="Arial" panose="020B0604020202020204" pitchFamily="34" charset="0"/>
              <a:cs typeface="Arial" panose="020B0604020202020204" pitchFamily="34" charset="0"/>
            </a:endParaRPr>
          </a:p>
          <a:p>
            <a:pPr marL="285750" indent="-285750" algn="just">
              <a:lnSpc>
                <a:spcPts val="2070"/>
              </a:lnSpc>
              <a:buFont typeface="Arial" panose="020B0604020202020204" pitchFamily="34" charset="0"/>
              <a:buChar char="•"/>
            </a:pPr>
            <a:r>
              <a:rPr lang="en-CA" sz="2100" b="1" i="1" dirty="0">
                <a:latin typeface="Arial" panose="020B0604020202020204" pitchFamily="34" charset="0"/>
                <a:cs typeface="Arial" panose="020B0604020202020204" pitchFamily="34" charset="0"/>
              </a:rPr>
              <a:t>Employs a top-down</a:t>
            </a:r>
          </a:p>
          <a:p>
            <a:pPr marL="342900" indent="-342900" algn="just">
              <a:lnSpc>
                <a:spcPts val="2070"/>
              </a:lnSpc>
              <a:buFont typeface="Arial" panose="020B0604020202020204" pitchFamily="34" charset="0"/>
              <a:buChar char="•"/>
            </a:pPr>
            <a:endParaRPr lang="en-CA" sz="2100" dirty="0">
              <a:latin typeface="Arial" panose="020B0604020202020204" pitchFamily="34" charset="0"/>
              <a:cs typeface="Arial" panose="020B0604020202020204" pitchFamily="34" charset="0"/>
            </a:endParaRPr>
          </a:p>
          <a:p>
            <a:pPr marL="342900" indent="-342900" algn="just">
              <a:lnSpc>
                <a:spcPts val="2070"/>
              </a:lnSpc>
              <a:buFont typeface="Arial" panose="020B0604020202020204" pitchFamily="34" charset="0"/>
              <a:buChar char="•"/>
            </a:pPr>
            <a:r>
              <a:rPr lang="en-CA" sz="2100" dirty="0">
                <a:latin typeface="Arial" panose="020B0604020202020204" pitchFamily="34" charset="0"/>
                <a:cs typeface="Arial" panose="020B0604020202020204" pitchFamily="34" charset="0"/>
              </a:rPr>
              <a:t>An instance is classified by starting at the root node of the tree, testing the attribute specified by this node, then moving down the tree branch corresponding to the value of the attribute in the given example. </a:t>
            </a:r>
          </a:p>
          <a:p>
            <a:pPr marL="342900" indent="-342900" algn="just">
              <a:lnSpc>
                <a:spcPts val="2070"/>
              </a:lnSpc>
              <a:buFont typeface="Arial" panose="020B0604020202020204" pitchFamily="34" charset="0"/>
              <a:buChar char="•"/>
            </a:pPr>
            <a:endParaRPr lang="en-CA" sz="2100" dirty="0">
              <a:latin typeface="Arial" panose="020B0604020202020204" pitchFamily="34" charset="0"/>
              <a:cs typeface="Arial" panose="020B0604020202020204" pitchFamily="34" charset="0"/>
            </a:endParaRPr>
          </a:p>
          <a:p>
            <a:pPr marL="342900" indent="-342900" algn="just">
              <a:lnSpc>
                <a:spcPts val="2070"/>
              </a:lnSpc>
              <a:buFont typeface="Arial" panose="020B0604020202020204" pitchFamily="34" charset="0"/>
              <a:buChar char="•"/>
            </a:pPr>
            <a:r>
              <a:rPr lang="en-CA" sz="2100" dirty="0">
                <a:latin typeface="Arial" panose="020B0604020202020204" pitchFamily="34" charset="0"/>
                <a:cs typeface="Arial" panose="020B0604020202020204" pitchFamily="34" charset="0"/>
              </a:rPr>
              <a:t>This process is then repeated for the subtree rooted at the new node. Greedy search the space of possible decision trees. The algorithm never backtracks to reconsider earlier choices.</a:t>
            </a:r>
            <a:endParaRPr lang="en-CA" sz="21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8634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45127" y="857867"/>
            <a:ext cx="10399816" cy="2554545"/>
          </a:xfrm>
          <a:prstGeom prst="rect">
            <a:avLst/>
          </a:prstGeom>
        </p:spPr>
        <p:txBody>
          <a:bodyPr wrap="square">
            <a:spAutoFit/>
          </a:bodyPr>
          <a:lstStyle/>
          <a:p>
            <a:pPr algn="just"/>
            <a:r>
              <a:rPr lang="en-CA" sz="2000" b="1" i="1" dirty="0">
                <a:solidFill>
                  <a:srgbClr val="33339A"/>
                </a:solidFill>
                <a:latin typeface="Arial" panose="020B0604020202020204" pitchFamily="34" charset="0"/>
                <a:cs typeface="Arial" panose="020B0604020202020204" pitchFamily="34" charset="0"/>
              </a:rPr>
              <a:t>ID3 Algorithm (Quinlan 1986)</a:t>
            </a:r>
          </a:p>
          <a:p>
            <a:pPr algn="just"/>
            <a:endParaRPr lang="en-CA" sz="2000" b="1" i="1" dirty="0">
              <a:solidFill>
                <a:srgbClr val="33339A"/>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CA" sz="2000" dirty="0">
                <a:solidFill>
                  <a:srgbClr val="000000"/>
                </a:solidFill>
                <a:latin typeface="Arial" panose="020B0604020202020204" pitchFamily="34" charset="0"/>
                <a:cs typeface="Arial" panose="020B0604020202020204" pitchFamily="34" charset="0"/>
              </a:rPr>
              <a:t>ID3 uses - </a:t>
            </a:r>
            <a:r>
              <a:rPr lang="en-CA" sz="2000" b="1" dirty="0">
                <a:solidFill>
                  <a:srgbClr val="000000"/>
                </a:solidFill>
                <a:latin typeface="Arial" panose="020B0604020202020204" pitchFamily="34" charset="0"/>
                <a:cs typeface="Arial" panose="020B0604020202020204" pitchFamily="34" charset="0"/>
              </a:rPr>
              <a:t>information gain</a:t>
            </a:r>
            <a:r>
              <a:rPr lang="en-CA" sz="2000" dirty="0">
                <a:solidFill>
                  <a:srgbClr val="000000"/>
                </a:solidFill>
                <a:latin typeface="Arial" panose="020B0604020202020204" pitchFamily="34" charset="0"/>
                <a:cs typeface="Arial" panose="020B0604020202020204" pitchFamily="34" charset="0"/>
              </a:rPr>
              <a:t> measure to select among the candidate attributes at each step while growing the tree.</a:t>
            </a:r>
          </a:p>
          <a:p>
            <a:pPr marL="342900" indent="-342900" algn="just">
              <a:buFont typeface="Arial" panose="020B0604020202020204" pitchFamily="34" charset="0"/>
              <a:buChar char="•"/>
            </a:pPr>
            <a:endParaRPr lang="en-CA" sz="2000" b="1" dirty="0">
              <a:solidFill>
                <a:srgbClr val="00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CA" sz="2000" b="1" dirty="0">
                <a:solidFill>
                  <a:srgbClr val="000000"/>
                </a:solidFill>
                <a:latin typeface="Arial" panose="020B0604020202020204" pitchFamily="34" charset="0"/>
                <a:cs typeface="Arial" panose="020B0604020202020204" pitchFamily="34" charset="0"/>
              </a:rPr>
              <a:t>Information gain</a:t>
            </a:r>
            <a:r>
              <a:rPr lang="en-CA" sz="2000" dirty="0">
                <a:solidFill>
                  <a:srgbClr val="000000"/>
                </a:solidFill>
                <a:latin typeface="Arial" panose="020B0604020202020204" pitchFamily="34" charset="0"/>
                <a:cs typeface="Arial" panose="020B0604020202020204" pitchFamily="34" charset="0"/>
              </a:rPr>
              <a:t> is based on information theory concept called </a:t>
            </a:r>
            <a:r>
              <a:rPr lang="en-CA" sz="2000" b="1" i="1" dirty="0">
                <a:solidFill>
                  <a:srgbClr val="000000"/>
                </a:solidFill>
                <a:latin typeface="Arial" panose="020B0604020202020204" pitchFamily="34" charset="0"/>
                <a:cs typeface="Arial" panose="020B0604020202020204" pitchFamily="34" charset="0"/>
              </a:rPr>
              <a:t>Entropy</a:t>
            </a:r>
          </a:p>
          <a:p>
            <a:pPr marL="342900" indent="-342900" algn="just">
              <a:buFont typeface="Arial" panose="020B0604020202020204" pitchFamily="34" charset="0"/>
              <a:buChar char="•"/>
            </a:pPr>
            <a:endParaRPr lang="en-CA" sz="2000" b="1" dirty="0">
              <a:solidFill>
                <a:srgbClr val="000000"/>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CA" sz="2000" b="1" dirty="0">
                <a:solidFill>
                  <a:srgbClr val="000000"/>
                </a:solidFill>
                <a:latin typeface="Arial" panose="020B0604020202020204" pitchFamily="34" charset="0"/>
                <a:cs typeface="Arial" panose="020B0604020202020204" pitchFamily="34" charset="0"/>
              </a:rPr>
              <a:t>Entropy</a:t>
            </a:r>
            <a:r>
              <a:rPr lang="en-CA" sz="2000" dirty="0">
                <a:solidFill>
                  <a:srgbClr val="000000"/>
                </a:solidFill>
                <a:latin typeface="Arial" panose="020B0604020202020204" pitchFamily="34" charset="0"/>
                <a:cs typeface="Arial" panose="020B0604020202020204" pitchFamily="34" charset="0"/>
              </a:rPr>
              <a:t> is a measure of the </a:t>
            </a:r>
            <a:r>
              <a:rPr lang="en-CA" sz="2000" b="1" dirty="0">
                <a:solidFill>
                  <a:srgbClr val="000000"/>
                </a:solidFill>
                <a:latin typeface="Arial" panose="020B0604020202020204" pitchFamily="34" charset="0"/>
                <a:cs typeface="Arial" panose="020B0604020202020204" pitchFamily="34" charset="0"/>
              </a:rPr>
              <a:t>uncertainty </a:t>
            </a:r>
            <a:r>
              <a:rPr lang="en-CA" sz="2000" dirty="0">
                <a:solidFill>
                  <a:srgbClr val="000000"/>
                </a:solidFill>
                <a:latin typeface="Arial" panose="020B0604020202020204" pitchFamily="34" charset="0"/>
                <a:cs typeface="Arial" panose="020B0604020202020204" pitchFamily="34" charset="0"/>
              </a:rPr>
              <a:t>associated with a random variable.</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54344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Rectangle 2"/>
              <p:cNvSpPr/>
              <p:nvPr/>
            </p:nvSpPr>
            <p:spPr>
              <a:xfrm>
                <a:off x="531420" y="1170862"/>
                <a:ext cx="11042071" cy="4369914"/>
              </a:xfrm>
              <a:prstGeom prst="rect">
                <a:avLst/>
              </a:prstGeom>
            </p:spPr>
            <p:txBody>
              <a:bodyPr wrap="square">
                <a:spAutoFit/>
              </a:bodyPr>
              <a:lstStyle/>
              <a:p>
                <a:pPr marL="342900" indent="-342900">
                  <a:buFont typeface="Arial" panose="020B0604020202020204" pitchFamily="34" charset="0"/>
                  <a:buChar char="•"/>
                </a:pPr>
                <a:r>
                  <a:rPr lang="en-CA" sz="2400" b="1" dirty="0">
                    <a:solidFill>
                      <a:srgbClr val="000000"/>
                    </a:solidFill>
                    <a:latin typeface="Arial Bold"/>
                    <a:cs typeface="Arial Bold"/>
                  </a:rPr>
                  <a:t>Entropy in our Context</a:t>
                </a:r>
              </a:p>
              <a:p>
                <a:pPr marL="800100" lvl="1" indent="-342900" algn="just">
                  <a:buFont typeface="Arial" panose="020B0604020202020204" pitchFamily="34" charset="0"/>
                  <a:buChar char="•"/>
                </a:pPr>
                <a:endParaRPr lang="en-CA" sz="2200" dirty="0">
                  <a:solidFill>
                    <a:srgbClr val="000000"/>
                  </a:solidFill>
                  <a:latin typeface="Arial"/>
                  <a:cs typeface="Arial"/>
                </a:endParaRPr>
              </a:p>
              <a:p>
                <a:pPr marL="800100" lvl="1" indent="-342900" algn="just">
                  <a:buFont typeface="Arial" panose="020B0604020202020204" pitchFamily="34" charset="0"/>
                  <a:buChar char="•"/>
                </a:pPr>
                <a:r>
                  <a:rPr lang="en-CA" sz="2200" dirty="0">
                    <a:solidFill>
                      <a:srgbClr val="000000"/>
                    </a:solidFill>
                    <a:latin typeface="Arial"/>
                    <a:cs typeface="Arial"/>
                  </a:rPr>
                  <a:t>Given a collection </a:t>
                </a:r>
                <a:r>
                  <a:rPr lang="en-CA" sz="2200" b="1" dirty="0">
                    <a:solidFill>
                      <a:srgbClr val="000000"/>
                    </a:solidFill>
                    <a:latin typeface="Arial"/>
                    <a:cs typeface="Arial"/>
                  </a:rPr>
                  <a:t>S</a:t>
                </a:r>
                <a:r>
                  <a:rPr lang="en-CA" sz="2200" dirty="0">
                    <a:solidFill>
                      <a:srgbClr val="000000"/>
                    </a:solidFill>
                    <a:latin typeface="Arial"/>
                    <a:cs typeface="Arial"/>
                  </a:rPr>
                  <a:t>, containing </a:t>
                </a:r>
                <a:r>
                  <a:rPr lang="en-CA" sz="2200" b="1" dirty="0">
                    <a:solidFill>
                      <a:srgbClr val="000000"/>
                    </a:solidFill>
                    <a:latin typeface="Arial"/>
                    <a:cs typeface="Arial"/>
                  </a:rPr>
                  <a:t>positive and negative examples </a:t>
                </a:r>
                <a:r>
                  <a:rPr lang="en-CA" sz="2200" dirty="0">
                    <a:solidFill>
                      <a:srgbClr val="000000"/>
                    </a:solidFill>
                    <a:latin typeface="Arial"/>
                    <a:cs typeface="Arial"/>
                  </a:rPr>
                  <a:t>of some target concept, the entropy of S relative to this </a:t>
                </a:r>
                <a:r>
                  <a:rPr lang="en-CA" sz="2200" dirty="0" err="1">
                    <a:solidFill>
                      <a:srgbClr val="000000"/>
                    </a:solidFill>
                    <a:latin typeface="Arial"/>
                    <a:cs typeface="Arial"/>
                  </a:rPr>
                  <a:t>boolean</a:t>
                </a:r>
                <a:r>
                  <a:rPr lang="en-CA" sz="2200" dirty="0">
                    <a:solidFill>
                      <a:srgbClr val="000000"/>
                    </a:solidFill>
                    <a:latin typeface="Arial"/>
                    <a:cs typeface="Arial"/>
                  </a:rPr>
                  <a:t> classification (</a:t>
                </a:r>
                <a:r>
                  <a:rPr lang="en-CA" sz="2200" b="1" dirty="0">
                    <a:solidFill>
                      <a:srgbClr val="000000"/>
                    </a:solidFill>
                    <a:latin typeface="Arial"/>
                    <a:cs typeface="Arial"/>
                  </a:rPr>
                  <a:t>yes/ no</a:t>
                </a:r>
                <a:r>
                  <a:rPr lang="en-CA" sz="2200" dirty="0">
                    <a:solidFill>
                      <a:srgbClr val="000000"/>
                    </a:solidFill>
                    <a:latin typeface="Arial"/>
                    <a:cs typeface="Arial"/>
                  </a:rPr>
                  <a:t>) is</a:t>
                </a:r>
              </a:p>
              <a:p>
                <a:endParaRPr lang="en-CA" sz="2400" b="1" dirty="0">
                  <a:solidFill>
                    <a:srgbClr val="0070C0"/>
                  </a:solidFill>
                  <a:latin typeface="Arial Bold"/>
                  <a:cs typeface="Arial Bold"/>
                </a:endParaRPr>
              </a:p>
              <a:p>
                <a:pPr/>
                <a14:m>
                  <m:oMathPara xmlns:m="http://schemas.openxmlformats.org/officeDocument/2006/math">
                    <m:oMath>
                      <m:r>
                        <m:rPr>
                          <m:nor/>
                        </m:rPr>
                        <a:rPr lang="en-CA" sz="2400" b="0" i="0" dirty="0" smtClean="0">
                          <a:solidFill>
                            <a:schemeClr val="tx1"/>
                          </a:solidFill>
                          <a:latin typeface="Arial Bold"/>
                          <a:cs typeface="Arial Bold"/>
                        </a:rPr>
                        <m:t>Entropy (S) </m:t>
                      </m:r>
                      <m:r>
                        <a:rPr lang="en-CA" sz="2400" b="1" i="1">
                          <a:solidFill>
                            <a:schemeClr val="tx1"/>
                          </a:solidFill>
                          <a:latin typeface="Cambria Math" panose="02040503050406030204" pitchFamily="18" charset="0"/>
                          <a:ea typeface="Cambria Math" panose="02040503050406030204" pitchFamily="18" charset="0"/>
                          <a:cs typeface="Arial Bold"/>
                        </a:rPr>
                        <m:t>≡</m:t>
                      </m:r>
                      <m:sSub>
                        <m:sSubPr>
                          <m:ctrlPr>
                            <a:rPr lang="en-US" sz="2400" b="1" i="1" smtClean="0">
                              <a:solidFill>
                                <a:schemeClr val="tx1"/>
                              </a:solidFill>
                              <a:latin typeface="Cambria Math" panose="02040503050406030204" pitchFamily="18" charset="0"/>
                              <a:ea typeface="Cambria Math" panose="02040503050406030204" pitchFamily="18" charset="0"/>
                              <a:cs typeface="Arial Bold"/>
                            </a:rPr>
                          </m:ctrlPr>
                        </m:sSubPr>
                        <m:e>
                          <m:r>
                            <a:rPr lang="en-US" sz="2400" b="1" i="1" smtClean="0">
                              <a:solidFill>
                                <a:schemeClr val="tx1"/>
                              </a:solidFill>
                              <a:latin typeface="Cambria Math" panose="02040503050406030204" pitchFamily="18" charset="0"/>
                              <a:ea typeface="Cambria Math" panose="02040503050406030204" pitchFamily="18" charset="0"/>
                              <a:cs typeface="Arial Bold"/>
                            </a:rPr>
                            <m:t>−(</m:t>
                          </m:r>
                          <m:r>
                            <a:rPr lang="en-US" sz="2400" b="1" i="1">
                              <a:solidFill>
                                <a:schemeClr val="tx1"/>
                              </a:solidFill>
                              <a:latin typeface="Cambria Math" panose="02040503050406030204" pitchFamily="18" charset="0"/>
                              <a:ea typeface="Cambria Math" panose="02040503050406030204" pitchFamily="18" charset="0"/>
                              <a:cs typeface="Arial Bold"/>
                            </a:rPr>
                            <m:t>𝒑</m:t>
                          </m:r>
                        </m:e>
                        <m:sub>
                          <m:r>
                            <a:rPr lang="en-CA" sz="2400" b="1" i="1">
                              <a:solidFill>
                                <a:schemeClr val="tx1"/>
                              </a:solidFill>
                              <a:latin typeface="Cambria Math" panose="02040503050406030204" pitchFamily="18" charset="0"/>
                              <a:ea typeface="Cambria Math" panose="02040503050406030204" pitchFamily="18" charset="0"/>
                              <a:cs typeface="Arial Bold"/>
                            </a:rPr>
                            <m:t>⊕</m:t>
                          </m:r>
                        </m:sub>
                      </m:sSub>
                      <m:r>
                        <a:rPr lang="en-US" sz="2400" b="1" i="1">
                          <a:solidFill>
                            <a:schemeClr val="tx1"/>
                          </a:solidFill>
                          <a:latin typeface="Cambria Math" panose="02040503050406030204" pitchFamily="18" charset="0"/>
                          <a:ea typeface="Cambria Math" panose="02040503050406030204" pitchFamily="18" charset="0"/>
                          <a:cs typeface="Arial Bold"/>
                        </a:rPr>
                        <m:t> </m:t>
                      </m:r>
                      <m:sSub>
                        <m:sSubPr>
                          <m:ctrlPr>
                            <a:rPr lang="en-US" sz="2400" b="1" i="1">
                              <a:solidFill>
                                <a:schemeClr val="tx1"/>
                              </a:solidFill>
                              <a:latin typeface="Cambria Math" panose="02040503050406030204" pitchFamily="18" charset="0"/>
                              <a:cs typeface="Arial Bold"/>
                            </a:rPr>
                          </m:ctrlPr>
                        </m:sSubPr>
                        <m:e>
                          <m:r>
                            <a:rPr lang="en-US" sz="2400" b="1" i="1">
                              <a:solidFill>
                                <a:schemeClr val="tx1"/>
                              </a:solidFill>
                              <a:latin typeface="Cambria Math" panose="02040503050406030204" pitchFamily="18" charset="0"/>
                              <a:cs typeface="Arial Bold"/>
                            </a:rPr>
                            <m:t>𝒍𝒐𝒈</m:t>
                          </m:r>
                        </m:e>
                        <m:sub>
                          <m:r>
                            <a:rPr lang="en-US" sz="2400" b="1" i="1">
                              <a:solidFill>
                                <a:schemeClr val="tx1"/>
                              </a:solidFill>
                              <a:latin typeface="Cambria Math" panose="02040503050406030204" pitchFamily="18" charset="0"/>
                              <a:cs typeface="Arial Bold"/>
                            </a:rPr>
                            <m:t>𝟐</m:t>
                          </m:r>
                        </m:sub>
                      </m:sSub>
                      <m:sSub>
                        <m:sSubPr>
                          <m:ctrlPr>
                            <a:rPr lang="en-US" sz="2400" b="1" i="1" smtClean="0">
                              <a:solidFill>
                                <a:schemeClr val="tx1"/>
                              </a:solidFill>
                              <a:latin typeface="Cambria Math" panose="02040503050406030204" pitchFamily="18" charset="0"/>
                              <a:cs typeface="Arial Bold"/>
                            </a:rPr>
                          </m:ctrlPr>
                        </m:sSubPr>
                        <m:e>
                          <m:r>
                            <a:rPr lang="en-US" sz="2400" b="1" i="1" smtClean="0">
                              <a:solidFill>
                                <a:schemeClr val="tx1"/>
                              </a:solidFill>
                              <a:latin typeface="Cambria Math" panose="02040503050406030204" pitchFamily="18" charset="0"/>
                              <a:cs typeface="Arial Bold"/>
                            </a:rPr>
                            <m:t>𝒑</m:t>
                          </m:r>
                        </m:e>
                        <m:sub>
                          <m:r>
                            <a:rPr lang="en-US" sz="2400" b="1" i="1" smtClean="0">
                              <a:solidFill>
                                <a:schemeClr val="tx1"/>
                              </a:solidFill>
                              <a:latin typeface="Cambria Math" panose="02040503050406030204" pitchFamily="18" charset="0"/>
                              <a:ea typeface="Cambria Math" panose="02040503050406030204" pitchFamily="18" charset="0"/>
                              <a:cs typeface="Arial Bold"/>
                            </a:rPr>
                            <m:t>⨁</m:t>
                          </m:r>
                        </m:sub>
                      </m:sSub>
                      <m:r>
                        <a:rPr lang="en-US" sz="2400" b="1" i="1" smtClean="0">
                          <a:solidFill>
                            <a:schemeClr val="tx1"/>
                          </a:solidFill>
                          <a:latin typeface="Cambria Math" panose="02040503050406030204" pitchFamily="18" charset="0"/>
                          <a:cs typeface="Arial Bold"/>
                        </a:rPr>
                        <m:t>+</m:t>
                      </m:r>
                      <m:sSub>
                        <m:sSubPr>
                          <m:ctrlPr>
                            <a:rPr lang="en-US" sz="2400" b="1" i="1">
                              <a:solidFill>
                                <a:schemeClr val="tx1"/>
                              </a:solidFill>
                              <a:latin typeface="Cambria Math" panose="02040503050406030204" pitchFamily="18" charset="0"/>
                              <a:cs typeface="Arial Bold"/>
                            </a:rPr>
                          </m:ctrlPr>
                        </m:sSubPr>
                        <m:e>
                          <m:r>
                            <a:rPr lang="en-US" sz="2400" b="1" i="1">
                              <a:solidFill>
                                <a:schemeClr val="tx1"/>
                              </a:solidFill>
                              <a:latin typeface="Cambria Math" panose="02040503050406030204" pitchFamily="18" charset="0"/>
                              <a:cs typeface="Arial Bold"/>
                            </a:rPr>
                            <m:t>𝒑</m:t>
                          </m:r>
                        </m:e>
                        <m:sub>
                          <m:r>
                            <a:rPr lang="en-US" sz="2400" b="1" i="1">
                              <a:solidFill>
                                <a:schemeClr val="tx1"/>
                              </a:solidFill>
                              <a:latin typeface="Cambria Math" panose="02040503050406030204" pitchFamily="18" charset="0"/>
                              <a:ea typeface="Cambria Math" panose="02040503050406030204" pitchFamily="18" charset="0"/>
                              <a:cs typeface="Arial Bold"/>
                            </a:rPr>
                            <m:t>⊖</m:t>
                          </m:r>
                        </m:sub>
                      </m:sSub>
                      <m:sSub>
                        <m:sSubPr>
                          <m:ctrlPr>
                            <a:rPr lang="en-US" sz="2400" b="1" i="1">
                              <a:solidFill>
                                <a:schemeClr val="tx1"/>
                              </a:solidFill>
                              <a:latin typeface="Cambria Math" panose="02040503050406030204" pitchFamily="18" charset="0"/>
                              <a:cs typeface="Arial Bold"/>
                            </a:rPr>
                          </m:ctrlPr>
                        </m:sSubPr>
                        <m:e>
                          <m:r>
                            <a:rPr lang="en-US" sz="2400" b="1" i="1">
                              <a:solidFill>
                                <a:schemeClr val="tx1"/>
                              </a:solidFill>
                              <a:latin typeface="Cambria Math" panose="02040503050406030204" pitchFamily="18" charset="0"/>
                              <a:cs typeface="Arial Bold"/>
                            </a:rPr>
                            <m:t>𝒍𝒐𝒈</m:t>
                          </m:r>
                        </m:e>
                        <m:sub>
                          <m:r>
                            <a:rPr lang="en-US" sz="2400" b="1" i="1">
                              <a:solidFill>
                                <a:schemeClr val="tx1"/>
                              </a:solidFill>
                              <a:latin typeface="Cambria Math" panose="02040503050406030204" pitchFamily="18" charset="0"/>
                              <a:cs typeface="Arial Bold"/>
                            </a:rPr>
                            <m:t>𝟐</m:t>
                          </m:r>
                        </m:sub>
                      </m:sSub>
                      <m:sSub>
                        <m:sSubPr>
                          <m:ctrlPr>
                            <a:rPr lang="en-US" sz="2400" b="1" i="1">
                              <a:solidFill>
                                <a:schemeClr val="tx1"/>
                              </a:solidFill>
                              <a:latin typeface="Cambria Math" panose="02040503050406030204" pitchFamily="18" charset="0"/>
                              <a:cs typeface="Arial Bold"/>
                            </a:rPr>
                          </m:ctrlPr>
                        </m:sSubPr>
                        <m:e>
                          <m:r>
                            <a:rPr lang="en-US" sz="2400" b="1" i="1">
                              <a:solidFill>
                                <a:schemeClr val="tx1"/>
                              </a:solidFill>
                              <a:latin typeface="Cambria Math" panose="02040503050406030204" pitchFamily="18" charset="0"/>
                              <a:cs typeface="Arial Bold"/>
                            </a:rPr>
                            <m:t>𝒑</m:t>
                          </m:r>
                        </m:e>
                        <m:sub>
                          <m:r>
                            <a:rPr lang="en-US" sz="2400" b="1" i="1">
                              <a:solidFill>
                                <a:schemeClr val="tx1"/>
                              </a:solidFill>
                              <a:latin typeface="Cambria Math" panose="02040503050406030204" pitchFamily="18" charset="0"/>
                              <a:ea typeface="Cambria Math" panose="02040503050406030204" pitchFamily="18" charset="0"/>
                              <a:cs typeface="Arial Bold"/>
                            </a:rPr>
                            <m:t>⊝</m:t>
                          </m:r>
                        </m:sub>
                      </m:sSub>
                      <m:r>
                        <a:rPr lang="en-US" sz="2400" b="1" i="1" smtClean="0">
                          <a:solidFill>
                            <a:schemeClr val="tx1"/>
                          </a:solidFill>
                          <a:latin typeface="Cambria Math" panose="02040503050406030204" pitchFamily="18" charset="0"/>
                          <a:ea typeface="Cambria Math" panose="02040503050406030204" pitchFamily="18" charset="0"/>
                          <a:cs typeface="Arial Bold"/>
                        </a:rPr>
                        <m:t>)</m:t>
                      </m:r>
                    </m:oMath>
                  </m:oMathPara>
                </a14:m>
                <a:endParaRPr lang="en-US" dirty="0">
                  <a:solidFill>
                    <a:schemeClr val="tx1"/>
                  </a:solidFill>
                </a:endParaRPr>
              </a:p>
              <a:p>
                <a:endParaRPr lang="en-US" dirty="0"/>
              </a:p>
              <a:p>
                <a:endParaRPr lang="en-US" dirty="0"/>
              </a:p>
              <a:p>
                <a:pPr marL="800100" lvl="1" indent="-342900">
                  <a:buFont typeface="Arial" panose="020B0604020202020204" pitchFamily="34" charset="0"/>
                  <a:buChar char="•"/>
                </a:pPr>
                <a:r>
                  <a:rPr lang="en-CA" sz="2100" dirty="0">
                    <a:solidFill>
                      <a:schemeClr val="tx1"/>
                    </a:solidFill>
                    <a:latin typeface="Arial"/>
                    <a:cs typeface="Arial"/>
                  </a:rPr>
                  <a:t>Where, </a:t>
                </a:r>
                <a14:m>
                  <m:oMath xmlns:m="http://schemas.openxmlformats.org/officeDocument/2006/math">
                    <m:sSub>
                      <m:sSubPr>
                        <m:ctrlPr>
                          <a:rPr lang="en-US" sz="2100" b="1" i="1">
                            <a:solidFill>
                              <a:schemeClr val="tx1"/>
                            </a:solidFill>
                            <a:latin typeface="Cambria Math" panose="02040503050406030204" pitchFamily="18" charset="0"/>
                            <a:ea typeface="Cambria Math" panose="02040503050406030204" pitchFamily="18" charset="0"/>
                            <a:cs typeface="Arial Bold"/>
                          </a:rPr>
                        </m:ctrlPr>
                      </m:sSubPr>
                      <m:e>
                        <m:r>
                          <a:rPr lang="en-US" sz="2100" b="1" i="1">
                            <a:solidFill>
                              <a:schemeClr val="tx1"/>
                            </a:solidFill>
                            <a:latin typeface="Cambria Math" panose="02040503050406030204" pitchFamily="18" charset="0"/>
                            <a:ea typeface="Cambria Math" panose="02040503050406030204" pitchFamily="18" charset="0"/>
                            <a:cs typeface="Arial Bold"/>
                          </a:rPr>
                          <m:t>𝒑</m:t>
                        </m:r>
                      </m:e>
                      <m:sub>
                        <m:r>
                          <a:rPr lang="en-CA" sz="2100" b="1" i="1">
                            <a:solidFill>
                              <a:schemeClr val="tx1"/>
                            </a:solidFill>
                            <a:latin typeface="Cambria Math" panose="02040503050406030204" pitchFamily="18" charset="0"/>
                            <a:ea typeface="Cambria Math" panose="02040503050406030204" pitchFamily="18" charset="0"/>
                            <a:cs typeface="Arial Bold"/>
                          </a:rPr>
                          <m:t>⊕</m:t>
                        </m:r>
                      </m:sub>
                    </m:sSub>
                  </m:oMath>
                </a14:m>
                <a:r>
                  <a:rPr lang="en-CA" sz="2100" dirty="0">
                    <a:solidFill>
                      <a:schemeClr val="tx1"/>
                    </a:solidFill>
                    <a:latin typeface="Arial"/>
                    <a:cs typeface="Arial"/>
                  </a:rPr>
                  <a:t> is the </a:t>
                </a:r>
                <a:r>
                  <a:rPr lang="en-CA" sz="2100" dirty="0">
                    <a:solidFill>
                      <a:srgbClr val="000000"/>
                    </a:solidFill>
                    <a:latin typeface="Arial"/>
                    <a:cs typeface="Arial"/>
                  </a:rPr>
                  <a:t>proportion of positive examples in </a:t>
                </a:r>
                <a:r>
                  <a:rPr lang="en-CA" sz="2100" b="1" dirty="0">
                    <a:solidFill>
                      <a:schemeClr val="tx1"/>
                    </a:solidFill>
                    <a:latin typeface="Arial Bold"/>
                    <a:cs typeface="Arial Bold"/>
                  </a:rPr>
                  <a:t>S</a:t>
                </a:r>
                <a:r>
                  <a:rPr lang="en-CA" sz="2100" dirty="0">
                    <a:solidFill>
                      <a:schemeClr val="tx1"/>
                    </a:solidFill>
                    <a:latin typeface="Arial"/>
                    <a:cs typeface="Arial"/>
                  </a:rPr>
                  <a:t> and </a:t>
                </a:r>
                <a14:m>
                  <m:oMath xmlns:m="http://schemas.openxmlformats.org/officeDocument/2006/math">
                    <m:sSub>
                      <m:sSubPr>
                        <m:ctrlPr>
                          <a:rPr lang="en-US" sz="2100" b="1" i="1">
                            <a:solidFill>
                              <a:schemeClr val="tx1"/>
                            </a:solidFill>
                            <a:latin typeface="Cambria Math" panose="02040503050406030204" pitchFamily="18" charset="0"/>
                            <a:cs typeface="Arial Bold"/>
                          </a:rPr>
                        </m:ctrlPr>
                      </m:sSubPr>
                      <m:e>
                        <m:r>
                          <a:rPr lang="en-US" sz="2100" b="1" i="1">
                            <a:solidFill>
                              <a:schemeClr val="tx1"/>
                            </a:solidFill>
                            <a:latin typeface="Cambria Math" panose="02040503050406030204" pitchFamily="18" charset="0"/>
                            <a:cs typeface="Arial Bold"/>
                          </a:rPr>
                          <m:t>𝒑</m:t>
                        </m:r>
                      </m:e>
                      <m:sub>
                        <m:r>
                          <a:rPr lang="en-US" sz="2100" b="1" i="1">
                            <a:solidFill>
                              <a:schemeClr val="tx1"/>
                            </a:solidFill>
                            <a:latin typeface="Cambria Math" panose="02040503050406030204" pitchFamily="18" charset="0"/>
                            <a:ea typeface="Cambria Math" panose="02040503050406030204" pitchFamily="18" charset="0"/>
                            <a:cs typeface="Arial Bold"/>
                          </a:rPr>
                          <m:t>⊖</m:t>
                        </m:r>
                      </m:sub>
                    </m:sSub>
                  </m:oMath>
                </a14:m>
                <a:r>
                  <a:rPr lang="en-CA" sz="2100" dirty="0">
                    <a:solidFill>
                      <a:schemeClr val="tx1"/>
                    </a:solidFill>
                    <a:latin typeface="Arial"/>
                    <a:cs typeface="Arial"/>
                  </a:rPr>
                  <a:t> is the proportion </a:t>
                </a:r>
                <a:r>
                  <a:rPr lang="en-CA" sz="2100" dirty="0">
                    <a:solidFill>
                      <a:srgbClr val="000000"/>
                    </a:solidFill>
                    <a:latin typeface="Arial"/>
                    <a:cs typeface="Arial"/>
                  </a:rPr>
                  <a:t>of negative examples in S. </a:t>
                </a:r>
              </a:p>
              <a:p>
                <a:endParaRPr lang="en-CA" sz="2100" dirty="0">
                  <a:solidFill>
                    <a:srgbClr val="000000"/>
                  </a:solidFill>
                  <a:latin typeface="Arial"/>
                  <a:cs typeface="Arial"/>
                </a:endParaRPr>
              </a:p>
              <a:p>
                <a:pPr marL="800100" lvl="1" indent="-342900">
                  <a:buFont typeface="Arial" panose="020B0604020202020204" pitchFamily="34" charset="0"/>
                  <a:buChar char="•"/>
                </a:pPr>
                <a:r>
                  <a:rPr lang="en-CA" sz="2100" dirty="0">
                    <a:solidFill>
                      <a:srgbClr val="000000"/>
                    </a:solidFill>
                    <a:latin typeface="Arial"/>
                    <a:cs typeface="Arial"/>
                  </a:rPr>
                  <a:t>In all calculations involving entropy we define </a:t>
                </a:r>
                <a:r>
                  <a:rPr lang="en-CA" sz="2100" b="1" dirty="0">
                    <a:solidFill>
                      <a:srgbClr val="000000"/>
                    </a:solidFill>
                    <a:latin typeface="Arial"/>
                    <a:cs typeface="Arial"/>
                  </a:rPr>
                  <a:t>0 log 0 </a:t>
                </a:r>
                <a:r>
                  <a:rPr lang="en-CA" sz="2100" dirty="0">
                    <a:solidFill>
                      <a:srgbClr val="000000"/>
                    </a:solidFill>
                    <a:latin typeface="Arial"/>
                    <a:cs typeface="Arial"/>
                  </a:rPr>
                  <a:t>to be </a:t>
                </a:r>
                <a:r>
                  <a:rPr lang="en-CA" sz="2100" b="1" dirty="0">
                    <a:solidFill>
                      <a:srgbClr val="000000"/>
                    </a:solidFill>
                    <a:latin typeface="Arial"/>
                    <a:cs typeface="Arial"/>
                  </a:rPr>
                  <a:t>0</a:t>
                </a:r>
                <a:r>
                  <a:rPr lang="en-CA" sz="2100" dirty="0">
                    <a:solidFill>
                      <a:srgbClr val="000000"/>
                    </a:solidFill>
                    <a:latin typeface="Arial"/>
                    <a:cs typeface="Arial"/>
                  </a:rPr>
                  <a:t>.</a:t>
                </a:r>
              </a:p>
              <a:p>
                <a:endParaRPr lang="en-US" dirty="0"/>
              </a:p>
            </p:txBody>
          </p:sp>
        </mc:Choice>
        <mc:Fallback>
          <p:sp>
            <p:nvSpPr>
              <p:cNvPr id="3" name="Rectangle 2"/>
              <p:cNvSpPr>
                <a:spLocks noRot="1" noChangeAspect="1" noMove="1" noResize="1" noEditPoints="1" noAdjustHandles="1" noChangeArrowheads="1" noChangeShapeType="1" noTextEdit="1"/>
              </p:cNvSpPr>
              <p:nvPr/>
            </p:nvSpPr>
            <p:spPr>
              <a:xfrm>
                <a:off x="531420" y="1170862"/>
                <a:ext cx="11042071" cy="4369914"/>
              </a:xfrm>
              <a:prstGeom prst="rect">
                <a:avLst/>
              </a:prstGeom>
              <a:blipFill>
                <a:blip r:embed="rId2"/>
                <a:stretch>
                  <a:fillRect l="-717" t="-976" r="-662"/>
                </a:stretch>
              </a:blipFill>
            </p:spPr>
            <p:txBody>
              <a:bodyPr/>
              <a:lstStyle/>
              <a:p>
                <a:r>
                  <a:rPr lang="en-IN">
                    <a:noFill/>
                  </a:rPr>
                  <a:t> </a:t>
                </a:r>
              </a:p>
            </p:txBody>
          </p:sp>
        </mc:Fallback>
      </mc:AlternateContent>
    </p:spTree>
    <p:extLst>
      <p:ext uri="{BB962C8B-B14F-4D97-AF65-F5344CB8AC3E}">
        <p14:creationId xmlns:p14="http://schemas.microsoft.com/office/powerpoint/2010/main" val="336873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atas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9795" y="96981"/>
            <a:ext cx="6217570" cy="357447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3" name="TextBox 3"/>
          <p:cNvSpPr txBox="1"/>
          <p:nvPr/>
        </p:nvSpPr>
        <p:spPr>
          <a:xfrm>
            <a:off x="1186543" y="3743026"/>
            <a:ext cx="10852388" cy="944233"/>
          </a:xfrm>
          <a:prstGeom prst="rect">
            <a:avLst/>
          </a:prstGeom>
          <a:noFill/>
        </p:spPr>
        <p:txBody>
          <a:bodyPr vert="horz" wrap="square" lIns="0" tIns="0" rIns="0" bIns="0" rtlCol="0">
            <a:spAutoFit/>
          </a:bodyPr>
          <a:lstStyle/>
          <a:p>
            <a:pPr marL="342900" indent="-342900">
              <a:lnSpc>
                <a:spcPts val="3900"/>
              </a:lnSpc>
              <a:buFont typeface="Arial" panose="020B0604020202020204" pitchFamily="34" charset="0"/>
              <a:buChar char="•"/>
            </a:pPr>
            <a:r>
              <a:rPr lang="en-CA" sz="2100" dirty="0">
                <a:latin typeface="Arial"/>
                <a:cs typeface="Arial"/>
              </a:rPr>
              <a:t>There are 14 examples.</a:t>
            </a:r>
            <a:r>
              <a:rPr lang="en-CA" sz="2100" b="1" dirty="0">
                <a:latin typeface="Arial Bold"/>
                <a:cs typeface="Arial Bold"/>
              </a:rPr>
              <a:t> 9 positive</a:t>
            </a:r>
            <a:r>
              <a:rPr lang="en-CA" sz="2100" dirty="0">
                <a:latin typeface="Arial"/>
                <a:cs typeface="Arial"/>
              </a:rPr>
              <a:t> and </a:t>
            </a:r>
            <a:r>
              <a:rPr lang="en-CA" sz="2100" b="1" dirty="0">
                <a:latin typeface="Arial Bold"/>
                <a:cs typeface="Arial Bold"/>
              </a:rPr>
              <a:t>5 negative</a:t>
            </a:r>
            <a:r>
              <a:rPr lang="en-CA" sz="2100" dirty="0">
                <a:latin typeface="Arial"/>
                <a:cs typeface="Arial"/>
              </a:rPr>
              <a:t> examples [9+, 5-]</a:t>
            </a:r>
            <a:r>
              <a:rPr lang="en-CA" sz="2100" b="1" dirty="0">
                <a:latin typeface="Arial Bold"/>
                <a:cs typeface="Arial Bold"/>
              </a:rPr>
              <a:t>.</a:t>
            </a:r>
          </a:p>
          <a:p>
            <a:pPr marL="342900" indent="-342900">
              <a:lnSpc>
                <a:spcPts val="3900"/>
              </a:lnSpc>
              <a:buFont typeface="Arial" panose="020B0604020202020204" pitchFamily="34" charset="0"/>
              <a:buChar char="•"/>
            </a:pPr>
            <a:r>
              <a:rPr lang="en-CA" sz="2100" dirty="0">
                <a:latin typeface="Arial"/>
                <a:cs typeface="Arial"/>
              </a:rPr>
              <a:t>The entropy of S relative to this Boolean (yes/no) classification is</a:t>
            </a:r>
            <a:endParaRPr lang="en-CA" sz="2100" dirty="0"/>
          </a:p>
        </p:txBody>
      </p:sp>
      <p:sp>
        <p:nvSpPr>
          <p:cNvPr id="5" name="Rectangle 4"/>
          <p:cNvSpPr/>
          <p:nvPr/>
        </p:nvSpPr>
        <p:spPr>
          <a:xfrm>
            <a:off x="457200" y="510480"/>
            <a:ext cx="3299259" cy="523220"/>
          </a:xfrm>
          <a:prstGeom prst="rect">
            <a:avLst/>
          </a:prstGeom>
        </p:spPr>
        <p:txBody>
          <a:bodyPr wrap="square">
            <a:spAutoFit/>
          </a:bodyPr>
          <a:lstStyle/>
          <a:p>
            <a:r>
              <a:rPr lang="en-CA" sz="2800" b="1" dirty="0">
                <a:solidFill>
                  <a:srgbClr val="000000"/>
                </a:solidFill>
                <a:latin typeface="Arial Bold"/>
                <a:cs typeface="Arial Bold"/>
              </a:rPr>
              <a:t>Entropy</a:t>
            </a:r>
            <a:endParaRPr lang="en-US" sz="2800" dirty="0"/>
          </a:p>
        </p:txBody>
      </p:sp>
      <p:pic>
        <p:nvPicPr>
          <p:cNvPr id="4" name="Picture 3">
            <a:extLst>
              <a:ext uri="{FF2B5EF4-FFF2-40B4-BE49-F238E27FC236}">
                <a16:creationId xmlns:a16="http://schemas.microsoft.com/office/drawing/2014/main" id="{11353B84-E72D-0A35-D001-225A3C91654A}"/>
              </a:ext>
            </a:extLst>
          </p:cNvPr>
          <p:cNvPicPr>
            <a:picLocks/>
          </p:cNvPicPr>
          <p:nvPr/>
        </p:nvPicPr>
        <p:blipFill rotWithShape="1">
          <a:blip r:embed="rId4" cstate="print"/>
          <a:srcRect l="20815" t="82682" r="20233" b="7162"/>
          <a:stretch/>
        </p:blipFill>
        <p:spPr>
          <a:xfrm>
            <a:off x="5779795" y="5785477"/>
            <a:ext cx="5998548" cy="876584"/>
          </a:xfrm>
          <a:prstGeom prst="rect">
            <a:avLst/>
          </a:prstGeom>
          <a:ln>
            <a:solidFill>
              <a:schemeClr val="accent1"/>
            </a:solidFill>
          </a:ln>
        </p:spPr>
      </p:pic>
    </p:spTree>
    <p:extLst>
      <p:ext uri="{BB962C8B-B14F-4D97-AF65-F5344CB8AC3E}">
        <p14:creationId xmlns:p14="http://schemas.microsoft.com/office/powerpoint/2010/main" val="3236239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rotWithShape="1">
          <a:blip r:embed="rId2" cstate="print"/>
          <a:srcRect l="17662" t="59635" r="18879" b="26957"/>
          <a:stretch/>
        </p:blipFill>
        <p:spPr>
          <a:xfrm>
            <a:off x="2473639" y="3563608"/>
            <a:ext cx="5908361" cy="914400"/>
          </a:xfrm>
          <a:prstGeom prst="rect">
            <a:avLst/>
          </a:prstGeom>
        </p:spPr>
      </p:pic>
      <p:sp>
        <p:nvSpPr>
          <p:cNvPr id="3" name="Rectangle 2"/>
          <p:cNvSpPr/>
          <p:nvPr/>
        </p:nvSpPr>
        <p:spPr>
          <a:xfrm>
            <a:off x="459783" y="284913"/>
            <a:ext cx="5786651" cy="746358"/>
          </a:xfrm>
          <a:prstGeom prst="rect">
            <a:avLst/>
          </a:prstGeom>
        </p:spPr>
        <p:txBody>
          <a:bodyPr wrap="square">
            <a:spAutoFit/>
          </a:bodyPr>
          <a:lstStyle/>
          <a:p>
            <a:pPr>
              <a:lnSpc>
                <a:spcPts val="5060"/>
              </a:lnSpc>
            </a:pPr>
            <a:r>
              <a:rPr lang="en-CA" sz="2800" b="1" dirty="0">
                <a:solidFill>
                  <a:srgbClr val="000000"/>
                </a:solidFill>
                <a:latin typeface="Arial Bold"/>
                <a:cs typeface="Arial Bold"/>
              </a:rPr>
              <a:t>Information Gain Measure</a:t>
            </a:r>
          </a:p>
        </p:txBody>
      </p:sp>
      <p:sp>
        <p:nvSpPr>
          <p:cNvPr id="4" name="Rectangle 3"/>
          <p:cNvSpPr/>
          <p:nvPr/>
        </p:nvSpPr>
        <p:spPr>
          <a:xfrm>
            <a:off x="459782" y="1317922"/>
            <a:ext cx="10698075" cy="2123658"/>
          </a:xfrm>
          <a:prstGeom prst="rect">
            <a:avLst/>
          </a:prstGeom>
        </p:spPr>
        <p:txBody>
          <a:bodyPr wrap="square">
            <a:spAutoFit/>
          </a:bodyPr>
          <a:lstStyle/>
          <a:p>
            <a:pPr algn="just"/>
            <a:r>
              <a:rPr lang="en-CA" sz="2200" b="1" i="1" dirty="0">
                <a:solidFill>
                  <a:srgbClr val="000000"/>
                </a:solidFill>
                <a:latin typeface="Arial Bold Italic"/>
                <a:cs typeface="Arial Bold Italic"/>
              </a:rPr>
              <a:t>Information gain, </a:t>
            </a:r>
            <a:r>
              <a:rPr lang="en-CA" sz="2200" dirty="0">
                <a:solidFill>
                  <a:srgbClr val="000000"/>
                </a:solidFill>
                <a:latin typeface="Arial"/>
                <a:cs typeface="Arial"/>
              </a:rPr>
              <a:t>is simply the expected reduction in entropy caused by partitioning the examples according to this attribute.</a:t>
            </a:r>
          </a:p>
          <a:p>
            <a:pPr algn="just"/>
            <a:r>
              <a:rPr lang="en-CA" sz="2200" dirty="0">
                <a:solidFill>
                  <a:srgbClr val="000000"/>
                </a:solidFill>
                <a:latin typeface="Arial"/>
                <a:cs typeface="Arial"/>
              </a:rPr>
              <a:t> </a:t>
            </a:r>
          </a:p>
          <a:p>
            <a:pPr algn="just"/>
            <a:r>
              <a:rPr lang="en-CA" sz="2200" dirty="0">
                <a:solidFill>
                  <a:srgbClr val="000000"/>
                </a:solidFill>
                <a:latin typeface="Arial"/>
                <a:cs typeface="Arial"/>
              </a:rPr>
              <a:t>More precisely, the information gain, </a:t>
            </a:r>
            <a:r>
              <a:rPr lang="en-CA" sz="2200" b="1" i="1" dirty="0">
                <a:solidFill>
                  <a:srgbClr val="000000"/>
                </a:solidFill>
                <a:latin typeface="Arial Bold Italic"/>
                <a:cs typeface="Arial Bold Italic"/>
              </a:rPr>
              <a:t>Gain(S, A) </a:t>
            </a:r>
            <a:r>
              <a:rPr lang="en-CA" sz="2200" dirty="0">
                <a:solidFill>
                  <a:srgbClr val="000000"/>
                </a:solidFill>
                <a:latin typeface="Arial"/>
                <a:cs typeface="Arial"/>
              </a:rPr>
              <a:t>of </a:t>
            </a:r>
            <a:r>
              <a:rPr lang="en-CA" sz="2200" b="1" i="1" dirty="0">
                <a:solidFill>
                  <a:srgbClr val="000000"/>
                </a:solidFill>
                <a:latin typeface="Arial Bold Italic"/>
                <a:cs typeface="Arial Bold Italic"/>
              </a:rPr>
              <a:t>an </a:t>
            </a:r>
            <a:r>
              <a:rPr lang="en-CA" sz="2200" dirty="0">
                <a:solidFill>
                  <a:srgbClr val="000000"/>
                </a:solidFill>
                <a:latin typeface="Arial"/>
                <a:cs typeface="Arial"/>
              </a:rPr>
              <a:t>attribute </a:t>
            </a:r>
            <a:r>
              <a:rPr lang="en-CA" sz="2200" b="1" dirty="0">
                <a:solidFill>
                  <a:srgbClr val="000000"/>
                </a:solidFill>
                <a:latin typeface="Arial Bold"/>
                <a:cs typeface="Arial Bold"/>
              </a:rPr>
              <a:t>A, </a:t>
            </a:r>
            <a:r>
              <a:rPr lang="en-CA" sz="2200" dirty="0">
                <a:solidFill>
                  <a:srgbClr val="000000"/>
                </a:solidFill>
                <a:latin typeface="Arial"/>
                <a:cs typeface="Arial"/>
              </a:rPr>
              <a:t>relative to a collection of examples </a:t>
            </a:r>
            <a:r>
              <a:rPr lang="en-CA" sz="2200" b="1" i="1" dirty="0">
                <a:solidFill>
                  <a:srgbClr val="000000"/>
                </a:solidFill>
                <a:latin typeface="Arial Bold Italic"/>
                <a:cs typeface="Arial Bold Italic"/>
              </a:rPr>
              <a:t>S, </a:t>
            </a:r>
            <a:r>
              <a:rPr lang="en-CA" sz="2200" dirty="0">
                <a:solidFill>
                  <a:srgbClr val="000000"/>
                </a:solidFill>
                <a:latin typeface="Arial"/>
                <a:cs typeface="Arial"/>
              </a:rPr>
              <a:t>is defined as</a:t>
            </a:r>
          </a:p>
          <a:p>
            <a:pPr algn="just"/>
            <a:endParaRPr lang="en-US" sz="2200" dirty="0"/>
          </a:p>
        </p:txBody>
      </p:sp>
      <p:sp>
        <p:nvSpPr>
          <p:cNvPr id="5" name="Rectangle 4"/>
          <p:cNvSpPr/>
          <p:nvPr/>
        </p:nvSpPr>
        <p:spPr>
          <a:xfrm>
            <a:off x="459783" y="4938325"/>
            <a:ext cx="10567446" cy="656590"/>
          </a:xfrm>
          <a:prstGeom prst="rect">
            <a:avLst/>
          </a:prstGeom>
        </p:spPr>
        <p:txBody>
          <a:bodyPr wrap="square">
            <a:spAutoFit/>
          </a:bodyPr>
          <a:lstStyle/>
          <a:p>
            <a:pPr algn="just">
              <a:lnSpc>
                <a:spcPts val="2200"/>
              </a:lnSpc>
            </a:pPr>
            <a:r>
              <a:rPr lang="en-CA" sz="2200" dirty="0">
                <a:solidFill>
                  <a:srgbClr val="000000"/>
                </a:solidFill>
                <a:latin typeface="Arial"/>
                <a:cs typeface="Arial"/>
              </a:rPr>
              <a:t>where </a:t>
            </a:r>
            <a:r>
              <a:rPr lang="en-CA" sz="2200" b="1" i="1" dirty="0">
                <a:solidFill>
                  <a:srgbClr val="000000"/>
                </a:solidFill>
                <a:latin typeface="Arial Bold Italic"/>
                <a:cs typeface="Arial Bold Italic"/>
              </a:rPr>
              <a:t>Values(A) </a:t>
            </a:r>
            <a:r>
              <a:rPr lang="en-CA" sz="2200" dirty="0">
                <a:solidFill>
                  <a:srgbClr val="000000"/>
                </a:solidFill>
                <a:latin typeface="Arial"/>
                <a:cs typeface="Arial"/>
              </a:rPr>
              <a:t>is the set of all possible values for attribute </a:t>
            </a:r>
            <a:r>
              <a:rPr lang="en-CA" sz="2200" b="1" dirty="0">
                <a:solidFill>
                  <a:srgbClr val="000000"/>
                </a:solidFill>
                <a:latin typeface="Arial Bold"/>
                <a:cs typeface="Arial Bold"/>
              </a:rPr>
              <a:t>A</a:t>
            </a:r>
            <a:r>
              <a:rPr lang="en-CA" sz="2200" dirty="0">
                <a:solidFill>
                  <a:srgbClr val="000000"/>
                </a:solidFill>
                <a:latin typeface="Arial"/>
                <a:cs typeface="Arial"/>
              </a:rPr>
              <a:t>, and </a:t>
            </a:r>
            <a:r>
              <a:rPr lang="en-CA" sz="2200" b="1" i="1" dirty="0" err="1">
                <a:solidFill>
                  <a:srgbClr val="000000"/>
                </a:solidFill>
                <a:latin typeface="Arial Bold Italic"/>
                <a:cs typeface="Arial Bold Italic"/>
              </a:rPr>
              <a:t>Sv</a:t>
            </a:r>
            <a:r>
              <a:rPr lang="en-CA" sz="2200" b="1" i="1" dirty="0">
                <a:solidFill>
                  <a:srgbClr val="000000"/>
                </a:solidFill>
                <a:latin typeface="Arial Bold Italic"/>
                <a:cs typeface="Arial Bold Italic"/>
              </a:rPr>
              <a:t>, </a:t>
            </a:r>
            <a:r>
              <a:rPr lang="en-CA" sz="2200" dirty="0">
                <a:solidFill>
                  <a:srgbClr val="000000"/>
                </a:solidFill>
                <a:latin typeface="Arial"/>
                <a:cs typeface="Arial"/>
              </a:rPr>
              <a:t>is the subset of </a:t>
            </a:r>
            <a:r>
              <a:rPr lang="en-CA" sz="2200" b="1" dirty="0">
                <a:solidFill>
                  <a:srgbClr val="000000"/>
                </a:solidFill>
                <a:latin typeface="Arial Bold"/>
                <a:cs typeface="Arial Bold"/>
              </a:rPr>
              <a:t>S</a:t>
            </a:r>
            <a:r>
              <a:rPr lang="en-CA" sz="2200" dirty="0">
                <a:solidFill>
                  <a:srgbClr val="000000"/>
                </a:solidFill>
                <a:latin typeface="Arial"/>
                <a:cs typeface="Arial"/>
              </a:rPr>
              <a:t> for which attribute </a:t>
            </a:r>
            <a:r>
              <a:rPr lang="en-CA" sz="2200" b="1" dirty="0">
                <a:solidFill>
                  <a:srgbClr val="000000"/>
                </a:solidFill>
                <a:latin typeface="Arial Bold"/>
                <a:cs typeface="Arial Bold"/>
              </a:rPr>
              <a:t>A</a:t>
            </a:r>
            <a:r>
              <a:rPr lang="en-CA" sz="2200" dirty="0">
                <a:solidFill>
                  <a:srgbClr val="000000"/>
                </a:solidFill>
                <a:latin typeface="Arial"/>
                <a:cs typeface="Arial"/>
              </a:rPr>
              <a:t> has value </a:t>
            </a:r>
            <a:r>
              <a:rPr lang="en-CA" sz="2200" b="1" dirty="0">
                <a:solidFill>
                  <a:srgbClr val="000000"/>
                </a:solidFill>
                <a:latin typeface="Arial Bold"/>
                <a:cs typeface="Arial Bold"/>
              </a:rPr>
              <a:t>v, i.e.,</a:t>
            </a:r>
          </a:p>
        </p:txBody>
      </p:sp>
      <p:pic>
        <p:nvPicPr>
          <p:cNvPr id="6" name="Picture 5"/>
          <p:cNvPicPr>
            <a:picLocks/>
          </p:cNvPicPr>
          <p:nvPr/>
        </p:nvPicPr>
        <p:blipFill rotWithShape="1">
          <a:blip r:embed="rId2" cstate="print"/>
          <a:srcRect l="38288" t="86948" r="33907" b="4520"/>
          <a:stretch/>
        </p:blipFill>
        <p:spPr>
          <a:xfrm>
            <a:off x="4160127" y="5933085"/>
            <a:ext cx="2535383" cy="581892"/>
          </a:xfrm>
          <a:prstGeom prst="rect">
            <a:avLst/>
          </a:prstGeom>
        </p:spPr>
      </p:pic>
    </p:spTree>
    <p:extLst>
      <p:ext uri="{BB962C8B-B14F-4D97-AF65-F5344CB8AC3E}">
        <p14:creationId xmlns:p14="http://schemas.microsoft.com/office/powerpoint/2010/main" val="1689080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73200" y="139700"/>
            <a:ext cx="7645400" cy="762000"/>
          </a:xfrm>
          <a:prstGeom prst="rect">
            <a:avLst/>
          </a:prstGeom>
          <a:noFill/>
        </p:spPr>
        <p:txBody>
          <a:bodyPr vert="horz" wrap="none" lIns="0" tIns="0" rIns="0" bIns="0" rtlCol="0">
            <a:spAutoFit/>
          </a:bodyPr>
          <a:lstStyle/>
          <a:p>
            <a:pPr>
              <a:lnSpc>
                <a:spcPts val="4235"/>
              </a:lnSpc>
            </a:pPr>
            <a:r>
              <a:rPr lang="en-CA" sz="4012" b="1" dirty="0">
                <a:solidFill>
                  <a:srgbClr val="000000"/>
                </a:solidFill>
                <a:latin typeface="Arial Bold"/>
                <a:cs typeface="Arial Bold"/>
              </a:rPr>
              <a:t>Gain (S, Attribute = Wind)</a:t>
            </a:r>
          </a:p>
          <a:p>
            <a:pPr>
              <a:lnSpc>
                <a:spcPts val="4235"/>
              </a:lnSpc>
            </a:pPr>
            <a:endParaRPr lang="en-CA" sz="4002" dirty="0">
              <a:solidFill>
                <a:srgbClr val="000000"/>
              </a:solidFill>
            </a:endParaRPr>
          </a:p>
        </p:txBody>
      </p:sp>
      <p:pic>
        <p:nvPicPr>
          <p:cNvPr id="3" name="Picture 2"/>
          <p:cNvPicPr>
            <a:picLocks/>
          </p:cNvPicPr>
          <p:nvPr/>
        </p:nvPicPr>
        <p:blipFill rotWithShape="1">
          <a:blip r:embed="rId3" cstate="print"/>
          <a:srcRect t="14830" b="5536"/>
          <a:stretch/>
        </p:blipFill>
        <p:spPr>
          <a:xfrm>
            <a:off x="729343" y="1011382"/>
            <a:ext cx="10733313" cy="5291448"/>
          </a:xfrm>
          <a:prstGeom prst="rect">
            <a:avLst/>
          </a:prstGeom>
        </p:spPr>
      </p:pic>
    </p:spTree>
    <p:extLst>
      <p:ext uri="{BB962C8B-B14F-4D97-AF65-F5344CB8AC3E}">
        <p14:creationId xmlns:p14="http://schemas.microsoft.com/office/powerpoint/2010/main" val="1563001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3855" y="13855"/>
            <a:ext cx="9118600" cy="6819900"/>
          </a:xfrm>
          <a:prstGeom prst="rect">
            <a:avLst/>
          </a:prstGeom>
        </p:spPr>
      </p:pic>
      <p:sp>
        <p:nvSpPr>
          <p:cNvPr id="3" name="TextBox 2"/>
          <p:cNvSpPr txBox="1"/>
          <p:nvPr/>
        </p:nvSpPr>
        <p:spPr>
          <a:xfrm>
            <a:off x="3327400" y="139700"/>
            <a:ext cx="5791200" cy="762000"/>
          </a:xfrm>
          <a:prstGeom prst="rect">
            <a:avLst/>
          </a:prstGeom>
          <a:noFill/>
        </p:spPr>
        <p:txBody>
          <a:bodyPr vert="horz" wrap="none" lIns="0" tIns="0" rIns="0" bIns="0" rtlCol="0">
            <a:spAutoFit/>
          </a:bodyPr>
          <a:lstStyle/>
          <a:p>
            <a:pPr>
              <a:lnSpc>
                <a:spcPts val="4235"/>
              </a:lnSpc>
            </a:pPr>
            <a:r>
              <a:rPr lang="en-CA" sz="4012" b="1" dirty="0">
                <a:solidFill>
                  <a:srgbClr val="000000"/>
                </a:solidFill>
                <a:latin typeface="Arial Bold"/>
                <a:cs typeface="Arial Bold"/>
              </a:rPr>
              <a:t>Gain (S,A)</a:t>
            </a:r>
          </a:p>
          <a:p>
            <a:pPr>
              <a:lnSpc>
                <a:spcPts val="4235"/>
              </a:lnSpc>
            </a:pPr>
            <a:endParaRPr lang="en-CA" sz="4002" dirty="0">
              <a:solidFill>
                <a:srgbClr val="000000"/>
              </a:solidFill>
            </a:endParaRPr>
          </a:p>
        </p:txBody>
      </p:sp>
      <p:pic>
        <p:nvPicPr>
          <p:cNvPr id="4" name="Picture 2" descr="datase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9345" y="96981"/>
            <a:ext cx="5458020" cy="313780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782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519751" y="0"/>
            <a:ext cx="9152498" cy="6845253"/>
          </a:xfrm>
          <a:prstGeom prst="rect">
            <a:avLst/>
          </a:prstGeom>
        </p:spPr>
      </p:pic>
      <p:sp>
        <p:nvSpPr>
          <p:cNvPr id="3" name="TextBox 3"/>
          <p:cNvSpPr txBox="1"/>
          <p:nvPr/>
        </p:nvSpPr>
        <p:spPr>
          <a:xfrm>
            <a:off x="3431833" y="1338458"/>
            <a:ext cx="5327274" cy="463381"/>
          </a:xfrm>
          <a:prstGeom prst="rect">
            <a:avLst/>
          </a:prstGeom>
          <a:noFill/>
        </p:spPr>
        <p:txBody>
          <a:bodyPr vert="horz" wrap="none" lIns="0" tIns="0" rIns="0" bIns="0" rtlCol="0">
            <a:spAutoFit/>
          </a:bodyPr>
          <a:lstStyle/>
          <a:p>
            <a:pPr>
              <a:lnSpc>
                <a:spcPts val="1847"/>
              </a:lnSpc>
            </a:pPr>
            <a:r>
              <a:rPr lang="en-CA" sz="1608">
                <a:solidFill>
                  <a:srgbClr val="000000"/>
                </a:solidFill>
                <a:latin typeface="Arial"/>
                <a:cs typeface="Arial"/>
              </a:rPr>
              <a:t>Entropy(S</a:t>
            </a:r>
            <a:r>
              <a:rPr lang="en-CA" sz="1204">
                <a:solidFill>
                  <a:srgbClr val="000000"/>
                </a:solidFill>
                <a:latin typeface="Arial"/>
                <a:cs typeface="Arial"/>
              </a:rPr>
              <a:t>Sunny</a:t>
            </a:r>
            <a:r>
              <a:rPr lang="en-CA" sz="1608">
                <a:solidFill>
                  <a:srgbClr val="000000"/>
                </a:solidFill>
                <a:latin typeface="Arial"/>
                <a:cs typeface="Arial"/>
              </a:rPr>
              <a:t>) = - { 2/5 log(2/5) + 3/5 log(3/5)} = 0.97095</a:t>
            </a:r>
          </a:p>
          <a:p>
            <a:pPr>
              <a:lnSpc>
                <a:spcPts val="1847"/>
              </a:lnSpc>
            </a:pPr>
            <a:endParaRPr lang="en-CA" sz="1608">
              <a:solidFill>
                <a:srgbClr val="000000"/>
              </a:solidFill>
            </a:endParaRPr>
          </a:p>
        </p:txBody>
      </p:sp>
      <p:sp>
        <p:nvSpPr>
          <p:cNvPr id="4" name="TextBox 4"/>
          <p:cNvSpPr txBox="1"/>
          <p:nvPr/>
        </p:nvSpPr>
        <p:spPr>
          <a:xfrm>
            <a:off x="3890732" y="2103291"/>
            <a:ext cx="1530123" cy="463381"/>
          </a:xfrm>
          <a:prstGeom prst="rect">
            <a:avLst/>
          </a:prstGeom>
          <a:noFill/>
        </p:spPr>
        <p:txBody>
          <a:bodyPr vert="horz" wrap="none" lIns="0" tIns="0" rIns="0" bIns="0" rtlCol="0">
            <a:spAutoFit/>
          </a:bodyPr>
          <a:lstStyle/>
          <a:p>
            <a:pPr>
              <a:lnSpc>
                <a:spcPts val="1847"/>
              </a:lnSpc>
            </a:pPr>
            <a:r>
              <a:rPr lang="en-CA" sz="1608">
                <a:solidFill>
                  <a:srgbClr val="000000"/>
                </a:solidFill>
                <a:latin typeface="Arial"/>
                <a:cs typeface="Arial"/>
              </a:rPr>
              <a:t>Entropy(Hot) = 0</a:t>
            </a:r>
          </a:p>
          <a:p>
            <a:pPr>
              <a:lnSpc>
                <a:spcPts val="1847"/>
              </a:lnSpc>
            </a:pPr>
            <a:endParaRPr lang="en-CA" sz="1608">
              <a:solidFill>
                <a:srgbClr val="000000"/>
              </a:solidFill>
            </a:endParaRPr>
          </a:p>
        </p:txBody>
      </p:sp>
      <p:sp>
        <p:nvSpPr>
          <p:cNvPr id="5" name="TextBox 5"/>
          <p:cNvSpPr txBox="1"/>
          <p:nvPr/>
        </p:nvSpPr>
        <p:spPr>
          <a:xfrm>
            <a:off x="1978651" y="2294499"/>
            <a:ext cx="1088624" cy="334664"/>
          </a:xfrm>
          <a:prstGeom prst="rect">
            <a:avLst/>
          </a:prstGeom>
          <a:noFill/>
        </p:spPr>
        <p:txBody>
          <a:bodyPr vert="horz" wrap="none" lIns="0" tIns="0" rIns="0" bIns="0" rtlCol="0">
            <a:spAutoFit/>
          </a:bodyPr>
          <a:lstStyle/>
          <a:p>
            <a:pPr>
              <a:lnSpc>
                <a:spcPts val="1265"/>
              </a:lnSpc>
            </a:pPr>
            <a:r>
              <a:rPr lang="en-CA" sz="1412" b="1">
                <a:solidFill>
                  <a:srgbClr val="000000"/>
                </a:solidFill>
                <a:latin typeface="Arial Bold"/>
                <a:cs typeface="Arial Bold"/>
              </a:rPr>
              <a:t>Temperature</a:t>
            </a:r>
          </a:p>
          <a:p>
            <a:pPr>
              <a:lnSpc>
                <a:spcPts val="1265"/>
              </a:lnSpc>
            </a:pPr>
            <a:endParaRPr lang="en-CA" sz="1402">
              <a:solidFill>
                <a:srgbClr val="000000"/>
              </a:solidFill>
            </a:endParaRPr>
          </a:p>
        </p:txBody>
      </p:sp>
      <p:sp>
        <p:nvSpPr>
          <p:cNvPr id="6" name="TextBox 6"/>
          <p:cNvSpPr txBox="1"/>
          <p:nvPr/>
        </p:nvSpPr>
        <p:spPr>
          <a:xfrm>
            <a:off x="1978650" y="2485706"/>
            <a:ext cx="1121448" cy="1287169"/>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(Hot)  {0+, 2-)</a:t>
            </a:r>
            <a:br>
              <a:rPr lang="en-CA" sz="1402">
                <a:solidFill>
                  <a:srgbClr val="000000"/>
                </a:solidFill>
                <a:latin typeface="Times New Roman"/>
              </a:rPr>
            </a:br>
            <a:r>
              <a:rPr lang="en-CA" sz="1402">
                <a:solidFill>
                  <a:srgbClr val="000000"/>
                </a:solidFill>
                <a:latin typeface="Arial"/>
                <a:cs typeface="Arial"/>
              </a:rPr>
              <a:t>(Mild) {1+, 1-}</a:t>
            </a:r>
            <a:br>
              <a:rPr lang="en-CA" sz="1402">
                <a:solidFill>
                  <a:srgbClr val="000000"/>
                </a:solidFill>
                <a:latin typeface="Times New Roman"/>
              </a:rPr>
            </a:br>
            <a:r>
              <a:rPr lang="en-CA" sz="1402">
                <a:solidFill>
                  <a:srgbClr val="000000"/>
                </a:solidFill>
                <a:latin typeface="Arial"/>
                <a:cs typeface="Arial"/>
              </a:rPr>
              <a:t>(Cool) {1+, 0-}</a:t>
            </a:r>
          </a:p>
          <a:p>
            <a:pPr>
              <a:lnSpc>
                <a:spcPts val="2494"/>
              </a:lnSpc>
            </a:pPr>
            <a:endParaRPr lang="en-CA" sz="1402">
              <a:solidFill>
                <a:srgbClr val="000000"/>
              </a:solidFill>
            </a:endParaRPr>
          </a:p>
        </p:txBody>
      </p:sp>
      <p:sp>
        <p:nvSpPr>
          <p:cNvPr id="7" name="TextBox 7"/>
          <p:cNvSpPr txBox="1"/>
          <p:nvPr/>
        </p:nvSpPr>
        <p:spPr>
          <a:xfrm>
            <a:off x="2310079" y="4168339"/>
            <a:ext cx="777129" cy="411895"/>
          </a:xfrm>
          <a:prstGeom prst="rect">
            <a:avLst/>
          </a:prstGeom>
          <a:noFill/>
        </p:spPr>
        <p:txBody>
          <a:bodyPr vert="horz" wrap="none" lIns="0" tIns="0" rIns="0" bIns="0" rtlCol="0">
            <a:spAutoFit/>
          </a:bodyPr>
          <a:lstStyle/>
          <a:p>
            <a:pPr>
              <a:lnSpc>
                <a:spcPts val="1606"/>
              </a:lnSpc>
            </a:pPr>
            <a:r>
              <a:rPr lang="en-CA" sz="1412" b="1">
                <a:solidFill>
                  <a:srgbClr val="000000"/>
                </a:solidFill>
                <a:latin typeface="Arial Bold"/>
                <a:cs typeface="Arial Bold"/>
              </a:rPr>
              <a:t>Humidity</a:t>
            </a:r>
          </a:p>
          <a:p>
            <a:pPr>
              <a:lnSpc>
                <a:spcPts val="1616"/>
              </a:lnSpc>
            </a:pPr>
            <a:endParaRPr lang="en-CA" sz="1402">
              <a:solidFill>
                <a:srgbClr val="000000"/>
              </a:solidFill>
            </a:endParaRPr>
          </a:p>
        </p:txBody>
      </p:sp>
      <p:sp>
        <p:nvSpPr>
          <p:cNvPr id="8" name="TextBox 8"/>
          <p:cNvSpPr txBox="1"/>
          <p:nvPr/>
        </p:nvSpPr>
        <p:spPr>
          <a:xfrm>
            <a:off x="1978651" y="4385041"/>
            <a:ext cx="1330612" cy="965377"/>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(High)  {0+, 3-}</a:t>
            </a:r>
            <a:br>
              <a:rPr lang="en-CA" sz="1402">
                <a:solidFill>
                  <a:srgbClr val="000000"/>
                </a:solidFill>
                <a:latin typeface="Times New Roman"/>
              </a:rPr>
            </a:br>
            <a:r>
              <a:rPr lang="en-CA" sz="1402">
                <a:solidFill>
                  <a:srgbClr val="000000"/>
                </a:solidFill>
                <a:latin typeface="Arial"/>
                <a:cs typeface="Arial"/>
              </a:rPr>
              <a:t>(Normal) {2+, 0-}</a:t>
            </a:r>
          </a:p>
          <a:p>
            <a:pPr>
              <a:lnSpc>
                <a:spcPts val="2514"/>
              </a:lnSpc>
            </a:pPr>
            <a:endParaRPr lang="en-CA" sz="1402">
              <a:solidFill>
                <a:srgbClr val="000000"/>
              </a:solidFill>
            </a:endParaRPr>
          </a:p>
        </p:txBody>
      </p:sp>
      <p:sp>
        <p:nvSpPr>
          <p:cNvPr id="9" name="TextBox 9"/>
          <p:cNvSpPr txBox="1"/>
          <p:nvPr/>
        </p:nvSpPr>
        <p:spPr>
          <a:xfrm>
            <a:off x="2463044" y="5774487"/>
            <a:ext cx="442465" cy="411895"/>
          </a:xfrm>
          <a:prstGeom prst="rect">
            <a:avLst/>
          </a:prstGeom>
          <a:noFill/>
        </p:spPr>
        <p:txBody>
          <a:bodyPr vert="horz" wrap="none" lIns="0" tIns="0" rIns="0" bIns="0" rtlCol="0">
            <a:spAutoFit/>
          </a:bodyPr>
          <a:lstStyle/>
          <a:p>
            <a:pPr>
              <a:lnSpc>
                <a:spcPts val="1606"/>
              </a:lnSpc>
            </a:pPr>
            <a:r>
              <a:rPr lang="en-CA" sz="1412" b="1">
                <a:solidFill>
                  <a:srgbClr val="000000"/>
                </a:solidFill>
                <a:latin typeface="Arial Bold"/>
                <a:cs typeface="Arial Bold"/>
              </a:rPr>
              <a:t>Wind</a:t>
            </a:r>
          </a:p>
          <a:p>
            <a:pPr>
              <a:lnSpc>
                <a:spcPts val="1616"/>
              </a:lnSpc>
            </a:pPr>
            <a:endParaRPr lang="en-CA" sz="1402">
              <a:solidFill>
                <a:srgbClr val="000000"/>
              </a:solidFill>
            </a:endParaRPr>
          </a:p>
        </p:txBody>
      </p:sp>
      <p:sp>
        <p:nvSpPr>
          <p:cNvPr id="10" name="TextBox 10"/>
          <p:cNvSpPr txBox="1"/>
          <p:nvPr/>
        </p:nvSpPr>
        <p:spPr>
          <a:xfrm>
            <a:off x="1978651" y="5991190"/>
            <a:ext cx="1280733" cy="965377"/>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(Weak)  {1+, 2-}</a:t>
            </a:r>
            <a:br>
              <a:rPr lang="en-CA" sz="1402">
                <a:solidFill>
                  <a:srgbClr val="000000"/>
                </a:solidFill>
                <a:latin typeface="Times New Roman"/>
              </a:rPr>
            </a:br>
            <a:r>
              <a:rPr lang="en-CA" sz="1402">
                <a:solidFill>
                  <a:srgbClr val="000000"/>
                </a:solidFill>
                <a:latin typeface="Arial"/>
                <a:cs typeface="Arial"/>
              </a:rPr>
              <a:t>(Strong) {1+, 1-}</a:t>
            </a:r>
          </a:p>
          <a:p>
            <a:pPr>
              <a:lnSpc>
                <a:spcPts val="2514"/>
              </a:lnSpc>
            </a:pPr>
            <a:endParaRPr lang="en-CA" sz="1402">
              <a:solidFill>
                <a:srgbClr val="000000"/>
              </a:solidFill>
            </a:endParaRPr>
          </a:p>
        </p:txBody>
      </p:sp>
      <p:sp>
        <p:nvSpPr>
          <p:cNvPr id="11" name="TextBox 11"/>
          <p:cNvSpPr txBox="1"/>
          <p:nvPr/>
        </p:nvSpPr>
        <p:spPr>
          <a:xfrm>
            <a:off x="3890733" y="2409223"/>
            <a:ext cx="1634705" cy="901019"/>
          </a:xfrm>
          <a:prstGeom prst="rect">
            <a:avLst/>
          </a:prstGeom>
          <a:noFill/>
        </p:spPr>
        <p:txBody>
          <a:bodyPr vert="horz" wrap="none" lIns="0" tIns="0" rIns="0" bIns="0" rtlCol="0">
            <a:spAutoFit/>
          </a:bodyPr>
          <a:lstStyle/>
          <a:p>
            <a:pPr>
              <a:lnSpc>
                <a:spcPts val="2309"/>
              </a:lnSpc>
            </a:pPr>
            <a:r>
              <a:rPr lang="en-CA" sz="1608">
                <a:solidFill>
                  <a:srgbClr val="000000"/>
                </a:solidFill>
                <a:latin typeface="Arial"/>
                <a:cs typeface="Arial"/>
              </a:rPr>
              <a:t>Entropy(Mild) = 1</a:t>
            </a:r>
            <a:br>
              <a:rPr lang="en-CA" sz="1608">
                <a:solidFill>
                  <a:srgbClr val="000000"/>
                </a:solidFill>
                <a:latin typeface="Times New Roman"/>
              </a:rPr>
            </a:br>
            <a:r>
              <a:rPr lang="en-CA" sz="1608">
                <a:solidFill>
                  <a:srgbClr val="000000"/>
                </a:solidFill>
                <a:latin typeface="Arial"/>
                <a:cs typeface="Arial"/>
              </a:rPr>
              <a:t>Entropy(Cool) = 0</a:t>
            </a:r>
          </a:p>
          <a:p>
            <a:pPr>
              <a:lnSpc>
                <a:spcPts val="2374"/>
              </a:lnSpc>
            </a:pPr>
            <a:endParaRPr lang="en-CA" sz="1608">
              <a:solidFill>
                <a:srgbClr val="000000"/>
              </a:solidFill>
            </a:endParaRPr>
          </a:p>
        </p:txBody>
      </p:sp>
      <p:sp>
        <p:nvSpPr>
          <p:cNvPr id="12" name="TextBox 12"/>
          <p:cNvSpPr txBox="1"/>
          <p:nvPr/>
        </p:nvSpPr>
        <p:spPr>
          <a:xfrm>
            <a:off x="3890732" y="3199551"/>
            <a:ext cx="6050469" cy="463381"/>
          </a:xfrm>
          <a:prstGeom prst="rect">
            <a:avLst/>
          </a:prstGeom>
          <a:noFill/>
        </p:spPr>
        <p:txBody>
          <a:bodyPr vert="horz" wrap="none" lIns="0" tIns="0" rIns="0" bIns="0" rtlCol="0">
            <a:spAutoFit/>
          </a:bodyPr>
          <a:lstStyle/>
          <a:p>
            <a:pPr>
              <a:lnSpc>
                <a:spcPts val="1807"/>
              </a:lnSpc>
            </a:pPr>
            <a:r>
              <a:rPr lang="en-CA" sz="1608" dirty="0">
                <a:solidFill>
                  <a:srgbClr val="000000"/>
                </a:solidFill>
                <a:latin typeface="Arial"/>
                <a:cs typeface="Arial"/>
              </a:rPr>
              <a:t>Gain(Su, Temperature) = 0.97095 - 2/5*0 - 2/5*1 - 1/5*0 = 0.57095</a:t>
            </a:r>
          </a:p>
          <a:p>
            <a:pPr>
              <a:lnSpc>
                <a:spcPts val="1847"/>
              </a:lnSpc>
            </a:pPr>
            <a:endParaRPr lang="en-CA" sz="1608" dirty="0">
              <a:solidFill>
                <a:srgbClr val="000000"/>
              </a:solidFill>
            </a:endParaRPr>
          </a:p>
        </p:txBody>
      </p:sp>
      <p:sp>
        <p:nvSpPr>
          <p:cNvPr id="13" name="TextBox 13"/>
          <p:cNvSpPr txBox="1"/>
          <p:nvPr/>
        </p:nvSpPr>
        <p:spPr>
          <a:xfrm>
            <a:off x="3826997" y="3989877"/>
            <a:ext cx="1876049" cy="1119838"/>
          </a:xfrm>
          <a:prstGeom prst="rect">
            <a:avLst/>
          </a:prstGeom>
          <a:noFill/>
        </p:spPr>
        <p:txBody>
          <a:bodyPr vert="horz" wrap="none" lIns="0" tIns="0" rIns="0" bIns="0" rtlCol="0">
            <a:spAutoFit/>
          </a:bodyPr>
          <a:lstStyle/>
          <a:p>
            <a:pPr>
              <a:lnSpc>
                <a:spcPts val="2911"/>
              </a:lnSpc>
            </a:pPr>
            <a:r>
              <a:rPr lang="en-CA" sz="1608">
                <a:solidFill>
                  <a:srgbClr val="000000"/>
                </a:solidFill>
                <a:latin typeface="Arial"/>
                <a:cs typeface="Arial"/>
              </a:rPr>
              <a:t>Entropy(High) = 0</a:t>
            </a:r>
            <a:br>
              <a:rPr lang="en-CA" sz="1608">
                <a:solidFill>
                  <a:srgbClr val="000000"/>
                </a:solidFill>
                <a:latin typeface="Times New Roman"/>
              </a:rPr>
            </a:br>
            <a:r>
              <a:rPr lang="en-CA" sz="1608">
                <a:solidFill>
                  <a:srgbClr val="000000"/>
                </a:solidFill>
                <a:latin typeface="Arial"/>
                <a:cs typeface="Arial"/>
              </a:rPr>
              <a:t>Entropy(Normal) = 0</a:t>
            </a:r>
          </a:p>
          <a:p>
            <a:pPr>
              <a:lnSpc>
                <a:spcPts val="2896"/>
              </a:lnSpc>
            </a:pPr>
            <a:endParaRPr lang="en-CA" sz="1608">
              <a:solidFill>
                <a:srgbClr val="000000"/>
              </a:solidFill>
            </a:endParaRPr>
          </a:p>
        </p:txBody>
      </p:sp>
      <p:sp>
        <p:nvSpPr>
          <p:cNvPr id="14" name="TextBox 14"/>
          <p:cNvSpPr txBox="1"/>
          <p:nvPr/>
        </p:nvSpPr>
        <p:spPr>
          <a:xfrm>
            <a:off x="3826997" y="4831194"/>
            <a:ext cx="5076276"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Humidity) = 0.97095 - 3/5*0 - 2/5*0 = </a:t>
            </a:r>
            <a:r>
              <a:rPr lang="en-CA" sz="1618" b="1">
                <a:solidFill>
                  <a:srgbClr val="000000"/>
                </a:solidFill>
                <a:latin typeface="Arial Bold"/>
                <a:cs typeface="Arial Bold"/>
              </a:rPr>
              <a:t>0.97095</a:t>
            </a:r>
          </a:p>
          <a:p>
            <a:pPr>
              <a:lnSpc>
                <a:spcPts val="1847"/>
              </a:lnSpc>
            </a:pPr>
            <a:endParaRPr lang="en-CA" sz="1608">
              <a:solidFill>
                <a:srgbClr val="000000"/>
              </a:solidFill>
            </a:endParaRPr>
          </a:p>
        </p:txBody>
      </p:sp>
      <p:sp>
        <p:nvSpPr>
          <p:cNvPr id="15" name="TextBox 15"/>
          <p:cNvSpPr txBox="1"/>
          <p:nvPr/>
        </p:nvSpPr>
        <p:spPr>
          <a:xfrm>
            <a:off x="3890733" y="5506795"/>
            <a:ext cx="2235942" cy="1119838"/>
          </a:xfrm>
          <a:prstGeom prst="rect">
            <a:avLst/>
          </a:prstGeom>
          <a:noFill/>
        </p:spPr>
        <p:txBody>
          <a:bodyPr vert="horz" wrap="none" lIns="0" tIns="0" rIns="0" bIns="0" rtlCol="0">
            <a:spAutoFit/>
          </a:bodyPr>
          <a:lstStyle/>
          <a:p>
            <a:pPr>
              <a:lnSpc>
                <a:spcPts val="2911"/>
              </a:lnSpc>
            </a:pPr>
            <a:r>
              <a:rPr lang="en-CA" sz="1608" dirty="0">
                <a:solidFill>
                  <a:srgbClr val="000000"/>
                </a:solidFill>
                <a:latin typeface="Arial"/>
                <a:cs typeface="Arial"/>
              </a:rPr>
              <a:t>Entropy(Weak) = 0.9183</a:t>
            </a:r>
            <a:br>
              <a:rPr lang="en-CA" sz="1608" dirty="0">
                <a:solidFill>
                  <a:srgbClr val="000000"/>
                </a:solidFill>
                <a:latin typeface="Times New Roman"/>
              </a:rPr>
            </a:br>
            <a:r>
              <a:rPr lang="en-CA" sz="1608" dirty="0">
                <a:solidFill>
                  <a:srgbClr val="000000"/>
                </a:solidFill>
                <a:latin typeface="Arial"/>
                <a:cs typeface="Arial"/>
              </a:rPr>
              <a:t>Entropy(Strong) = 1.0</a:t>
            </a:r>
          </a:p>
          <a:p>
            <a:pPr>
              <a:lnSpc>
                <a:spcPts val="2901"/>
              </a:lnSpc>
            </a:pPr>
            <a:endParaRPr lang="en-CA" sz="1608" dirty="0">
              <a:solidFill>
                <a:srgbClr val="000000"/>
              </a:solidFill>
            </a:endParaRPr>
          </a:p>
        </p:txBody>
      </p:sp>
      <p:sp>
        <p:nvSpPr>
          <p:cNvPr id="16" name="TextBox 16"/>
          <p:cNvSpPr txBox="1"/>
          <p:nvPr/>
        </p:nvSpPr>
        <p:spPr>
          <a:xfrm>
            <a:off x="3890733" y="6348112"/>
            <a:ext cx="5262915"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Wind) = 0.97095 - 3/5*0.9183 - 2/5*1 = 0.01997</a:t>
            </a:r>
          </a:p>
          <a:p>
            <a:pPr>
              <a:lnSpc>
                <a:spcPts val="1847"/>
              </a:lnSpc>
            </a:pPr>
            <a:endParaRPr lang="en-CA" sz="1608">
              <a:solidFill>
                <a:srgbClr val="000000"/>
              </a:solidFill>
            </a:endParaRPr>
          </a:p>
        </p:txBody>
      </p:sp>
      <p:sp>
        <p:nvSpPr>
          <p:cNvPr id="18" name="Rectangle 17"/>
          <p:cNvSpPr/>
          <p:nvPr/>
        </p:nvSpPr>
        <p:spPr>
          <a:xfrm>
            <a:off x="1687183" y="3718103"/>
            <a:ext cx="8985066" cy="3139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7"/>
          </a:p>
        </p:txBody>
      </p:sp>
      <p:sp>
        <p:nvSpPr>
          <p:cNvPr id="19" name="TextBox 2"/>
          <p:cNvSpPr txBox="1"/>
          <p:nvPr/>
        </p:nvSpPr>
        <p:spPr>
          <a:xfrm>
            <a:off x="0" y="140219"/>
            <a:ext cx="12191999" cy="1179810"/>
          </a:xfrm>
          <a:prstGeom prst="rect">
            <a:avLst/>
          </a:prstGeom>
          <a:noFill/>
        </p:spPr>
        <p:txBody>
          <a:bodyPr vert="horz" wrap="square" lIns="0" tIns="0" rIns="0" bIns="0" rtlCol="0">
            <a:spAutoFit/>
          </a:bodyPr>
          <a:lstStyle/>
          <a:p>
            <a:pPr algn="ctr">
              <a:lnSpc>
                <a:spcPts val="4617"/>
              </a:lnSpc>
            </a:pPr>
            <a:r>
              <a:rPr lang="en-CA" sz="4423" b="1" dirty="0">
                <a:solidFill>
                  <a:srgbClr val="000000"/>
                </a:solidFill>
                <a:latin typeface="Arial Bold"/>
                <a:cs typeface="Arial Bold"/>
              </a:rPr>
              <a:t>Gain (S</a:t>
            </a:r>
            <a:r>
              <a:rPr lang="en-CA" sz="2918" b="1" dirty="0">
                <a:solidFill>
                  <a:srgbClr val="000000"/>
                </a:solidFill>
                <a:latin typeface="Arial Bold"/>
                <a:cs typeface="Arial Bold"/>
              </a:rPr>
              <a:t>unny</a:t>
            </a:r>
            <a:r>
              <a:rPr lang="en-CA" sz="4423" b="1" dirty="0">
                <a:solidFill>
                  <a:srgbClr val="000000"/>
                </a:solidFill>
                <a:latin typeface="Arial Bold"/>
                <a:cs typeface="Arial Bold"/>
              </a:rPr>
              <a:t>, Temperature)</a:t>
            </a:r>
          </a:p>
          <a:p>
            <a:pPr algn="ctr">
              <a:lnSpc>
                <a:spcPts val="4617"/>
              </a:lnSpc>
            </a:pPr>
            <a:endParaRPr lang="en-CA" sz="4413" dirty="0">
              <a:solidFill>
                <a:srgbClr val="000000"/>
              </a:solidFill>
            </a:endParaRPr>
          </a:p>
        </p:txBody>
      </p:sp>
    </p:spTree>
    <p:extLst>
      <p:ext uri="{BB962C8B-B14F-4D97-AF65-F5344CB8AC3E}">
        <p14:creationId xmlns:p14="http://schemas.microsoft.com/office/powerpoint/2010/main" val="5107626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519751" y="0"/>
            <a:ext cx="9152498" cy="6845253"/>
          </a:xfrm>
          <a:prstGeom prst="rect">
            <a:avLst/>
          </a:prstGeom>
        </p:spPr>
      </p:pic>
      <p:sp>
        <p:nvSpPr>
          <p:cNvPr id="4" name="TextBox 4"/>
          <p:cNvSpPr txBox="1"/>
          <p:nvPr/>
        </p:nvSpPr>
        <p:spPr>
          <a:xfrm>
            <a:off x="3890732" y="2103291"/>
            <a:ext cx="1530123" cy="463381"/>
          </a:xfrm>
          <a:prstGeom prst="rect">
            <a:avLst/>
          </a:prstGeom>
          <a:noFill/>
        </p:spPr>
        <p:txBody>
          <a:bodyPr vert="horz" wrap="none" lIns="0" tIns="0" rIns="0" bIns="0" rtlCol="0">
            <a:spAutoFit/>
          </a:bodyPr>
          <a:lstStyle/>
          <a:p>
            <a:pPr>
              <a:lnSpc>
                <a:spcPts val="1847"/>
              </a:lnSpc>
            </a:pPr>
            <a:r>
              <a:rPr lang="en-CA" sz="1608">
                <a:solidFill>
                  <a:srgbClr val="000000"/>
                </a:solidFill>
                <a:latin typeface="Arial"/>
                <a:cs typeface="Arial"/>
              </a:rPr>
              <a:t>Entropy(Hot) = 0</a:t>
            </a:r>
          </a:p>
          <a:p>
            <a:pPr>
              <a:lnSpc>
                <a:spcPts val="1847"/>
              </a:lnSpc>
            </a:pPr>
            <a:endParaRPr lang="en-CA" sz="1608">
              <a:solidFill>
                <a:srgbClr val="000000"/>
              </a:solidFill>
            </a:endParaRPr>
          </a:p>
        </p:txBody>
      </p:sp>
      <p:sp>
        <p:nvSpPr>
          <p:cNvPr id="5" name="TextBox 5"/>
          <p:cNvSpPr txBox="1"/>
          <p:nvPr/>
        </p:nvSpPr>
        <p:spPr>
          <a:xfrm>
            <a:off x="1978651" y="2294499"/>
            <a:ext cx="1088624" cy="334664"/>
          </a:xfrm>
          <a:prstGeom prst="rect">
            <a:avLst/>
          </a:prstGeom>
          <a:noFill/>
        </p:spPr>
        <p:txBody>
          <a:bodyPr vert="horz" wrap="none" lIns="0" tIns="0" rIns="0" bIns="0" rtlCol="0">
            <a:spAutoFit/>
          </a:bodyPr>
          <a:lstStyle/>
          <a:p>
            <a:pPr>
              <a:lnSpc>
                <a:spcPts val="1265"/>
              </a:lnSpc>
            </a:pPr>
            <a:r>
              <a:rPr lang="en-CA" sz="1412" b="1">
                <a:solidFill>
                  <a:srgbClr val="000000"/>
                </a:solidFill>
                <a:latin typeface="Arial Bold"/>
                <a:cs typeface="Arial Bold"/>
              </a:rPr>
              <a:t>Temperature</a:t>
            </a:r>
          </a:p>
          <a:p>
            <a:pPr>
              <a:lnSpc>
                <a:spcPts val="1265"/>
              </a:lnSpc>
            </a:pPr>
            <a:endParaRPr lang="en-CA" sz="1402">
              <a:solidFill>
                <a:srgbClr val="000000"/>
              </a:solidFill>
            </a:endParaRPr>
          </a:p>
        </p:txBody>
      </p:sp>
      <p:sp>
        <p:nvSpPr>
          <p:cNvPr id="6" name="TextBox 6"/>
          <p:cNvSpPr txBox="1"/>
          <p:nvPr/>
        </p:nvSpPr>
        <p:spPr>
          <a:xfrm>
            <a:off x="1978650" y="2485706"/>
            <a:ext cx="1121448" cy="1287169"/>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(Hot)  {0+, 2-)</a:t>
            </a:r>
            <a:br>
              <a:rPr lang="en-CA" sz="1402">
                <a:solidFill>
                  <a:srgbClr val="000000"/>
                </a:solidFill>
                <a:latin typeface="Times New Roman"/>
              </a:rPr>
            </a:br>
            <a:r>
              <a:rPr lang="en-CA" sz="1402">
                <a:solidFill>
                  <a:srgbClr val="000000"/>
                </a:solidFill>
                <a:latin typeface="Arial"/>
                <a:cs typeface="Arial"/>
              </a:rPr>
              <a:t>(Mild) {1+, 1-}</a:t>
            </a:r>
            <a:br>
              <a:rPr lang="en-CA" sz="1402">
                <a:solidFill>
                  <a:srgbClr val="000000"/>
                </a:solidFill>
                <a:latin typeface="Times New Roman"/>
              </a:rPr>
            </a:br>
            <a:r>
              <a:rPr lang="en-CA" sz="1402">
                <a:solidFill>
                  <a:srgbClr val="000000"/>
                </a:solidFill>
                <a:latin typeface="Arial"/>
                <a:cs typeface="Arial"/>
              </a:rPr>
              <a:t>(Cool) {1+, 0-}</a:t>
            </a:r>
          </a:p>
          <a:p>
            <a:pPr>
              <a:lnSpc>
                <a:spcPts val="2494"/>
              </a:lnSpc>
            </a:pPr>
            <a:endParaRPr lang="en-CA" sz="1402">
              <a:solidFill>
                <a:srgbClr val="000000"/>
              </a:solidFill>
            </a:endParaRPr>
          </a:p>
        </p:txBody>
      </p:sp>
      <p:sp>
        <p:nvSpPr>
          <p:cNvPr id="7" name="TextBox 7"/>
          <p:cNvSpPr txBox="1"/>
          <p:nvPr/>
        </p:nvSpPr>
        <p:spPr>
          <a:xfrm>
            <a:off x="2310079" y="4168339"/>
            <a:ext cx="777129" cy="411895"/>
          </a:xfrm>
          <a:prstGeom prst="rect">
            <a:avLst/>
          </a:prstGeom>
          <a:noFill/>
        </p:spPr>
        <p:txBody>
          <a:bodyPr vert="horz" wrap="none" lIns="0" tIns="0" rIns="0" bIns="0" rtlCol="0">
            <a:spAutoFit/>
          </a:bodyPr>
          <a:lstStyle/>
          <a:p>
            <a:pPr>
              <a:lnSpc>
                <a:spcPts val="1606"/>
              </a:lnSpc>
            </a:pPr>
            <a:r>
              <a:rPr lang="en-CA" sz="1412" b="1">
                <a:solidFill>
                  <a:srgbClr val="000000"/>
                </a:solidFill>
                <a:latin typeface="Arial Bold"/>
                <a:cs typeface="Arial Bold"/>
              </a:rPr>
              <a:t>Humidity</a:t>
            </a:r>
          </a:p>
          <a:p>
            <a:pPr>
              <a:lnSpc>
                <a:spcPts val="1616"/>
              </a:lnSpc>
            </a:pPr>
            <a:endParaRPr lang="en-CA" sz="1402">
              <a:solidFill>
                <a:srgbClr val="000000"/>
              </a:solidFill>
            </a:endParaRPr>
          </a:p>
        </p:txBody>
      </p:sp>
      <p:sp>
        <p:nvSpPr>
          <p:cNvPr id="8" name="TextBox 8"/>
          <p:cNvSpPr txBox="1"/>
          <p:nvPr/>
        </p:nvSpPr>
        <p:spPr>
          <a:xfrm>
            <a:off x="1978651" y="4385041"/>
            <a:ext cx="1330612" cy="965377"/>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(High)  {0+, 3-}</a:t>
            </a:r>
            <a:br>
              <a:rPr lang="en-CA" sz="1402">
                <a:solidFill>
                  <a:srgbClr val="000000"/>
                </a:solidFill>
                <a:latin typeface="Times New Roman"/>
              </a:rPr>
            </a:br>
            <a:r>
              <a:rPr lang="en-CA" sz="1402">
                <a:solidFill>
                  <a:srgbClr val="000000"/>
                </a:solidFill>
                <a:latin typeface="Arial"/>
                <a:cs typeface="Arial"/>
              </a:rPr>
              <a:t>(Normal) {2+, 0-}</a:t>
            </a:r>
          </a:p>
          <a:p>
            <a:pPr>
              <a:lnSpc>
                <a:spcPts val="2514"/>
              </a:lnSpc>
            </a:pPr>
            <a:endParaRPr lang="en-CA" sz="1402">
              <a:solidFill>
                <a:srgbClr val="000000"/>
              </a:solidFill>
            </a:endParaRPr>
          </a:p>
        </p:txBody>
      </p:sp>
      <p:sp>
        <p:nvSpPr>
          <p:cNvPr id="9" name="TextBox 9"/>
          <p:cNvSpPr txBox="1"/>
          <p:nvPr/>
        </p:nvSpPr>
        <p:spPr>
          <a:xfrm>
            <a:off x="2463044" y="5774487"/>
            <a:ext cx="442465" cy="411895"/>
          </a:xfrm>
          <a:prstGeom prst="rect">
            <a:avLst/>
          </a:prstGeom>
          <a:noFill/>
        </p:spPr>
        <p:txBody>
          <a:bodyPr vert="horz" wrap="none" lIns="0" tIns="0" rIns="0" bIns="0" rtlCol="0">
            <a:spAutoFit/>
          </a:bodyPr>
          <a:lstStyle/>
          <a:p>
            <a:pPr>
              <a:lnSpc>
                <a:spcPts val="1606"/>
              </a:lnSpc>
            </a:pPr>
            <a:r>
              <a:rPr lang="en-CA" sz="1412" b="1">
                <a:solidFill>
                  <a:srgbClr val="000000"/>
                </a:solidFill>
                <a:latin typeface="Arial Bold"/>
                <a:cs typeface="Arial Bold"/>
              </a:rPr>
              <a:t>Wind</a:t>
            </a:r>
          </a:p>
          <a:p>
            <a:pPr>
              <a:lnSpc>
                <a:spcPts val="1616"/>
              </a:lnSpc>
            </a:pPr>
            <a:endParaRPr lang="en-CA" sz="1402">
              <a:solidFill>
                <a:srgbClr val="000000"/>
              </a:solidFill>
            </a:endParaRPr>
          </a:p>
        </p:txBody>
      </p:sp>
      <p:sp>
        <p:nvSpPr>
          <p:cNvPr id="10" name="TextBox 10"/>
          <p:cNvSpPr txBox="1"/>
          <p:nvPr/>
        </p:nvSpPr>
        <p:spPr>
          <a:xfrm>
            <a:off x="1978651" y="5991190"/>
            <a:ext cx="1280733" cy="965377"/>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(Weak)  {1+, 2-}</a:t>
            </a:r>
            <a:br>
              <a:rPr lang="en-CA" sz="1402">
                <a:solidFill>
                  <a:srgbClr val="000000"/>
                </a:solidFill>
                <a:latin typeface="Times New Roman"/>
              </a:rPr>
            </a:br>
            <a:r>
              <a:rPr lang="en-CA" sz="1402">
                <a:solidFill>
                  <a:srgbClr val="000000"/>
                </a:solidFill>
                <a:latin typeface="Arial"/>
                <a:cs typeface="Arial"/>
              </a:rPr>
              <a:t>(Strong) {1+, 1-}</a:t>
            </a:r>
          </a:p>
          <a:p>
            <a:pPr>
              <a:lnSpc>
                <a:spcPts val="2514"/>
              </a:lnSpc>
            </a:pPr>
            <a:endParaRPr lang="en-CA" sz="1402">
              <a:solidFill>
                <a:srgbClr val="000000"/>
              </a:solidFill>
            </a:endParaRPr>
          </a:p>
        </p:txBody>
      </p:sp>
      <p:sp>
        <p:nvSpPr>
          <p:cNvPr id="11" name="TextBox 11"/>
          <p:cNvSpPr txBox="1"/>
          <p:nvPr/>
        </p:nvSpPr>
        <p:spPr>
          <a:xfrm>
            <a:off x="3890733" y="2409223"/>
            <a:ext cx="1634705" cy="901019"/>
          </a:xfrm>
          <a:prstGeom prst="rect">
            <a:avLst/>
          </a:prstGeom>
          <a:noFill/>
        </p:spPr>
        <p:txBody>
          <a:bodyPr vert="horz" wrap="none" lIns="0" tIns="0" rIns="0" bIns="0" rtlCol="0">
            <a:spAutoFit/>
          </a:bodyPr>
          <a:lstStyle/>
          <a:p>
            <a:pPr>
              <a:lnSpc>
                <a:spcPts val="2309"/>
              </a:lnSpc>
            </a:pPr>
            <a:r>
              <a:rPr lang="en-CA" sz="1608">
                <a:solidFill>
                  <a:srgbClr val="000000"/>
                </a:solidFill>
                <a:latin typeface="Arial"/>
                <a:cs typeface="Arial"/>
              </a:rPr>
              <a:t>Entropy(Mild) = 1</a:t>
            </a:r>
            <a:br>
              <a:rPr lang="en-CA" sz="1608">
                <a:solidFill>
                  <a:srgbClr val="000000"/>
                </a:solidFill>
                <a:latin typeface="Times New Roman"/>
              </a:rPr>
            </a:br>
            <a:r>
              <a:rPr lang="en-CA" sz="1608">
                <a:solidFill>
                  <a:srgbClr val="000000"/>
                </a:solidFill>
                <a:latin typeface="Arial"/>
                <a:cs typeface="Arial"/>
              </a:rPr>
              <a:t>Entropy(Cool) = 0</a:t>
            </a:r>
          </a:p>
          <a:p>
            <a:pPr>
              <a:lnSpc>
                <a:spcPts val="2374"/>
              </a:lnSpc>
            </a:pPr>
            <a:endParaRPr lang="en-CA" sz="1608">
              <a:solidFill>
                <a:srgbClr val="000000"/>
              </a:solidFill>
            </a:endParaRPr>
          </a:p>
        </p:txBody>
      </p:sp>
      <p:sp>
        <p:nvSpPr>
          <p:cNvPr id="12" name="TextBox 12"/>
          <p:cNvSpPr txBox="1"/>
          <p:nvPr/>
        </p:nvSpPr>
        <p:spPr>
          <a:xfrm>
            <a:off x="3890733" y="3199551"/>
            <a:ext cx="6103501"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Temperature) = 0.97095 - 2/5*0 - 2/5*1 - 1/5*0 = 0.57095</a:t>
            </a:r>
          </a:p>
          <a:p>
            <a:pPr>
              <a:lnSpc>
                <a:spcPts val="1847"/>
              </a:lnSpc>
            </a:pPr>
            <a:endParaRPr lang="en-CA" sz="1608">
              <a:solidFill>
                <a:srgbClr val="000000"/>
              </a:solidFill>
            </a:endParaRPr>
          </a:p>
        </p:txBody>
      </p:sp>
      <p:sp>
        <p:nvSpPr>
          <p:cNvPr id="13" name="TextBox 13"/>
          <p:cNvSpPr txBox="1"/>
          <p:nvPr/>
        </p:nvSpPr>
        <p:spPr>
          <a:xfrm>
            <a:off x="3826997" y="3989877"/>
            <a:ext cx="1876049" cy="1119838"/>
          </a:xfrm>
          <a:prstGeom prst="rect">
            <a:avLst/>
          </a:prstGeom>
          <a:noFill/>
        </p:spPr>
        <p:txBody>
          <a:bodyPr vert="horz" wrap="none" lIns="0" tIns="0" rIns="0" bIns="0" rtlCol="0">
            <a:spAutoFit/>
          </a:bodyPr>
          <a:lstStyle/>
          <a:p>
            <a:pPr>
              <a:lnSpc>
                <a:spcPts val="2911"/>
              </a:lnSpc>
            </a:pPr>
            <a:r>
              <a:rPr lang="en-CA" sz="1608">
                <a:solidFill>
                  <a:srgbClr val="000000"/>
                </a:solidFill>
                <a:latin typeface="Arial"/>
                <a:cs typeface="Arial"/>
              </a:rPr>
              <a:t>Entropy(High) = 0</a:t>
            </a:r>
            <a:br>
              <a:rPr lang="en-CA" sz="1608">
                <a:solidFill>
                  <a:srgbClr val="000000"/>
                </a:solidFill>
                <a:latin typeface="Times New Roman"/>
              </a:rPr>
            </a:br>
            <a:r>
              <a:rPr lang="en-CA" sz="1608">
                <a:solidFill>
                  <a:srgbClr val="000000"/>
                </a:solidFill>
                <a:latin typeface="Arial"/>
                <a:cs typeface="Arial"/>
              </a:rPr>
              <a:t>Entropy(Normal) = 0</a:t>
            </a:r>
          </a:p>
          <a:p>
            <a:pPr>
              <a:lnSpc>
                <a:spcPts val="2896"/>
              </a:lnSpc>
            </a:pPr>
            <a:endParaRPr lang="en-CA" sz="1608">
              <a:solidFill>
                <a:srgbClr val="000000"/>
              </a:solidFill>
            </a:endParaRPr>
          </a:p>
        </p:txBody>
      </p:sp>
      <p:sp>
        <p:nvSpPr>
          <p:cNvPr id="14" name="TextBox 14"/>
          <p:cNvSpPr txBox="1"/>
          <p:nvPr/>
        </p:nvSpPr>
        <p:spPr>
          <a:xfrm>
            <a:off x="3826997" y="4831194"/>
            <a:ext cx="5042487" cy="463381"/>
          </a:xfrm>
          <a:prstGeom prst="rect">
            <a:avLst/>
          </a:prstGeom>
          <a:noFill/>
        </p:spPr>
        <p:txBody>
          <a:bodyPr vert="horz" wrap="none" lIns="0" tIns="0" rIns="0" bIns="0" rtlCol="0">
            <a:spAutoFit/>
          </a:bodyPr>
          <a:lstStyle/>
          <a:p>
            <a:pPr>
              <a:lnSpc>
                <a:spcPts val="1807"/>
              </a:lnSpc>
            </a:pPr>
            <a:r>
              <a:rPr lang="en-CA" sz="1608" dirty="0">
                <a:solidFill>
                  <a:srgbClr val="000000"/>
                </a:solidFill>
                <a:latin typeface="Arial"/>
                <a:cs typeface="Arial"/>
              </a:rPr>
              <a:t>Gain(Su, Humidity) = 0.97095 - 3/5*0 - 2/5*0 = </a:t>
            </a:r>
            <a:r>
              <a:rPr lang="en-CA" sz="1618" b="1" dirty="0">
                <a:solidFill>
                  <a:srgbClr val="000000"/>
                </a:solidFill>
                <a:latin typeface="Arial Bold"/>
                <a:cs typeface="Arial Bold"/>
              </a:rPr>
              <a:t>0.97095</a:t>
            </a:r>
          </a:p>
          <a:p>
            <a:pPr>
              <a:lnSpc>
                <a:spcPts val="1847"/>
              </a:lnSpc>
            </a:pPr>
            <a:endParaRPr lang="en-CA" sz="1608" dirty="0">
              <a:solidFill>
                <a:srgbClr val="000000"/>
              </a:solidFill>
            </a:endParaRPr>
          </a:p>
        </p:txBody>
      </p:sp>
      <p:sp>
        <p:nvSpPr>
          <p:cNvPr id="15" name="TextBox 15"/>
          <p:cNvSpPr txBox="1"/>
          <p:nvPr/>
        </p:nvSpPr>
        <p:spPr>
          <a:xfrm>
            <a:off x="3890733" y="5506795"/>
            <a:ext cx="2235942" cy="1119838"/>
          </a:xfrm>
          <a:prstGeom prst="rect">
            <a:avLst/>
          </a:prstGeom>
          <a:noFill/>
        </p:spPr>
        <p:txBody>
          <a:bodyPr vert="horz" wrap="none" lIns="0" tIns="0" rIns="0" bIns="0" rtlCol="0">
            <a:spAutoFit/>
          </a:bodyPr>
          <a:lstStyle/>
          <a:p>
            <a:pPr>
              <a:lnSpc>
                <a:spcPts val="2911"/>
              </a:lnSpc>
            </a:pPr>
            <a:r>
              <a:rPr lang="en-CA" sz="1608" dirty="0">
                <a:solidFill>
                  <a:srgbClr val="000000"/>
                </a:solidFill>
                <a:latin typeface="Arial"/>
                <a:cs typeface="Arial"/>
              </a:rPr>
              <a:t>Entropy(Weak) = 0.9183</a:t>
            </a:r>
            <a:br>
              <a:rPr lang="en-CA" sz="1608" dirty="0">
                <a:solidFill>
                  <a:srgbClr val="000000"/>
                </a:solidFill>
                <a:latin typeface="Times New Roman"/>
              </a:rPr>
            </a:br>
            <a:r>
              <a:rPr lang="en-CA" sz="1608" dirty="0">
                <a:solidFill>
                  <a:srgbClr val="000000"/>
                </a:solidFill>
                <a:latin typeface="Arial"/>
                <a:cs typeface="Arial"/>
              </a:rPr>
              <a:t>Entropy(Strong) = 1.0</a:t>
            </a:r>
          </a:p>
          <a:p>
            <a:pPr>
              <a:lnSpc>
                <a:spcPts val="2901"/>
              </a:lnSpc>
            </a:pPr>
            <a:endParaRPr lang="en-CA" sz="1608" dirty="0">
              <a:solidFill>
                <a:srgbClr val="000000"/>
              </a:solidFill>
            </a:endParaRPr>
          </a:p>
        </p:txBody>
      </p:sp>
      <p:sp>
        <p:nvSpPr>
          <p:cNvPr id="16" name="TextBox 16"/>
          <p:cNvSpPr txBox="1"/>
          <p:nvPr/>
        </p:nvSpPr>
        <p:spPr>
          <a:xfrm>
            <a:off x="3890733" y="6348112"/>
            <a:ext cx="5262915"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Wind) = 0.97095 - 3/5*0.9183 - 2/5*1 = 0.01997</a:t>
            </a:r>
          </a:p>
          <a:p>
            <a:pPr>
              <a:lnSpc>
                <a:spcPts val="1847"/>
              </a:lnSpc>
            </a:pPr>
            <a:endParaRPr lang="en-CA" sz="1608">
              <a:solidFill>
                <a:srgbClr val="000000"/>
              </a:solidFill>
            </a:endParaRPr>
          </a:p>
        </p:txBody>
      </p:sp>
      <p:sp>
        <p:nvSpPr>
          <p:cNvPr id="18" name="Rectangle 17"/>
          <p:cNvSpPr/>
          <p:nvPr/>
        </p:nvSpPr>
        <p:spPr>
          <a:xfrm>
            <a:off x="1614907" y="1911210"/>
            <a:ext cx="8985066" cy="17346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7"/>
          </a:p>
        </p:txBody>
      </p:sp>
      <p:sp>
        <p:nvSpPr>
          <p:cNvPr id="19" name="Rectangle 18"/>
          <p:cNvSpPr/>
          <p:nvPr/>
        </p:nvSpPr>
        <p:spPr>
          <a:xfrm>
            <a:off x="1542632" y="5163616"/>
            <a:ext cx="8985066" cy="17346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7"/>
          </a:p>
        </p:txBody>
      </p:sp>
      <p:sp>
        <p:nvSpPr>
          <p:cNvPr id="20" name="TextBox 2"/>
          <p:cNvSpPr txBox="1"/>
          <p:nvPr/>
        </p:nvSpPr>
        <p:spPr>
          <a:xfrm>
            <a:off x="0" y="140219"/>
            <a:ext cx="5711197" cy="1181285"/>
          </a:xfrm>
          <a:prstGeom prst="rect">
            <a:avLst/>
          </a:prstGeom>
          <a:noFill/>
        </p:spPr>
        <p:txBody>
          <a:bodyPr vert="horz" wrap="square" lIns="0" tIns="0" rIns="0" bIns="0" rtlCol="0">
            <a:spAutoFit/>
          </a:bodyPr>
          <a:lstStyle/>
          <a:p>
            <a:pPr algn="ctr">
              <a:lnSpc>
                <a:spcPts val="4617"/>
              </a:lnSpc>
            </a:pPr>
            <a:r>
              <a:rPr lang="en-CA" sz="4000" b="1" dirty="0">
                <a:solidFill>
                  <a:srgbClr val="000000"/>
                </a:solidFill>
                <a:latin typeface="Arial Bold"/>
                <a:cs typeface="Arial Bold"/>
              </a:rPr>
              <a:t>Gain (S</a:t>
            </a:r>
            <a:r>
              <a:rPr lang="en-CA" sz="2400" b="1" dirty="0">
                <a:solidFill>
                  <a:srgbClr val="000000"/>
                </a:solidFill>
                <a:latin typeface="Arial Bold"/>
                <a:cs typeface="Arial Bold"/>
              </a:rPr>
              <a:t>unny</a:t>
            </a:r>
            <a:r>
              <a:rPr lang="en-CA" sz="4000" b="1" dirty="0">
                <a:solidFill>
                  <a:srgbClr val="000000"/>
                </a:solidFill>
                <a:latin typeface="Arial Bold"/>
                <a:cs typeface="Arial Bold"/>
              </a:rPr>
              <a:t>, Humidity)</a:t>
            </a:r>
          </a:p>
          <a:p>
            <a:pPr algn="ctr">
              <a:lnSpc>
                <a:spcPts val="4617"/>
              </a:lnSpc>
            </a:pPr>
            <a:endParaRPr lang="en-CA" sz="4000" dirty="0">
              <a:solidFill>
                <a:srgbClr val="000000"/>
              </a:solidFill>
            </a:endParaRPr>
          </a:p>
        </p:txBody>
      </p:sp>
    </p:spTree>
    <p:extLst>
      <p:ext uri="{BB962C8B-B14F-4D97-AF65-F5344CB8AC3E}">
        <p14:creationId xmlns:p14="http://schemas.microsoft.com/office/powerpoint/2010/main" val="672973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519751" y="0"/>
            <a:ext cx="9152498" cy="6845253"/>
          </a:xfrm>
          <a:prstGeom prst="rect">
            <a:avLst/>
          </a:prstGeom>
        </p:spPr>
      </p:pic>
      <p:sp>
        <p:nvSpPr>
          <p:cNvPr id="17" name="TextBox 2"/>
          <p:cNvSpPr txBox="1"/>
          <p:nvPr/>
        </p:nvSpPr>
        <p:spPr>
          <a:xfrm>
            <a:off x="4171171" y="140219"/>
            <a:ext cx="3637214" cy="1181734"/>
          </a:xfrm>
          <a:prstGeom prst="rect">
            <a:avLst/>
          </a:prstGeom>
          <a:noFill/>
        </p:spPr>
        <p:txBody>
          <a:bodyPr vert="horz" wrap="none" lIns="0" tIns="0" rIns="0" bIns="0" rtlCol="0">
            <a:spAutoFit/>
          </a:bodyPr>
          <a:lstStyle/>
          <a:p>
            <a:pPr>
              <a:lnSpc>
                <a:spcPts val="4617"/>
              </a:lnSpc>
            </a:pPr>
            <a:r>
              <a:rPr lang="en-CA" sz="4423" b="1" dirty="0">
                <a:solidFill>
                  <a:srgbClr val="000000"/>
                </a:solidFill>
                <a:latin typeface="Arial Bold"/>
                <a:cs typeface="Arial Bold"/>
              </a:rPr>
              <a:t>Gain (</a:t>
            </a:r>
            <a:r>
              <a:rPr lang="en-CA" sz="4423" b="1" dirty="0" err="1">
                <a:solidFill>
                  <a:srgbClr val="000000"/>
                </a:solidFill>
                <a:latin typeface="Arial Bold"/>
                <a:cs typeface="Arial Bold"/>
              </a:rPr>
              <a:t>S</a:t>
            </a:r>
            <a:r>
              <a:rPr lang="en-CA" sz="2918" b="1" dirty="0" err="1">
                <a:solidFill>
                  <a:srgbClr val="000000"/>
                </a:solidFill>
                <a:latin typeface="Arial Bold"/>
                <a:cs typeface="Arial Bold"/>
              </a:rPr>
              <a:t>unny</a:t>
            </a:r>
            <a:r>
              <a:rPr lang="en-CA" sz="4423" b="1" dirty="0" err="1">
                <a:solidFill>
                  <a:srgbClr val="000000"/>
                </a:solidFill>
                <a:latin typeface="Arial Bold"/>
                <a:cs typeface="Arial Bold"/>
              </a:rPr>
              <a:t>,A</a:t>
            </a:r>
            <a:r>
              <a:rPr lang="en-CA" sz="4423" b="1" dirty="0">
                <a:solidFill>
                  <a:srgbClr val="000000"/>
                </a:solidFill>
                <a:latin typeface="Arial Bold"/>
                <a:cs typeface="Arial Bold"/>
              </a:rPr>
              <a:t>)</a:t>
            </a:r>
          </a:p>
          <a:p>
            <a:pPr>
              <a:lnSpc>
                <a:spcPts val="4617"/>
              </a:lnSpc>
            </a:pPr>
            <a:endParaRPr lang="en-CA" sz="4413" dirty="0">
              <a:solidFill>
                <a:srgbClr val="000000"/>
              </a:solidFill>
            </a:endParaRPr>
          </a:p>
        </p:txBody>
      </p:sp>
      <p:sp>
        <p:nvSpPr>
          <p:cNvPr id="4" name="TextBox 4"/>
          <p:cNvSpPr txBox="1"/>
          <p:nvPr/>
        </p:nvSpPr>
        <p:spPr>
          <a:xfrm>
            <a:off x="3890732" y="2103291"/>
            <a:ext cx="1530123" cy="463381"/>
          </a:xfrm>
          <a:prstGeom prst="rect">
            <a:avLst/>
          </a:prstGeom>
          <a:noFill/>
        </p:spPr>
        <p:txBody>
          <a:bodyPr vert="horz" wrap="none" lIns="0" tIns="0" rIns="0" bIns="0" rtlCol="0">
            <a:spAutoFit/>
          </a:bodyPr>
          <a:lstStyle/>
          <a:p>
            <a:pPr>
              <a:lnSpc>
                <a:spcPts val="1847"/>
              </a:lnSpc>
            </a:pPr>
            <a:r>
              <a:rPr lang="en-CA" sz="1608">
                <a:solidFill>
                  <a:srgbClr val="000000"/>
                </a:solidFill>
                <a:latin typeface="Arial"/>
                <a:cs typeface="Arial"/>
              </a:rPr>
              <a:t>Entropy(Hot) = 0</a:t>
            </a:r>
          </a:p>
          <a:p>
            <a:pPr>
              <a:lnSpc>
                <a:spcPts val="1847"/>
              </a:lnSpc>
            </a:pPr>
            <a:endParaRPr lang="en-CA" sz="1608">
              <a:solidFill>
                <a:srgbClr val="000000"/>
              </a:solidFill>
            </a:endParaRPr>
          </a:p>
        </p:txBody>
      </p:sp>
      <p:sp>
        <p:nvSpPr>
          <p:cNvPr id="5" name="TextBox 5"/>
          <p:cNvSpPr txBox="1"/>
          <p:nvPr/>
        </p:nvSpPr>
        <p:spPr>
          <a:xfrm>
            <a:off x="1978651" y="2294499"/>
            <a:ext cx="1088624" cy="334664"/>
          </a:xfrm>
          <a:prstGeom prst="rect">
            <a:avLst/>
          </a:prstGeom>
          <a:noFill/>
        </p:spPr>
        <p:txBody>
          <a:bodyPr vert="horz" wrap="none" lIns="0" tIns="0" rIns="0" bIns="0" rtlCol="0">
            <a:spAutoFit/>
          </a:bodyPr>
          <a:lstStyle/>
          <a:p>
            <a:pPr>
              <a:lnSpc>
                <a:spcPts val="1265"/>
              </a:lnSpc>
            </a:pPr>
            <a:r>
              <a:rPr lang="en-CA" sz="1412" b="1">
                <a:solidFill>
                  <a:srgbClr val="000000"/>
                </a:solidFill>
                <a:latin typeface="Arial Bold"/>
                <a:cs typeface="Arial Bold"/>
              </a:rPr>
              <a:t>Temperature</a:t>
            </a:r>
          </a:p>
          <a:p>
            <a:pPr>
              <a:lnSpc>
                <a:spcPts val="1265"/>
              </a:lnSpc>
            </a:pPr>
            <a:endParaRPr lang="en-CA" sz="1402">
              <a:solidFill>
                <a:srgbClr val="000000"/>
              </a:solidFill>
            </a:endParaRPr>
          </a:p>
        </p:txBody>
      </p:sp>
      <p:sp>
        <p:nvSpPr>
          <p:cNvPr id="6" name="TextBox 6"/>
          <p:cNvSpPr txBox="1"/>
          <p:nvPr/>
        </p:nvSpPr>
        <p:spPr>
          <a:xfrm>
            <a:off x="1978650" y="2485706"/>
            <a:ext cx="1121448" cy="1287169"/>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(Hot)  {0+, 2-)</a:t>
            </a:r>
            <a:br>
              <a:rPr lang="en-CA" sz="1402">
                <a:solidFill>
                  <a:srgbClr val="000000"/>
                </a:solidFill>
                <a:latin typeface="Times New Roman"/>
              </a:rPr>
            </a:br>
            <a:r>
              <a:rPr lang="en-CA" sz="1402">
                <a:solidFill>
                  <a:srgbClr val="000000"/>
                </a:solidFill>
                <a:latin typeface="Arial"/>
                <a:cs typeface="Arial"/>
              </a:rPr>
              <a:t>(Mild) {1+, 1-}</a:t>
            </a:r>
            <a:br>
              <a:rPr lang="en-CA" sz="1402">
                <a:solidFill>
                  <a:srgbClr val="000000"/>
                </a:solidFill>
                <a:latin typeface="Times New Roman"/>
              </a:rPr>
            </a:br>
            <a:r>
              <a:rPr lang="en-CA" sz="1402">
                <a:solidFill>
                  <a:srgbClr val="000000"/>
                </a:solidFill>
                <a:latin typeface="Arial"/>
                <a:cs typeface="Arial"/>
              </a:rPr>
              <a:t>(Cool) {1+, 0-}</a:t>
            </a:r>
          </a:p>
          <a:p>
            <a:pPr>
              <a:lnSpc>
                <a:spcPts val="2494"/>
              </a:lnSpc>
            </a:pPr>
            <a:endParaRPr lang="en-CA" sz="1402">
              <a:solidFill>
                <a:srgbClr val="000000"/>
              </a:solidFill>
            </a:endParaRPr>
          </a:p>
        </p:txBody>
      </p:sp>
      <p:sp>
        <p:nvSpPr>
          <p:cNvPr id="7" name="TextBox 7"/>
          <p:cNvSpPr txBox="1"/>
          <p:nvPr/>
        </p:nvSpPr>
        <p:spPr>
          <a:xfrm>
            <a:off x="2310079" y="4168339"/>
            <a:ext cx="777129" cy="411895"/>
          </a:xfrm>
          <a:prstGeom prst="rect">
            <a:avLst/>
          </a:prstGeom>
          <a:noFill/>
        </p:spPr>
        <p:txBody>
          <a:bodyPr vert="horz" wrap="none" lIns="0" tIns="0" rIns="0" bIns="0" rtlCol="0">
            <a:spAutoFit/>
          </a:bodyPr>
          <a:lstStyle/>
          <a:p>
            <a:pPr>
              <a:lnSpc>
                <a:spcPts val="1606"/>
              </a:lnSpc>
            </a:pPr>
            <a:r>
              <a:rPr lang="en-CA" sz="1412" b="1">
                <a:solidFill>
                  <a:srgbClr val="000000"/>
                </a:solidFill>
                <a:latin typeface="Arial Bold"/>
                <a:cs typeface="Arial Bold"/>
              </a:rPr>
              <a:t>Humidity</a:t>
            </a:r>
          </a:p>
          <a:p>
            <a:pPr>
              <a:lnSpc>
                <a:spcPts val="1616"/>
              </a:lnSpc>
            </a:pPr>
            <a:endParaRPr lang="en-CA" sz="1402">
              <a:solidFill>
                <a:srgbClr val="000000"/>
              </a:solidFill>
            </a:endParaRPr>
          </a:p>
        </p:txBody>
      </p:sp>
      <p:sp>
        <p:nvSpPr>
          <p:cNvPr id="8" name="TextBox 8"/>
          <p:cNvSpPr txBox="1"/>
          <p:nvPr/>
        </p:nvSpPr>
        <p:spPr>
          <a:xfrm>
            <a:off x="1978651" y="4385041"/>
            <a:ext cx="1330612" cy="965377"/>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(High)  {0+, 3-}</a:t>
            </a:r>
            <a:br>
              <a:rPr lang="en-CA" sz="1402">
                <a:solidFill>
                  <a:srgbClr val="000000"/>
                </a:solidFill>
                <a:latin typeface="Times New Roman"/>
              </a:rPr>
            </a:br>
            <a:r>
              <a:rPr lang="en-CA" sz="1402">
                <a:solidFill>
                  <a:srgbClr val="000000"/>
                </a:solidFill>
                <a:latin typeface="Arial"/>
                <a:cs typeface="Arial"/>
              </a:rPr>
              <a:t>(Normal) {2+, 0-}</a:t>
            </a:r>
          </a:p>
          <a:p>
            <a:pPr>
              <a:lnSpc>
                <a:spcPts val="2514"/>
              </a:lnSpc>
            </a:pPr>
            <a:endParaRPr lang="en-CA" sz="1402">
              <a:solidFill>
                <a:srgbClr val="000000"/>
              </a:solidFill>
            </a:endParaRPr>
          </a:p>
        </p:txBody>
      </p:sp>
      <p:sp>
        <p:nvSpPr>
          <p:cNvPr id="9" name="TextBox 9"/>
          <p:cNvSpPr txBox="1"/>
          <p:nvPr/>
        </p:nvSpPr>
        <p:spPr>
          <a:xfrm>
            <a:off x="2463044" y="5774487"/>
            <a:ext cx="442465" cy="411895"/>
          </a:xfrm>
          <a:prstGeom prst="rect">
            <a:avLst/>
          </a:prstGeom>
          <a:noFill/>
        </p:spPr>
        <p:txBody>
          <a:bodyPr vert="horz" wrap="none" lIns="0" tIns="0" rIns="0" bIns="0" rtlCol="0">
            <a:spAutoFit/>
          </a:bodyPr>
          <a:lstStyle/>
          <a:p>
            <a:pPr>
              <a:lnSpc>
                <a:spcPts val="1606"/>
              </a:lnSpc>
            </a:pPr>
            <a:r>
              <a:rPr lang="en-CA" sz="1412" b="1">
                <a:solidFill>
                  <a:srgbClr val="000000"/>
                </a:solidFill>
                <a:latin typeface="Arial Bold"/>
                <a:cs typeface="Arial Bold"/>
              </a:rPr>
              <a:t>Wind</a:t>
            </a:r>
          </a:p>
          <a:p>
            <a:pPr>
              <a:lnSpc>
                <a:spcPts val="1616"/>
              </a:lnSpc>
            </a:pPr>
            <a:endParaRPr lang="en-CA" sz="1402">
              <a:solidFill>
                <a:srgbClr val="000000"/>
              </a:solidFill>
            </a:endParaRPr>
          </a:p>
        </p:txBody>
      </p:sp>
      <p:sp>
        <p:nvSpPr>
          <p:cNvPr id="10" name="TextBox 10"/>
          <p:cNvSpPr txBox="1"/>
          <p:nvPr/>
        </p:nvSpPr>
        <p:spPr>
          <a:xfrm>
            <a:off x="1978651" y="5991190"/>
            <a:ext cx="1280733" cy="965377"/>
          </a:xfrm>
          <a:prstGeom prst="rect">
            <a:avLst/>
          </a:prstGeom>
          <a:noFill/>
        </p:spPr>
        <p:txBody>
          <a:bodyPr vert="horz" wrap="none" lIns="0" tIns="0" rIns="0" bIns="0" rtlCol="0">
            <a:spAutoFit/>
          </a:bodyPr>
          <a:lstStyle/>
          <a:p>
            <a:pPr>
              <a:lnSpc>
                <a:spcPts val="2509"/>
              </a:lnSpc>
            </a:pPr>
            <a:r>
              <a:rPr lang="en-CA" sz="1402">
                <a:solidFill>
                  <a:srgbClr val="000000"/>
                </a:solidFill>
                <a:latin typeface="Arial"/>
                <a:cs typeface="Arial"/>
              </a:rPr>
              <a:t>(Weak)  {1+, 2-}</a:t>
            </a:r>
            <a:br>
              <a:rPr lang="en-CA" sz="1402">
                <a:solidFill>
                  <a:srgbClr val="000000"/>
                </a:solidFill>
                <a:latin typeface="Times New Roman"/>
              </a:rPr>
            </a:br>
            <a:r>
              <a:rPr lang="en-CA" sz="1402">
                <a:solidFill>
                  <a:srgbClr val="000000"/>
                </a:solidFill>
                <a:latin typeface="Arial"/>
                <a:cs typeface="Arial"/>
              </a:rPr>
              <a:t>(Strong) {1+, 1-}</a:t>
            </a:r>
          </a:p>
          <a:p>
            <a:pPr>
              <a:lnSpc>
                <a:spcPts val="2514"/>
              </a:lnSpc>
            </a:pPr>
            <a:endParaRPr lang="en-CA" sz="1402">
              <a:solidFill>
                <a:srgbClr val="000000"/>
              </a:solidFill>
            </a:endParaRPr>
          </a:p>
        </p:txBody>
      </p:sp>
      <p:sp>
        <p:nvSpPr>
          <p:cNvPr id="11" name="TextBox 11"/>
          <p:cNvSpPr txBox="1"/>
          <p:nvPr/>
        </p:nvSpPr>
        <p:spPr>
          <a:xfrm>
            <a:off x="3890733" y="2409223"/>
            <a:ext cx="1634705" cy="901019"/>
          </a:xfrm>
          <a:prstGeom prst="rect">
            <a:avLst/>
          </a:prstGeom>
          <a:noFill/>
        </p:spPr>
        <p:txBody>
          <a:bodyPr vert="horz" wrap="none" lIns="0" tIns="0" rIns="0" bIns="0" rtlCol="0">
            <a:spAutoFit/>
          </a:bodyPr>
          <a:lstStyle/>
          <a:p>
            <a:pPr>
              <a:lnSpc>
                <a:spcPts val="2309"/>
              </a:lnSpc>
            </a:pPr>
            <a:r>
              <a:rPr lang="en-CA" sz="1608">
                <a:solidFill>
                  <a:srgbClr val="000000"/>
                </a:solidFill>
                <a:latin typeface="Arial"/>
                <a:cs typeface="Arial"/>
              </a:rPr>
              <a:t>Entropy(Mild) = 1</a:t>
            </a:r>
            <a:br>
              <a:rPr lang="en-CA" sz="1608">
                <a:solidFill>
                  <a:srgbClr val="000000"/>
                </a:solidFill>
                <a:latin typeface="Times New Roman"/>
              </a:rPr>
            </a:br>
            <a:r>
              <a:rPr lang="en-CA" sz="1608">
                <a:solidFill>
                  <a:srgbClr val="000000"/>
                </a:solidFill>
                <a:latin typeface="Arial"/>
                <a:cs typeface="Arial"/>
              </a:rPr>
              <a:t>Entropy(Cool) = 0</a:t>
            </a:r>
          </a:p>
          <a:p>
            <a:pPr>
              <a:lnSpc>
                <a:spcPts val="2374"/>
              </a:lnSpc>
            </a:pPr>
            <a:endParaRPr lang="en-CA" sz="1608">
              <a:solidFill>
                <a:srgbClr val="000000"/>
              </a:solidFill>
            </a:endParaRPr>
          </a:p>
        </p:txBody>
      </p:sp>
      <p:sp>
        <p:nvSpPr>
          <p:cNvPr id="12" name="TextBox 12"/>
          <p:cNvSpPr txBox="1"/>
          <p:nvPr/>
        </p:nvSpPr>
        <p:spPr>
          <a:xfrm>
            <a:off x="3890733" y="3199551"/>
            <a:ext cx="6103501"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Temperature) = 0.97095 - 2/5*0 - 2/5*1 - 1/5*0 = 0.57095</a:t>
            </a:r>
          </a:p>
          <a:p>
            <a:pPr>
              <a:lnSpc>
                <a:spcPts val="1847"/>
              </a:lnSpc>
            </a:pPr>
            <a:endParaRPr lang="en-CA" sz="1608">
              <a:solidFill>
                <a:srgbClr val="000000"/>
              </a:solidFill>
            </a:endParaRPr>
          </a:p>
        </p:txBody>
      </p:sp>
      <p:sp>
        <p:nvSpPr>
          <p:cNvPr id="13" name="TextBox 13"/>
          <p:cNvSpPr txBox="1"/>
          <p:nvPr/>
        </p:nvSpPr>
        <p:spPr>
          <a:xfrm>
            <a:off x="3826997" y="3989877"/>
            <a:ext cx="1876049" cy="1119838"/>
          </a:xfrm>
          <a:prstGeom prst="rect">
            <a:avLst/>
          </a:prstGeom>
          <a:noFill/>
        </p:spPr>
        <p:txBody>
          <a:bodyPr vert="horz" wrap="none" lIns="0" tIns="0" rIns="0" bIns="0" rtlCol="0">
            <a:spAutoFit/>
          </a:bodyPr>
          <a:lstStyle/>
          <a:p>
            <a:pPr>
              <a:lnSpc>
                <a:spcPts val="2911"/>
              </a:lnSpc>
            </a:pPr>
            <a:r>
              <a:rPr lang="en-CA" sz="1608">
                <a:solidFill>
                  <a:srgbClr val="000000"/>
                </a:solidFill>
                <a:latin typeface="Arial"/>
                <a:cs typeface="Arial"/>
              </a:rPr>
              <a:t>Entropy(High) = 0</a:t>
            </a:r>
            <a:br>
              <a:rPr lang="en-CA" sz="1608">
                <a:solidFill>
                  <a:srgbClr val="000000"/>
                </a:solidFill>
                <a:latin typeface="Times New Roman"/>
              </a:rPr>
            </a:br>
            <a:r>
              <a:rPr lang="en-CA" sz="1608">
                <a:solidFill>
                  <a:srgbClr val="000000"/>
                </a:solidFill>
                <a:latin typeface="Arial"/>
                <a:cs typeface="Arial"/>
              </a:rPr>
              <a:t>Entropy(Normal) = 0</a:t>
            </a:r>
          </a:p>
          <a:p>
            <a:pPr>
              <a:lnSpc>
                <a:spcPts val="2896"/>
              </a:lnSpc>
            </a:pPr>
            <a:endParaRPr lang="en-CA" sz="1608">
              <a:solidFill>
                <a:srgbClr val="000000"/>
              </a:solidFill>
            </a:endParaRPr>
          </a:p>
        </p:txBody>
      </p:sp>
      <p:sp>
        <p:nvSpPr>
          <p:cNvPr id="14" name="TextBox 14"/>
          <p:cNvSpPr txBox="1"/>
          <p:nvPr/>
        </p:nvSpPr>
        <p:spPr>
          <a:xfrm>
            <a:off x="3826997" y="4831194"/>
            <a:ext cx="5076276"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Humidity) = 0.97095 - 3/5*0 - 2/5*0 = </a:t>
            </a:r>
            <a:r>
              <a:rPr lang="en-CA" sz="1618" b="1">
                <a:solidFill>
                  <a:srgbClr val="000000"/>
                </a:solidFill>
                <a:latin typeface="Arial Bold"/>
                <a:cs typeface="Arial Bold"/>
              </a:rPr>
              <a:t>0.97095</a:t>
            </a:r>
          </a:p>
          <a:p>
            <a:pPr>
              <a:lnSpc>
                <a:spcPts val="1847"/>
              </a:lnSpc>
            </a:pPr>
            <a:endParaRPr lang="en-CA" sz="1608">
              <a:solidFill>
                <a:srgbClr val="000000"/>
              </a:solidFill>
            </a:endParaRPr>
          </a:p>
        </p:txBody>
      </p:sp>
      <p:sp>
        <p:nvSpPr>
          <p:cNvPr id="15" name="TextBox 15"/>
          <p:cNvSpPr txBox="1"/>
          <p:nvPr/>
        </p:nvSpPr>
        <p:spPr>
          <a:xfrm>
            <a:off x="3890733" y="5506795"/>
            <a:ext cx="2235942" cy="1119838"/>
          </a:xfrm>
          <a:prstGeom prst="rect">
            <a:avLst/>
          </a:prstGeom>
          <a:noFill/>
        </p:spPr>
        <p:txBody>
          <a:bodyPr vert="horz" wrap="none" lIns="0" tIns="0" rIns="0" bIns="0" rtlCol="0">
            <a:spAutoFit/>
          </a:bodyPr>
          <a:lstStyle/>
          <a:p>
            <a:pPr>
              <a:lnSpc>
                <a:spcPts val="2911"/>
              </a:lnSpc>
            </a:pPr>
            <a:r>
              <a:rPr lang="en-CA" sz="1608" dirty="0">
                <a:solidFill>
                  <a:srgbClr val="000000"/>
                </a:solidFill>
                <a:latin typeface="Arial"/>
                <a:cs typeface="Arial"/>
              </a:rPr>
              <a:t>Entropy(Weak) = 0.9183</a:t>
            </a:r>
            <a:br>
              <a:rPr lang="en-CA" sz="1608" dirty="0">
                <a:solidFill>
                  <a:srgbClr val="000000"/>
                </a:solidFill>
                <a:latin typeface="Times New Roman"/>
              </a:rPr>
            </a:br>
            <a:r>
              <a:rPr lang="en-CA" sz="1608" dirty="0">
                <a:solidFill>
                  <a:srgbClr val="000000"/>
                </a:solidFill>
                <a:latin typeface="Arial"/>
                <a:cs typeface="Arial"/>
              </a:rPr>
              <a:t>Entropy(Strong) = 1.0</a:t>
            </a:r>
          </a:p>
          <a:p>
            <a:pPr>
              <a:lnSpc>
                <a:spcPts val="2901"/>
              </a:lnSpc>
            </a:pPr>
            <a:endParaRPr lang="en-CA" sz="1608" dirty="0">
              <a:solidFill>
                <a:srgbClr val="000000"/>
              </a:solidFill>
            </a:endParaRPr>
          </a:p>
        </p:txBody>
      </p:sp>
      <p:sp>
        <p:nvSpPr>
          <p:cNvPr id="16" name="TextBox 16"/>
          <p:cNvSpPr txBox="1"/>
          <p:nvPr/>
        </p:nvSpPr>
        <p:spPr>
          <a:xfrm>
            <a:off x="3890733" y="6348112"/>
            <a:ext cx="5262915" cy="463381"/>
          </a:xfrm>
          <a:prstGeom prst="rect">
            <a:avLst/>
          </a:prstGeom>
          <a:noFill/>
        </p:spPr>
        <p:txBody>
          <a:bodyPr vert="horz" wrap="none" lIns="0" tIns="0" rIns="0" bIns="0" rtlCol="0">
            <a:spAutoFit/>
          </a:bodyPr>
          <a:lstStyle/>
          <a:p>
            <a:pPr>
              <a:lnSpc>
                <a:spcPts val="1807"/>
              </a:lnSpc>
            </a:pPr>
            <a:r>
              <a:rPr lang="en-CA" sz="1608">
                <a:solidFill>
                  <a:srgbClr val="000000"/>
                </a:solidFill>
                <a:latin typeface="Arial"/>
                <a:cs typeface="Arial"/>
              </a:rPr>
              <a:t>Gain(S1, Wind) = 0.97095 - 3/5*0.9183 - 2/5*1 = 0.01997</a:t>
            </a:r>
          </a:p>
          <a:p>
            <a:pPr>
              <a:lnSpc>
                <a:spcPts val="1847"/>
              </a:lnSpc>
            </a:pPr>
            <a:endParaRPr lang="en-CA" sz="1608">
              <a:solidFill>
                <a:srgbClr val="000000"/>
              </a:solidFill>
            </a:endParaRPr>
          </a:p>
        </p:txBody>
      </p:sp>
      <p:sp>
        <p:nvSpPr>
          <p:cNvPr id="18" name="Rectangle 17"/>
          <p:cNvSpPr/>
          <p:nvPr/>
        </p:nvSpPr>
        <p:spPr>
          <a:xfrm>
            <a:off x="1687183" y="2095995"/>
            <a:ext cx="8985066" cy="313989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7"/>
          </a:p>
        </p:txBody>
      </p:sp>
    </p:spTree>
    <p:extLst>
      <p:ext uri="{BB962C8B-B14F-4D97-AF65-F5344CB8AC3E}">
        <p14:creationId xmlns:p14="http://schemas.microsoft.com/office/powerpoint/2010/main" val="2905306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519751" y="0"/>
            <a:ext cx="9152498" cy="6845253"/>
          </a:xfrm>
          <a:prstGeom prst="rect">
            <a:avLst/>
          </a:prstGeom>
        </p:spPr>
      </p:pic>
      <p:sp>
        <p:nvSpPr>
          <p:cNvPr id="3" name="TextBox 2"/>
          <p:cNvSpPr txBox="1"/>
          <p:nvPr/>
        </p:nvSpPr>
        <p:spPr>
          <a:xfrm>
            <a:off x="3215131" y="191208"/>
            <a:ext cx="5772183" cy="1312913"/>
          </a:xfrm>
          <a:prstGeom prst="rect">
            <a:avLst/>
          </a:prstGeom>
          <a:noFill/>
        </p:spPr>
        <p:txBody>
          <a:bodyPr vert="horz" wrap="none" lIns="0" tIns="0" rIns="0" bIns="0" rtlCol="0">
            <a:spAutoFit/>
          </a:bodyPr>
          <a:lstStyle/>
          <a:p>
            <a:pPr>
              <a:lnSpc>
                <a:spcPts val="5079"/>
              </a:lnSpc>
            </a:pPr>
            <a:r>
              <a:rPr lang="en-CA" sz="4413">
                <a:solidFill>
                  <a:srgbClr val="000000"/>
                </a:solidFill>
                <a:latin typeface="Arial"/>
                <a:cs typeface="Arial"/>
              </a:rPr>
              <a:t>Modified Decision Tree</a:t>
            </a:r>
          </a:p>
          <a:p>
            <a:pPr>
              <a:lnSpc>
                <a:spcPts val="5079"/>
              </a:lnSpc>
            </a:pPr>
            <a:endParaRPr lang="en-CA" sz="4413">
              <a:solidFill>
                <a:srgbClr val="000000"/>
              </a:solidFill>
            </a:endParaRPr>
          </a:p>
        </p:txBody>
      </p:sp>
    </p:spTree>
    <p:extLst>
      <p:ext uri="{BB962C8B-B14F-4D97-AF65-F5344CB8AC3E}">
        <p14:creationId xmlns:p14="http://schemas.microsoft.com/office/powerpoint/2010/main" val="4369826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519751" y="0"/>
            <a:ext cx="9152498" cy="6845253"/>
          </a:xfrm>
          <a:prstGeom prst="rect">
            <a:avLst/>
          </a:prstGeom>
        </p:spPr>
      </p:pic>
      <p:sp>
        <p:nvSpPr>
          <p:cNvPr id="8" name="TextBox 2"/>
          <p:cNvSpPr txBox="1"/>
          <p:nvPr/>
        </p:nvSpPr>
        <p:spPr>
          <a:xfrm>
            <a:off x="4336885" y="191208"/>
            <a:ext cx="3689921" cy="1308050"/>
          </a:xfrm>
          <a:prstGeom prst="rect">
            <a:avLst/>
          </a:prstGeom>
          <a:noFill/>
        </p:spPr>
        <p:txBody>
          <a:bodyPr vert="horz" wrap="none" lIns="0" tIns="0" rIns="0" bIns="0" rtlCol="0">
            <a:spAutoFit/>
          </a:bodyPr>
          <a:lstStyle/>
          <a:p>
            <a:pPr>
              <a:lnSpc>
                <a:spcPts val="5079"/>
              </a:lnSpc>
            </a:pPr>
            <a:r>
              <a:rPr lang="en-CA" sz="4423" b="1" dirty="0">
                <a:solidFill>
                  <a:srgbClr val="000000"/>
                </a:solidFill>
                <a:latin typeface="Arial Bold"/>
                <a:cs typeface="Arial Bold"/>
              </a:rPr>
              <a:t>Gain (</a:t>
            </a:r>
            <a:r>
              <a:rPr lang="en-CA" sz="4423" b="1" dirty="0" err="1">
                <a:solidFill>
                  <a:srgbClr val="000000"/>
                </a:solidFill>
                <a:latin typeface="Arial Bold"/>
                <a:cs typeface="Arial Bold"/>
              </a:rPr>
              <a:t>S</a:t>
            </a:r>
            <a:r>
              <a:rPr lang="en-CA" sz="2918" b="1" dirty="0" err="1">
                <a:solidFill>
                  <a:srgbClr val="000000"/>
                </a:solidFill>
                <a:latin typeface="Arial Bold"/>
                <a:cs typeface="Arial Bold"/>
              </a:rPr>
              <a:t>Rain</a:t>
            </a:r>
            <a:r>
              <a:rPr lang="en-CA" sz="4423" b="1" dirty="0">
                <a:solidFill>
                  <a:srgbClr val="000000"/>
                </a:solidFill>
                <a:latin typeface="Arial Bold"/>
                <a:cs typeface="Arial Bold"/>
              </a:rPr>
              <a:t>, A)</a:t>
            </a:r>
          </a:p>
          <a:p>
            <a:pPr>
              <a:lnSpc>
                <a:spcPts val="5079"/>
              </a:lnSpc>
            </a:pPr>
            <a:endParaRPr lang="en-CA" sz="4413" dirty="0">
              <a:solidFill>
                <a:srgbClr val="000000"/>
              </a:solidFill>
            </a:endParaRPr>
          </a:p>
        </p:txBody>
      </p:sp>
      <p:sp>
        <p:nvSpPr>
          <p:cNvPr id="3" name="TextBox 3"/>
          <p:cNvSpPr txBox="1"/>
          <p:nvPr/>
        </p:nvSpPr>
        <p:spPr>
          <a:xfrm>
            <a:off x="1825684" y="5392071"/>
            <a:ext cx="1088624" cy="411895"/>
          </a:xfrm>
          <a:prstGeom prst="rect">
            <a:avLst/>
          </a:prstGeom>
          <a:noFill/>
        </p:spPr>
        <p:txBody>
          <a:bodyPr vert="horz" wrap="none" lIns="0" tIns="0" rIns="0" bIns="0" rtlCol="0">
            <a:spAutoFit/>
          </a:bodyPr>
          <a:lstStyle/>
          <a:p>
            <a:pPr>
              <a:lnSpc>
                <a:spcPts val="1616"/>
              </a:lnSpc>
            </a:pPr>
            <a:r>
              <a:rPr lang="en-CA" sz="1412" b="1">
                <a:solidFill>
                  <a:srgbClr val="000000"/>
                </a:solidFill>
                <a:latin typeface="Arial Bold"/>
                <a:cs typeface="Arial Bold"/>
              </a:rPr>
              <a:t>Temperature</a:t>
            </a:r>
          </a:p>
          <a:p>
            <a:pPr>
              <a:lnSpc>
                <a:spcPts val="1616"/>
              </a:lnSpc>
            </a:pPr>
            <a:endParaRPr lang="en-CA" sz="1402">
              <a:solidFill>
                <a:srgbClr val="000000"/>
              </a:solidFill>
            </a:endParaRPr>
          </a:p>
        </p:txBody>
      </p:sp>
      <p:sp>
        <p:nvSpPr>
          <p:cNvPr id="4" name="TextBox 4"/>
          <p:cNvSpPr txBox="1"/>
          <p:nvPr/>
        </p:nvSpPr>
        <p:spPr>
          <a:xfrm>
            <a:off x="1825684" y="5608773"/>
            <a:ext cx="1117294" cy="929100"/>
          </a:xfrm>
          <a:prstGeom prst="rect">
            <a:avLst/>
          </a:prstGeom>
          <a:noFill/>
        </p:spPr>
        <p:txBody>
          <a:bodyPr vert="horz" wrap="none" lIns="0" tIns="0" rIns="0" bIns="0" rtlCol="0">
            <a:spAutoFit/>
          </a:bodyPr>
          <a:lstStyle/>
          <a:p>
            <a:pPr>
              <a:lnSpc>
                <a:spcPts val="2509"/>
              </a:lnSpc>
            </a:pPr>
            <a:r>
              <a:rPr lang="en-CA" sz="1402" dirty="0">
                <a:solidFill>
                  <a:srgbClr val="000000"/>
                </a:solidFill>
                <a:latin typeface="Arial"/>
                <a:cs typeface="Arial"/>
              </a:rPr>
              <a:t>(Mild) {2+, 1-}</a:t>
            </a:r>
            <a:br>
              <a:rPr lang="en-CA" sz="1402" dirty="0">
                <a:solidFill>
                  <a:srgbClr val="000000"/>
                </a:solidFill>
                <a:latin typeface="Times New Roman"/>
              </a:rPr>
            </a:br>
            <a:r>
              <a:rPr lang="en-CA" sz="1402" dirty="0">
                <a:solidFill>
                  <a:srgbClr val="000000"/>
                </a:solidFill>
                <a:latin typeface="Arial"/>
                <a:cs typeface="Arial"/>
              </a:rPr>
              <a:t>(Cool) {1+, 1-}</a:t>
            </a:r>
          </a:p>
          <a:p>
            <a:pPr>
              <a:lnSpc>
                <a:spcPts val="2519"/>
              </a:lnSpc>
            </a:pPr>
            <a:endParaRPr lang="en-CA" sz="1402" dirty="0">
              <a:solidFill>
                <a:srgbClr val="000000"/>
              </a:solidFill>
            </a:endParaRPr>
          </a:p>
        </p:txBody>
      </p:sp>
      <p:sp>
        <p:nvSpPr>
          <p:cNvPr id="5" name="TextBox 5"/>
          <p:cNvSpPr txBox="1"/>
          <p:nvPr/>
        </p:nvSpPr>
        <p:spPr>
          <a:xfrm>
            <a:off x="3572052" y="5621521"/>
            <a:ext cx="2303069" cy="411895"/>
          </a:xfrm>
          <a:prstGeom prst="rect">
            <a:avLst/>
          </a:prstGeom>
          <a:noFill/>
        </p:spPr>
        <p:txBody>
          <a:bodyPr vert="horz" wrap="none" lIns="0" tIns="0" rIns="0" bIns="0" rtlCol="0">
            <a:spAutoFit/>
          </a:bodyPr>
          <a:lstStyle/>
          <a:p>
            <a:pPr>
              <a:lnSpc>
                <a:spcPts val="1606"/>
              </a:lnSpc>
              <a:tabLst>
                <a:tab pos="1835567" algn="l"/>
              </a:tabLst>
            </a:pPr>
            <a:r>
              <a:rPr lang="en-CA" sz="1412" b="1" dirty="0">
                <a:solidFill>
                  <a:srgbClr val="000000"/>
                </a:solidFill>
                <a:latin typeface="Arial Bold"/>
                <a:cs typeface="Arial Bold"/>
              </a:rPr>
              <a:t>Humidity	Wind</a:t>
            </a:r>
          </a:p>
          <a:p>
            <a:pPr>
              <a:lnSpc>
                <a:spcPts val="1616"/>
              </a:lnSpc>
            </a:pPr>
            <a:endParaRPr lang="en-CA" sz="1402" dirty="0">
              <a:solidFill>
                <a:srgbClr val="000000"/>
              </a:solidFill>
            </a:endParaRPr>
          </a:p>
        </p:txBody>
      </p:sp>
      <p:sp>
        <p:nvSpPr>
          <p:cNvPr id="6" name="TextBox 6"/>
          <p:cNvSpPr txBox="1"/>
          <p:nvPr/>
        </p:nvSpPr>
        <p:spPr>
          <a:xfrm>
            <a:off x="3278866" y="5940201"/>
            <a:ext cx="2963644" cy="411895"/>
          </a:xfrm>
          <a:prstGeom prst="rect">
            <a:avLst/>
          </a:prstGeom>
          <a:noFill/>
        </p:spPr>
        <p:txBody>
          <a:bodyPr vert="horz" wrap="none" lIns="0" tIns="0" rIns="0" bIns="0" rtlCol="0">
            <a:spAutoFit/>
          </a:bodyPr>
          <a:lstStyle/>
          <a:p>
            <a:pPr>
              <a:lnSpc>
                <a:spcPts val="1606"/>
              </a:lnSpc>
              <a:tabLst>
                <a:tab pos="1682603" algn="l"/>
              </a:tabLst>
            </a:pPr>
            <a:r>
              <a:rPr lang="en-CA" sz="1402">
                <a:solidFill>
                  <a:srgbClr val="000000"/>
                </a:solidFill>
                <a:latin typeface="Arial"/>
                <a:cs typeface="Arial"/>
              </a:rPr>
              <a:t>(High)  {1+, 1-}	(Weak)  {3+, 0-}</a:t>
            </a:r>
          </a:p>
          <a:p>
            <a:pPr>
              <a:lnSpc>
                <a:spcPts val="1616"/>
              </a:lnSpc>
            </a:pPr>
            <a:endParaRPr lang="en-CA" sz="1402">
              <a:solidFill>
                <a:srgbClr val="000000"/>
              </a:solidFill>
            </a:endParaRPr>
          </a:p>
        </p:txBody>
      </p:sp>
      <p:sp>
        <p:nvSpPr>
          <p:cNvPr id="7" name="TextBox 7"/>
          <p:cNvSpPr txBox="1"/>
          <p:nvPr/>
        </p:nvSpPr>
        <p:spPr>
          <a:xfrm>
            <a:off x="3278867" y="6258881"/>
            <a:ext cx="2986233" cy="411895"/>
          </a:xfrm>
          <a:prstGeom prst="rect">
            <a:avLst/>
          </a:prstGeom>
          <a:noFill/>
        </p:spPr>
        <p:txBody>
          <a:bodyPr vert="horz" wrap="none" lIns="0" tIns="0" rIns="0" bIns="0" rtlCol="0">
            <a:spAutoFit/>
          </a:bodyPr>
          <a:lstStyle/>
          <a:p>
            <a:pPr>
              <a:lnSpc>
                <a:spcPts val="1606"/>
              </a:lnSpc>
              <a:tabLst>
                <a:tab pos="1682603" algn="l"/>
              </a:tabLst>
            </a:pPr>
            <a:r>
              <a:rPr lang="en-CA" sz="1402">
                <a:solidFill>
                  <a:srgbClr val="000000"/>
                </a:solidFill>
                <a:latin typeface="Arial"/>
                <a:cs typeface="Arial"/>
              </a:rPr>
              <a:t>(Normal) {2+, 1-}	(Strong) {0+, 2-}</a:t>
            </a:r>
          </a:p>
          <a:p>
            <a:pPr>
              <a:lnSpc>
                <a:spcPts val="1616"/>
              </a:lnSpc>
            </a:pPr>
            <a:endParaRPr lang="en-CA" sz="1402">
              <a:solidFill>
                <a:srgbClr val="000000"/>
              </a:solidFill>
            </a:endParaRPr>
          </a:p>
        </p:txBody>
      </p:sp>
    </p:spTree>
    <p:extLst>
      <p:ext uri="{BB962C8B-B14F-4D97-AF65-F5344CB8AC3E}">
        <p14:creationId xmlns:p14="http://schemas.microsoft.com/office/powerpoint/2010/main" val="31975955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l="34783" t="19904" r="8995" b="39000"/>
          <a:stretch/>
        </p:blipFill>
        <p:spPr>
          <a:xfrm>
            <a:off x="277084" y="1047008"/>
            <a:ext cx="7005460" cy="3873335"/>
          </a:xfrm>
          <a:prstGeom prst="rect">
            <a:avLst/>
          </a:prstGeom>
        </p:spPr>
      </p:pic>
      <p:sp>
        <p:nvSpPr>
          <p:cNvPr id="3" name="TextBox 2"/>
          <p:cNvSpPr txBox="1"/>
          <p:nvPr/>
        </p:nvSpPr>
        <p:spPr>
          <a:xfrm>
            <a:off x="3674030" y="229450"/>
            <a:ext cx="4840299" cy="654025"/>
          </a:xfrm>
          <a:prstGeom prst="rect">
            <a:avLst/>
          </a:prstGeom>
          <a:noFill/>
        </p:spPr>
        <p:txBody>
          <a:bodyPr vert="horz" wrap="none" lIns="0" tIns="0" rIns="0" bIns="0" rtlCol="0">
            <a:spAutoFit/>
          </a:bodyPr>
          <a:lstStyle/>
          <a:p>
            <a:pPr>
              <a:lnSpc>
                <a:spcPts val="5079"/>
              </a:lnSpc>
            </a:pPr>
            <a:r>
              <a:rPr lang="en-CA" sz="4413" dirty="0">
                <a:solidFill>
                  <a:srgbClr val="000000"/>
                </a:solidFill>
                <a:latin typeface="Arial"/>
                <a:cs typeface="Arial"/>
              </a:rPr>
              <a:t>Final Decision Tree</a:t>
            </a:r>
            <a:endParaRPr lang="en-CA" sz="4413" dirty="0">
              <a:solidFill>
                <a:srgbClr val="000000"/>
              </a:solidFill>
            </a:endParaRPr>
          </a:p>
        </p:txBody>
      </p:sp>
      <p:sp>
        <p:nvSpPr>
          <p:cNvPr id="4" name="TextBox 3"/>
          <p:cNvSpPr txBox="1"/>
          <p:nvPr/>
        </p:nvSpPr>
        <p:spPr>
          <a:xfrm>
            <a:off x="7503390" y="2662535"/>
            <a:ext cx="4633595" cy="923330"/>
          </a:xfrm>
          <a:prstGeom prst="rect">
            <a:avLst/>
          </a:prstGeom>
          <a:noFill/>
        </p:spPr>
        <p:txBody>
          <a:bodyPr wrap="square" rtlCol="0">
            <a:spAutoFit/>
          </a:bodyPr>
          <a:lstStyle/>
          <a:p>
            <a:r>
              <a:rPr lang="en-US" dirty="0">
                <a:solidFill>
                  <a:srgbClr val="0070C0"/>
                </a:solidFill>
              </a:rPr>
              <a:t>Whether Jon will play tennis or not on D15?</a:t>
            </a:r>
          </a:p>
          <a:p>
            <a:r>
              <a:rPr lang="en-US" dirty="0">
                <a:solidFill>
                  <a:srgbClr val="0070C0"/>
                </a:solidFill>
              </a:rPr>
              <a:t>	</a:t>
            </a:r>
            <a:r>
              <a:rPr lang="en-US" dirty="0">
                <a:solidFill>
                  <a:srgbClr val="002060"/>
                </a:solidFill>
                <a:effectLst>
                  <a:outerShdw blurRad="38100" dist="38100" dir="2700000" algn="tl">
                    <a:srgbClr val="000000">
                      <a:alpha val="43137"/>
                    </a:srgbClr>
                  </a:outerShdw>
                </a:effectLst>
              </a:rPr>
              <a:t>OL	Temp	Hum	Wind</a:t>
            </a:r>
          </a:p>
          <a:p>
            <a:r>
              <a:rPr lang="en-US" dirty="0">
                <a:solidFill>
                  <a:srgbClr val="FF0000"/>
                </a:solidFill>
              </a:rPr>
              <a:t>D15 	Rain	Mild	High	Weak ?</a:t>
            </a:r>
          </a:p>
        </p:txBody>
      </p:sp>
      <p:sp>
        <p:nvSpPr>
          <p:cNvPr id="5" name="Oval 4"/>
          <p:cNvSpPr/>
          <p:nvPr/>
        </p:nvSpPr>
        <p:spPr>
          <a:xfrm>
            <a:off x="8146473" y="2992582"/>
            <a:ext cx="1011382" cy="593283"/>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1028219" y="2962412"/>
            <a:ext cx="1011382" cy="593283"/>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1DBAE90A-E219-3FA6-3149-4BACCFA085AF}"/>
              </a:ext>
            </a:extLst>
          </p:cNvPr>
          <p:cNvCxnSpPr/>
          <p:nvPr/>
        </p:nvCxnSpPr>
        <p:spPr>
          <a:xfrm>
            <a:off x="7587341" y="3243943"/>
            <a:ext cx="42889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AF5C1B8-7566-012F-7335-A0AA874B2650}"/>
              </a:ext>
            </a:extLst>
          </p:cNvPr>
          <p:cNvCxnSpPr/>
          <p:nvPr/>
        </p:nvCxnSpPr>
        <p:spPr>
          <a:xfrm>
            <a:off x="7609109" y="3603173"/>
            <a:ext cx="4288972"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870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19751" y="229450"/>
            <a:ext cx="9152498" cy="1263295"/>
          </a:xfrm>
          <a:prstGeom prst="rect">
            <a:avLst/>
          </a:prstGeom>
          <a:noFill/>
        </p:spPr>
        <p:txBody>
          <a:bodyPr vert="horz" wrap="square" lIns="0" tIns="0" rIns="0" bIns="0" rtlCol="0">
            <a:spAutoFit/>
          </a:bodyPr>
          <a:lstStyle/>
          <a:p>
            <a:pPr algn="ctr">
              <a:lnSpc>
                <a:spcPts val="5079"/>
              </a:lnSpc>
            </a:pPr>
            <a:r>
              <a:rPr lang="en-CA" sz="3613" dirty="0">
                <a:solidFill>
                  <a:srgbClr val="000000"/>
                </a:solidFill>
                <a:latin typeface="Arial"/>
                <a:cs typeface="Arial"/>
              </a:rPr>
              <a:t>Assignment: </a:t>
            </a:r>
          </a:p>
          <a:p>
            <a:pPr algn="ctr">
              <a:lnSpc>
                <a:spcPts val="5079"/>
              </a:lnSpc>
            </a:pPr>
            <a:r>
              <a:rPr lang="en-CA" sz="3613" dirty="0">
                <a:solidFill>
                  <a:srgbClr val="000000"/>
                </a:solidFill>
                <a:latin typeface="Arial"/>
                <a:cs typeface="Arial"/>
              </a:rPr>
              <a:t>Obtain DT for the following data</a:t>
            </a:r>
            <a:endParaRPr lang="en-CA" sz="3613" dirty="0">
              <a:solidFill>
                <a:srgbClr val="000000"/>
              </a:solidFill>
            </a:endParaRPr>
          </a:p>
        </p:txBody>
      </p:sp>
      <p:graphicFrame>
        <p:nvGraphicFramePr>
          <p:cNvPr id="6" name="Table 6">
            <a:extLst>
              <a:ext uri="{FF2B5EF4-FFF2-40B4-BE49-F238E27FC236}">
                <a16:creationId xmlns:a16="http://schemas.microsoft.com/office/drawing/2014/main" id="{8A3641C2-DB3F-2549-C6B5-294004BEBE9D}"/>
              </a:ext>
            </a:extLst>
          </p:cNvPr>
          <p:cNvGraphicFramePr>
            <a:graphicFrameLocks noGrp="1"/>
          </p:cNvGraphicFramePr>
          <p:nvPr>
            <p:extLst>
              <p:ext uri="{D42A27DB-BD31-4B8C-83A1-F6EECF244321}">
                <p14:modId xmlns:p14="http://schemas.microsoft.com/office/powerpoint/2010/main" val="3158284338"/>
              </p:ext>
            </p:extLst>
          </p:nvPr>
        </p:nvGraphicFramePr>
        <p:xfrm>
          <a:off x="1934029" y="2232779"/>
          <a:ext cx="8128000" cy="2595880"/>
        </p:xfrm>
        <a:graphic>
          <a:graphicData uri="http://schemas.openxmlformats.org/drawingml/2006/table">
            <a:tbl>
              <a:tblPr firstRow="1" bandRow="1">
                <a:tableStyleId>{5940675A-B579-460E-94D1-54222C63F5DA}</a:tableStyleId>
              </a:tblPr>
              <a:tblGrid>
                <a:gridCol w="2032000">
                  <a:extLst>
                    <a:ext uri="{9D8B030D-6E8A-4147-A177-3AD203B41FA5}">
                      <a16:colId xmlns:a16="http://schemas.microsoft.com/office/drawing/2014/main" val="1750217416"/>
                    </a:ext>
                  </a:extLst>
                </a:gridCol>
                <a:gridCol w="2032000">
                  <a:extLst>
                    <a:ext uri="{9D8B030D-6E8A-4147-A177-3AD203B41FA5}">
                      <a16:colId xmlns:a16="http://schemas.microsoft.com/office/drawing/2014/main" val="2660625261"/>
                    </a:ext>
                  </a:extLst>
                </a:gridCol>
                <a:gridCol w="2032000">
                  <a:extLst>
                    <a:ext uri="{9D8B030D-6E8A-4147-A177-3AD203B41FA5}">
                      <a16:colId xmlns:a16="http://schemas.microsoft.com/office/drawing/2014/main" val="3482578831"/>
                    </a:ext>
                  </a:extLst>
                </a:gridCol>
                <a:gridCol w="2032000">
                  <a:extLst>
                    <a:ext uri="{9D8B030D-6E8A-4147-A177-3AD203B41FA5}">
                      <a16:colId xmlns:a16="http://schemas.microsoft.com/office/drawing/2014/main" val="1608445801"/>
                    </a:ext>
                  </a:extLst>
                </a:gridCol>
              </a:tblGrid>
              <a:tr h="370840">
                <a:tc>
                  <a:txBody>
                    <a:bodyPr/>
                    <a:lstStyle/>
                    <a:p>
                      <a:pPr algn="ctr"/>
                      <a:r>
                        <a:rPr lang="en-US" b="1" dirty="0"/>
                        <a:t>Instance</a:t>
                      </a:r>
                      <a:endParaRPr lang="en-IN" b="1" dirty="0"/>
                    </a:p>
                  </a:txBody>
                  <a:tcPr/>
                </a:tc>
                <a:tc>
                  <a:txBody>
                    <a:bodyPr/>
                    <a:lstStyle/>
                    <a:p>
                      <a:pPr algn="ctr"/>
                      <a:r>
                        <a:rPr lang="en-US" b="1" dirty="0"/>
                        <a:t>Attribute_1</a:t>
                      </a:r>
                      <a:endParaRPr lang="en-IN" b="1" dirty="0"/>
                    </a:p>
                  </a:txBody>
                  <a:tcPr/>
                </a:tc>
                <a:tc>
                  <a:txBody>
                    <a:bodyPr/>
                    <a:lstStyle/>
                    <a:p>
                      <a:pPr algn="ctr"/>
                      <a:r>
                        <a:rPr lang="en-US" b="1" dirty="0"/>
                        <a:t>Attribute_2</a:t>
                      </a:r>
                      <a:endParaRPr lang="en-IN" b="1" dirty="0"/>
                    </a:p>
                  </a:txBody>
                  <a:tcPr/>
                </a:tc>
                <a:tc>
                  <a:txBody>
                    <a:bodyPr/>
                    <a:lstStyle/>
                    <a:p>
                      <a:pPr algn="ctr"/>
                      <a:r>
                        <a:rPr lang="en-US" b="1" dirty="0"/>
                        <a:t>Class</a:t>
                      </a:r>
                      <a:endParaRPr lang="en-IN" b="1" dirty="0"/>
                    </a:p>
                  </a:txBody>
                  <a:tcPr/>
                </a:tc>
                <a:extLst>
                  <a:ext uri="{0D108BD9-81ED-4DB2-BD59-A6C34878D82A}">
                    <a16:rowId xmlns:a16="http://schemas.microsoft.com/office/drawing/2014/main" val="735811918"/>
                  </a:ext>
                </a:extLst>
              </a:tr>
              <a:tr h="370840">
                <a:tc>
                  <a:txBody>
                    <a:bodyPr/>
                    <a:lstStyle/>
                    <a:p>
                      <a:pPr algn="ctr"/>
                      <a:r>
                        <a:rPr lang="en-US" b="1" dirty="0"/>
                        <a:t>1</a:t>
                      </a:r>
                      <a:endParaRPr lang="en-IN" b="1" dirty="0"/>
                    </a:p>
                  </a:txBody>
                  <a:tcPr/>
                </a:tc>
                <a:tc>
                  <a:txBody>
                    <a:bodyPr/>
                    <a:lstStyle/>
                    <a:p>
                      <a:pPr algn="ctr"/>
                      <a:r>
                        <a:rPr lang="en-US" b="1" dirty="0"/>
                        <a:t>T</a:t>
                      </a:r>
                      <a:endParaRPr lang="en-IN" b="1" dirty="0"/>
                    </a:p>
                  </a:txBody>
                  <a:tcPr/>
                </a:tc>
                <a:tc>
                  <a:txBody>
                    <a:bodyPr/>
                    <a:lstStyle/>
                    <a:p>
                      <a:pPr algn="ctr"/>
                      <a:r>
                        <a:rPr lang="en-US" b="1" dirty="0"/>
                        <a:t>T</a:t>
                      </a:r>
                      <a:endParaRPr lang="en-IN" b="1" dirty="0"/>
                    </a:p>
                  </a:txBody>
                  <a:tcPr/>
                </a:tc>
                <a:tc>
                  <a:txBody>
                    <a:bodyPr/>
                    <a:lstStyle/>
                    <a:p>
                      <a:pPr algn="ctr"/>
                      <a:r>
                        <a:rPr lang="en-US" b="1" dirty="0"/>
                        <a:t>+</a:t>
                      </a:r>
                      <a:endParaRPr lang="en-IN" b="1" dirty="0"/>
                    </a:p>
                  </a:txBody>
                  <a:tcPr/>
                </a:tc>
                <a:extLst>
                  <a:ext uri="{0D108BD9-81ED-4DB2-BD59-A6C34878D82A}">
                    <a16:rowId xmlns:a16="http://schemas.microsoft.com/office/drawing/2014/main" val="658504412"/>
                  </a:ext>
                </a:extLst>
              </a:tr>
              <a:tr h="370840">
                <a:tc>
                  <a:txBody>
                    <a:bodyPr/>
                    <a:lstStyle/>
                    <a:p>
                      <a:pPr algn="ctr"/>
                      <a:r>
                        <a:rPr lang="en-US" b="1" dirty="0"/>
                        <a:t>2</a:t>
                      </a:r>
                      <a:endParaRPr lang="en-IN" b="1" dirty="0"/>
                    </a:p>
                  </a:txBody>
                  <a:tcPr/>
                </a:tc>
                <a:tc>
                  <a:txBody>
                    <a:bodyPr/>
                    <a:lstStyle/>
                    <a:p>
                      <a:pPr algn="ctr"/>
                      <a:r>
                        <a:rPr lang="en-US" b="1" dirty="0"/>
                        <a:t>T</a:t>
                      </a:r>
                      <a:endParaRPr lang="en-IN" b="1" dirty="0"/>
                    </a:p>
                  </a:txBody>
                  <a:tcPr/>
                </a:tc>
                <a:tc>
                  <a:txBody>
                    <a:bodyPr/>
                    <a:lstStyle/>
                    <a:p>
                      <a:pPr algn="ctr"/>
                      <a:r>
                        <a:rPr lang="en-US" b="1" dirty="0"/>
                        <a:t>T</a:t>
                      </a:r>
                      <a:endParaRPr lang="en-IN" b="1" dirty="0"/>
                    </a:p>
                  </a:txBody>
                  <a:tcPr/>
                </a:tc>
                <a:tc>
                  <a:txBody>
                    <a:bodyPr/>
                    <a:lstStyle/>
                    <a:p>
                      <a:pPr algn="ctr"/>
                      <a:r>
                        <a:rPr lang="en-US" b="1" dirty="0"/>
                        <a:t>+</a:t>
                      </a:r>
                      <a:endParaRPr lang="en-IN" b="1" dirty="0"/>
                    </a:p>
                  </a:txBody>
                  <a:tcPr/>
                </a:tc>
                <a:extLst>
                  <a:ext uri="{0D108BD9-81ED-4DB2-BD59-A6C34878D82A}">
                    <a16:rowId xmlns:a16="http://schemas.microsoft.com/office/drawing/2014/main" val="2185046540"/>
                  </a:ext>
                </a:extLst>
              </a:tr>
              <a:tr h="370840">
                <a:tc>
                  <a:txBody>
                    <a:bodyPr/>
                    <a:lstStyle/>
                    <a:p>
                      <a:pPr algn="ctr"/>
                      <a:r>
                        <a:rPr lang="en-US" b="1" dirty="0"/>
                        <a:t>3</a:t>
                      </a:r>
                      <a:endParaRPr lang="en-IN" b="1" dirty="0"/>
                    </a:p>
                  </a:txBody>
                  <a:tcPr/>
                </a:tc>
                <a:tc>
                  <a:txBody>
                    <a:bodyPr/>
                    <a:lstStyle/>
                    <a:p>
                      <a:pPr algn="ctr"/>
                      <a:r>
                        <a:rPr lang="en-US" b="1" dirty="0"/>
                        <a:t>T</a:t>
                      </a:r>
                      <a:endParaRPr lang="en-IN" b="1" dirty="0"/>
                    </a:p>
                  </a:txBody>
                  <a:tcPr/>
                </a:tc>
                <a:tc>
                  <a:txBody>
                    <a:bodyPr/>
                    <a:lstStyle/>
                    <a:p>
                      <a:pPr algn="ctr"/>
                      <a:r>
                        <a:rPr lang="en-US" b="1" dirty="0"/>
                        <a:t>F</a:t>
                      </a:r>
                      <a:endParaRPr lang="en-IN" b="1" dirty="0"/>
                    </a:p>
                  </a:txBody>
                  <a:tcPr/>
                </a:tc>
                <a:tc>
                  <a:txBody>
                    <a:bodyPr/>
                    <a:lstStyle/>
                    <a:p>
                      <a:pPr algn="ctr"/>
                      <a:r>
                        <a:rPr lang="en-US" b="1" dirty="0"/>
                        <a:t>-</a:t>
                      </a:r>
                      <a:endParaRPr lang="en-IN" b="1" dirty="0"/>
                    </a:p>
                  </a:txBody>
                  <a:tcPr/>
                </a:tc>
                <a:extLst>
                  <a:ext uri="{0D108BD9-81ED-4DB2-BD59-A6C34878D82A}">
                    <a16:rowId xmlns:a16="http://schemas.microsoft.com/office/drawing/2014/main" val="22883862"/>
                  </a:ext>
                </a:extLst>
              </a:tr>
              <a:tr h="370840">
                <a:tc>
                  <a:txBody>
                    <a:bodyPr/>
                    <a:lstStyle/>
                    <a:p>
                      <a:pPr algn="ctr"/>
                      <a:r>
                        <a:rPr lang="en-US" b="1" dirty="0"/>
                        <a:t>4</a:t>
                      </a:r>
                      <a:endParaRPr lang="en-IN" b="1" dirty="0"/>
                    </a:p>
                  </a:txBody>
                  <a:tcPr/>
                </a:tc>
                <a:tc>
                  <a:txBody>
                    <a:bodyPr/>
                    <a:lstStyle/>
                    <a:p>
                      <a:pPr algn="ctr"/>
                      <a:r>
                        <a:rPr lang="en-US" b="1" dirty="0"/>
                        <a:t>F</a:t>
                      </a:r>
                      <a:endParaRPr lang="en-IN" b="1" dirty="0"/>
                    </a:p>
                  </a:txBody>
                  <a:tcPr/>
                </a:tc>
                <a:tc>
                  <a:txBody>
                    <a:bodyPr/>
                    <a:lstStyle/>
                    <a:p>
                      <a:pPr algn="ctr"/>
                      <a:r>
                        <a:rPr lang="en-US" b="1" dirty="0"/>
                        <a:t>F</a:t>
                      </a:r>
                      <a:endParaRPr lang="en-IN" b="1" dirty="0"/>
                    </a:p>
                  </a:txBody>
                  <a:tcPr/>
                </a:tc>
                <a:tc>
                  <a:txBody>
                    <a:bodyPr/>
                    <a:lstStyle/>
                    <a:p>
                      <a:pPr algn="ctr"/>
                      <a:r>
                        <a:rPr lang="en-US" b="1" dirty="0"/>
                        <a:t>+</a:t>
                      </a:r>
                      <a:endParaRPr lang="en-IN" b="1" dirty="0"/>
                    </a:p>
                  </a:txBody>
                  <a:tcPr/>
                </a:tc>
                <a:extLst>
                  <a:ext uri="{0D108BD9-81ED-4DB2-BD59-A6C34878D82A}">
                    <a16:rowId xmlns:a16="http://schemas.microsoft.com/office/drawing/2014/main" val="1903652192"/>
                  </a:ext>
                </a:extLst>
              </a:tr>
              <a:tr h="370840">
                <a:tc>
                  <a:txBody>
                    <a:bodyPr/>
                    <a:lstStyle/>
                    <a:p>
                      <a:pPr algn="ctr"/>
                      <a:r>
                        <a:rPr lang="en-US" b="1" dirty="0"/>
                        <a:t>5</a:t>
                      </a:r>
                      <a:endParaRPr lang="en-IN" b="1" dirty="0"/>
                    </a:p>
                  </a:txBody>
                  <a:tcPr/>
                </a:tc>
                <a:tc>
                  <a:txBody>
                    <a:bodyPr/>
                    <a:lstStyle/>
                    <a:p>
                      <a:pPr algn="ctr"/>
                      <a:r>
                        <a:rPr lang="en-US" b="1" dirty="0"/>
                        <a:t>F</a:t>
                      </a:r>
                      <a:endParaRPr lang="en-IN" b="1" dirty="0"/>
                    </a:p>
                  </a:txBody>
                  <a:tcPr/>
                </a:tc>
                <a:tc>
                  <a:txBody>
                    <a:bodyPr/>
                    <a:lstStyle/>
                    <a:p>
                      <a:pPr algn="ctr"/>
                      <a:r>
                        <a:rPr lang="en-US" b="1" dirty="0"/>
                        <a:t>T</a:t>
                      </a:r>
                      <a:endParaRPr lang="en-IN" b="1" dirty="0"/>
                    </a:p>
                  </a:txBody>
                  <a:tcPr/>
                </a:tc>
                <a:tc>
                  <a:txBody>
                    <a:bodyPr/>
                    <a:lstStyle/>
                    <a:p>
                      <a:pPr algn="ctr"/>
                      <a:r>
                        <a:rPr lang="en-US" b="1" dirty="0"/>
                        <a:t>-</a:t>
                      </a:r>
                      <a:endParaRPr lang="en-IN" b="1" dirty="0"/>
                    </a:p>
                  </a:txBody>
                  <a:tcPr/>
                </a:tc>
                <a:extLst>
                  <a:ext uri="{0D108BD9-81ED-4DB2-BD59-A6C34878D82A}">
                    <a16:rowId xmlns:a16="http://schemas.microsoft.com/office/drawing/2014/main" val="3866619233"/>
                  </a:ext>
                </a:extLst>
              </a:tr>
              <a:tr h="370840">
                <a:tc>
                  <a:txBody>
                    <a:bodyPr/>
                    <a:lstStyle/>
                    <a:p>
                      <a:pPr algn="ctr"/>
                      <a:r>
                        <a:rPr lang="en-US" b="1" dirty="0"/>
                        <a:t>6</a:t>
                      </a:r>
                      <a:endParaRPr lang="en-IN" b="1" dirty="0"/>
                    </a:p>
                  </a:txBody>
                  <a:tcPr/>
                </a:tc>
                <a:tc>
                  <a:txBody>
                    <a:bodyPr/>
                    <a:lstStyle/>
                    <a:p>
                      <a:pPr algn="ctr"/>
                      <a:r>
                        <a:rPr lang="en-US" b="1" dirty="0"/>
                        <a:t>F</a:t>
                      </a:r>
                      <a:endParaRPr lang="en-IN" b="1" dirty="0"/>
                    </a:p>
                  </a:txBody>
                  <a:tcPr/>
                </a:tc>
                <a:tc>
                  <a:txBody>
                    <a:bodyPr/>
                    <a:lstStyle/>
                    <a:p>
                      <a:pPr algn="ctr"/>
                      <a:r>
                        <a:rPr lang="en-US" b="1" dirty="0"/>
                        <a:t>T</a:t>
                      </a:r>
                      <a:endParaRPr lang="en-IN" b="1" dirty="0"/>
                    </a:p>
                  </a:txBody>
                  <a:tcPr/>
                </a:tc>
                <a:tc>
                  <a:txBody>
                    <a:bodyPr/>
                    <a:lstStyle/>
                    <a:p>
                      <a:pPr algn="ctr"/>
                      <a:r>
                        <a:rPr lang="en-US" b="1" dirty="0"/>
                        <a:t>-</a:t>
                      </a:r>
                      <a:endParaRPr lang="en-IN" b="1" dirty="0"/>
                    </a:p>
                  </a:txBody>
                  <a:tcPr/>
                </a:tc>
                <a:extLst>
                  <a:ext uri="{0D108BD9-81ED-4DB2-BD59-A6C34878D82A}">
                    <a16:rowId xmlns:a16="http://schemas.microsoft.com/office/drawing/2014/main" val="1192794753"/>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4844" y="319956"/>
            <a:ext cx="7848872" cy="643766"/>
          </a:xfrm>
          <a:prstGeom prst="rect">
            <a:avLst/>
          </a:prstGeom>
        </p:spPr>
        <p:txBody>
          <a:bodyPr wrap="square">
            <a:spAutoFit/>
          </a:bodyPr>
          <a:lstStyle/>
          <a:p>
            <a:pPr algn="ctr">
              <a:lnSpc>
                <a:spcPts val="4300"/>
              </a:lnSpc>
              <a:tabLst>
                <a:tab pos="800100" algn="l"/>
              </a:tabLst>
            </a:pPr>
            <a:r>
              <a:rPr lang="en-CA" sz="2400" b="1" dirty="0">
                <a:solidFill>
                  <a:srgbClr val="000000"/>
                </a:solidFill>
                <a:latin typeface="Arial Bold"/>
                <a:cs typeface="Arial Bold"/>
              </a:rPr>
              <a:t>Capabilities and Limitations of ID3 Algorithm</a:t>
            </a:r>
            <a:endParaRPr lang="en-US" sz="2400" dirty="0"/>
          </a:p>
        </p:txBody>
      </p:sp>
      <p:sp>
        <p:nvSpPr>
          <p:cNvPr id="3" name="Rectangle 2"/>
          <p:cNvSpPr/>
          <p:nvPr/>
        </p:nvSpPr>
        <p:spPr>
          <a:xfrm>
            <a:off x="310828" y="1400076"/>
            <a:ext cx="8424936" cy="4054956"/>
          </a:xfrm>
          <a:prstGeom prst="rect">
            <a:avLst/>
          </a:prstGeom>
        </p:spPr>
        <p:txBody>
          <a:bodyPr wrap="square">
            <a:spAutoFit/>
          </a:bodyPr>
          <a:lstStyle/>
          <a:p>
            <a:pPr algn="just"/>
            <a:r>
              <a:rPr lang="en-CA" sz="2400" dirty="0">
                <a:cs typeface="Arial Bold"/>
              </a:rPr>
              <a:t>Advantage: </a:t>
            </a:r>
          </a:p>
          <a:p>
            <a:pPr marL="285750" indent="-285750" algn="just">
              <a:buFont typeface="Arial" panose="020B0604020202020204" pitchFamily="34" charset="0"/>
              <a:buChar char="•"/>
            </a:pPr>
            <a:endParaRPr lang="en-CA" sz="2400" dirty="0">
              <a:cs typeface="Arial Bold"/>
            </a:endParaRPr>
          </a:p>
          <a:p>
            <a:pPr marL="285750" indent="-285750" algn="just">
              <a:buFont typeface="Arial" panose="020B0604020202020204" pitchFamily="34" charset="0"/>
              <a:buChar char="•"/>
            </a:pPr>
            <a:r>
              <a:rPr lang="en-CA" sz="2400" dirty="0">
                <a:cs typeface="Arial Bold"/>
              </a:rPr>
              <a:t>ID3 algorithm searches complete hypothesis space</a:t>
            </a:r>
          </a:p>
          <a:p>
            <a:pPr marL="285750" indent="-285750" algn="just">
              <a:buFont typeface="Arial" panose="020B0604020202020204" pitchFamily="34" charset="0"/>
              <a:buChar char="•"/>
            </a:pPr>
            <a:endParaRPr lang="en-CA" sz="2400" dirty="0">
              <a:cs typeface="Arial Bold"/>
            </a:endParaRPr>
          </a:p>
          <a:p>
            <a:pPr marL="285750" indent="-285750" algn="just">
              <a:buFont typeface="Arial" panose="020B0604020202020204" pitchFamily="34" charset="0"/>
              <a:buChar char="•"/>
            </a:pPr>
            <a:r>
              <a:rPr lang="en-CA" sz="2400" dirty="0">
                <a:cs typeface="Arial Bold"/>
              </a:rPr>
              <a:t>ID3 uses all training examples at each step in the search. </a:t>
            </a:r>
            <a:endParaRPr lang="en-CA" sz="2400" dirty="0">
              <a:cs typeface="Arial"/>
            </a:endParaRPr>
          </a:p>
          <a:p>
            <a:pPr marL="285750" indent="-285750" algn="just">
              <a:buFont typeface="Arial" panose="020B0604020202020204" pitchFamily="34" charset="0"/>
              <a:buChar char="•"/>
            </a:pPr>
            <a:endParaRPr lang="en-CA" sz="2400" dirty="0">
              <a:cs typeface="Arial"/>
            </a:endParaRPr>
          </a:p>
          <a:p>
            <a:pPr marL="342900" indent="-342900" algn="just">
              <a:buFont typeface="Arial" panose="020B0604020202020204" pitchFamily="34" charset="0"/>
              <a:buChar char="•"/>
            </a:pPr>
            <a:r>
              <a:rPr lang="en-CA" sz="2400" dirty="0">
                <a:cs typeface="Arial Bold"/>
              </a:rPr>
              <a:t>The resulting search is much less sensitive to errors in individual training examples</a:t>
            </a:r>
            <a:r>
              <a:rPr lang="en-CA" sz="2400" dirty="0">
                <a:cs typeface="Arial"/>
              </a:rPr>
              <a:t>.</a:t>
            </a:r>
            <a:endParaRPr lang="en-CA" sz="2400" dirty="0">
              <a:cs typeface="Arial Bold"/>
            </a:endParaRPr>
          </a:p>
          <a:p>
            <a:pPr algn="just"/>
            <a:endParaRPr lang="en-CA" sz="2400" dirty="0">
              <a:cs typeface="Arial Bold"/>
            </a:endParaRPr>
          </a:p>
          <a:p>
            <a:pPr marL="285750" indent="-285750" algn="just">
              <a:buFont typeface="Arial" panose="020B0604020202020204" pitchFamily="34" charset="0"/>
              <a:buChar char="•"/>
            </a:pPr>
            <a:endParaRPr lang="en-CA" sz="2400" dirty="0">
              <a:cs typeface="Arial"/>
            </a:endParaRPr>
          </a:p>
          <a:p>
            <a:pPr marL="285750" indent="-285750" algn="just">
              <a:lnSpc>
                <a:spcPts val="2070"/>
              </a:lnSpc>
              <a:buFont typeface="Arial" panose="020B0604020202020204" pitchFamily="34" charset="0"/>
              <a:buChar char="•"/>
            </a:pPr>
            <a:endParaRPr lang="en-CA" sz="2400" dirty="0">
              <a:cs typeface="Arial Bold"/>
            </a:endParaRPr>
          </a:p>
        </p:txBody>
      </p:sp>
    </p:spTree>
    <p:extLst>
      <p:ext uri="{BB962C8B-B14F-4D97-AF65-F5344CB8AC3E}">
        <p14:creationId xmlns:p14="http://schemas.microsoft.com/office/powerpoint/2010/main" val="31081990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2836" y="1313547"/>
            <a:ext cx="10853200" cy="4154984"/>
          </a:xfrm>
          <a:prstGeom prst="rect">
            <a:avLst/>
          </a:prstGeom>
        </p:spPr>
        <p:txBody>
          <a:bodyPr wrap="square">
            <a:spAutoFit/>
          </a:bodyPr>
          <a:lstStyle/>
          <a:p>
            <a:pPr marL="285750" indent="-285750" algn="just">
              <a:buFont typeface="Arial" panose="020B0604020202020204" pitchFamily="34" charset="0"/>
              <a:buChar char="•"/>
            </a:pPr>
            <a:r>
              <a:rPr lang="en-CA" sz="2400" dirty="0">
                <a:cs typeface="Arial"/>
              </a:rPr>
              <a:t>Disadvantage: </a:t>
            </a:r>
          </a:p>
          <a:p>
            <a:pPr marL="285750" indent="-285750" algn="just">
              <a:buFont typeface="Arial" panose="020B0604020202020204" pitchFamily="34" charset="0"/>
              <a:buChar char="•"/>
            </a:pPr>
            <a:endParaRPr lang="en-CA" sz="2400" dirty="0">
              <a:cs typeface="Arial"/>
            </a:endParaRPr>
          </a:p>
          <a:p>
            <a:pPr marL="742950" lvl="1" indent="-285750" algn="just">
              <a:buFont typeface="Arial" panose="020B0604020202020204" pitchFamily="34" charset="0"/>
              <a:buChar char="•"/>
            </a:pPr>
            <a:r>
              <a:rPr lang="en-CA" sz="2400" dirty="0">
                <a:cs typeface="Arial Bold"/>
              </a:rPr>
              <a:t>ID3 maintain only a single current hypothesis as it searches through the space of decision trees.</a:t>
            </a:r>
            <a:r>
              <a:rPr lang="en-CA" sz="2400" dirty="0">
                <a:cs typeface="Arial"/>
              </a:rPr>
              <a:t> Loses the capabilities of representing all consistent hypothesis. </a:t>
            </a:r>
          </a:p>
          <a:p>
            <a:pPr marL="285750" indent="-285750" algn="just">
              <a:buFont typeface="Arial" panose="020B0604020202020204" pitchFamily="34" charset="0"/>
              <a:buChar char="•"/>
            </a:pPr>
            <a:endParaRPr lang="en-CA" sz="2400" dirty="0">
              <a:cs typeface="Arial Bold"/>
            </a:endParaRPr>
          </a:p>
          <a:p>
            <a:pPr marL="742950" lvl="1" indent="-285750" algn="just">
              <a:buFont typeface="Arial" panose="020B0604020202020204" pitchFamily="34" charset="0"/>
              <a:buChar char="•"/>
            </a:pPr>
            <a:r>
              <a:rPr lang="en-CA" sz="2400" dirty="0">
                <a:cs typeface="Arial Bold"/>
              </a:rPr>
              <a:t>ID3 performs </a:t>
            </a:r>
            <a:r>
              <a:rPr lang="en-CA" sz="2400" b="1" dirty="0">
                <a:cs typeface="Arial Bold"/>
              </a:rPr>
              <a:t>no backtracking </a:t>
            </a:r>
            <a:r>
              <a:rPr lang="en-CA" sz="2400" dirty="0">
                <a:cs typeface="Arial Bold"/>
              </a:rPr>
              <a:t>in its search</a:t>
            </a:r>
            <a:r>
              <a:rPr lang="en-CA" sz="2400" dirty="0">
                <a:cs typeface="Arial"/>
              </a:rPr>
              <a:t>. </a:t>
            </a:r>
          </a:p>
          <a:p>
            <a:pPr marL="742950" lvl="1" indent="-285750" algn="just">
              <a:buFont typeface="Arial" panose="020B0604020202020204" pitchFamily="34" charset="0"/>
              <a:buChar char="•"/>
            </a:pPr>
            <a:endParaRPr lang="en-CA" sz="2400" dirty="0">
              <a:cs typeface="Arial"/>
            </a:endParaRPr>
          </a:p>
          <a:p>
            <a:pPr marL="1200150" lvl="2" indent="-285750" algn="just">
              <a:buFont typeface="Arial" panose="020B0604020202020204" pitchFamily="34" charset="0"/>
              <a:buChar char="•"/>
            </a:pPr>
            <a:r>
              <a:rPr lang="en-CA" sz="2400" dirty="0">
                <a:cs typeface="Arial"/>
              </a:rPr>
              <a:t>Once it selects an attribute to test at a particular level in the tree, it never backtracks to reconsider this choice. </a:t>
            </a:r>
          </a:p>
          <a:p>
            <a:pPr marL="1200150" lvl="2" indent="-285750" algn="just">
              <a:buFont typeface="Arial" panose="020B0604020202020204" pitchFamily="34" charset="0"/>
              <a:buChar char="•"/>
            </a:pPr>
            <a:r>
              <a:rPr lang="en-CA" sz="2400" dirty="0">
                <a:cs typeface="Arial"/>
              </a:rPr>
              <a:t>Therefore, </a:t>
            </a:r>
            <a:r>
              <a:rPr lang="en-CA" sz="2400" dirty="0">
                <a:cs typeface="Arial Bold"/>
              </a:rPr>
              <a:t>converging to locally optimal solutions that are not globally optimal</a:t>
            </a:r>
            <a:r>
              <a:rPr lang="en-CA" sz="2400" dirty="0">
                <a:cs typeface="Arial"/>
              </a:rPr>
              <a:t>. </a:t>
            </a:r>
          </a:p>
        </p:txBody>
      </p:sp>
      <p:sp>
        <p:nvSpPr>
          <p:cNvPr id="3" name="Rectangle 2"/>
          <p:cNvSpPr/>
          <p:nvPr/>
        </p:nvSpPr>
        <p:spPr>
          <a:xfrm>
            <a:off x="454844" y="319956"/>
            <a:ext cx="7848872" cy="643766"/>
          </a:xfrm>
          <a:prstGeom prst="rect">
            <a:avLst/>
          </a:prstGeom>
        </p:spPr>
        <p:txBody>
          <a:bodyPr wrap="square">
            <a:spAutoFit/>
          </a:bodyPr>
          <a:lstStyle/>
          <a:p>
            <a:pPr algn="ctr">
              <a:lnSpc>
                <a:spcPts val="4300"/>
              </a:lnSpc>
              <a:tabLst>
                <a:tab pos="800100" algn="l"/>
              </a:tabLst>
            </a:pPr>
            <a:r>
              <a:rPr lang="en-CA" sz="2400" b="1" dirty="0">
                <a:solidFill>
                  <a:srgbClr val="000000"/>
                </a:solidFill>
                <a:latin typeface="Arial Bold"/>
                <a:cs typeface="Arial Bold"/>
              </a:rPr>
              <a:t>Capabilities and Limitations of ID3 Algorithm</a:t>
            </a:r>
            <a:endParaRPr lang="en-US" sz="2400" dirty="0"/>
          </a:p>
        </p:txBody>
      </p:sp>
    </p:spTree>
    <p:extLst>
      <p:ext uri="{BB962C8B-B14F-4D97-AF65-F5344CB8AC3E}">
        <p14:creationId xmlns:p14="http://schemas.microsoft.com/office/powerpoint/2010/main" val="27087351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39636"/>
            <a:ext cx="12191999" cy="1015663"/>
          </a:xfrm>
          <a:prstGeom prst="rect">
            <a:avLst/>
          </a:prstGeom>
          <a:noFill/>
        </p:spPr>
        <p:txBody>
          <a:bodyPr wrap="square" rtlCol="0">
            <a:spAutoFit/>
          </a:bodyPr>
          <a:lstStyle/>
          <a:p>
            <a:pPr algn="ctr"/>
            <a:r>
              <a:rPr lang="en-US" sz="6000" dirty="0"/>
              <a:t>Thank you </a:t>
            </a:r>
          </a:p>
        </p:txBody>
      </p:sp>
    </p:spTree>
    <p:extLst>
      <p:ext uri="{BB962C8B-B14F-4D97-AF65-F5344CB8AC3E}">
        <p14:creationId xmlns:p14="http://schemas.microsoft.com/office/powerpoint/2010/main" val="2942509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5329</TotalTime>
  <Words>1345</Words>
  <Application>Microsoft Office PowerPoint</Application>
  <PresentationFormat>Widescreen</PresentationFormat>
  <Paragraphs>189</Paragraphs>
  <Slides>23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Arial Bold</vt:lpstr>
      <vt:lpstr>Arial Bold Italic</vt:lpstr>
      <vt:lpstr>Calibri</vt:lpstr>
      <vt:lpstr>Calibri Light</vt:lpstr>
      <vt:lpstr>Cambria Math</vt:lpstr>
      <vt:lpstr>Times New Roman</vt:lpstr>
      <vt:lpstr>Office Theme</vt:lpstr>
      <vt:lpstr>Part-1: Decision Tree Classifier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Arockiaraj S [MAHE-MSIS]</dc:creator>
  <cp:lastModifiedBy>Arockiaraj S [MAHE-MSIS]</cp:lastModifiedBy>
  <cp:revision>185</cp:revision>
  <dcterms:created xsi:type="dcterms:W3CDTF">2021-10-28T07:08:40Z</dcterms:created>
  <dcterms:modified xsi:type="dcterms:W3CDTF">2026-07-27T11:46:35Z</dcterms:modified>
</cp:coreProperties>
</file>