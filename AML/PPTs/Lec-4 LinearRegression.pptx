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8" r:id="rId3"/>
    <p:sldId id="278" r:id="rId4"/>
    <p:sldId id="279" r:id="rId5"/>
    <p:sldId id="270" r:id="rId6"/>
    <p:sldId id="569" r:id="rId7"/>
    <p:sldId id="570" r:id="rId8"/>
    <p:sldId id="572" r:id="rId9"/>
    <p:sldId id="573" r:id="rId10"/>
    <p:sldId id="574" r:id="rId11"/>
    <p:sldId id="575" r:id="rId12"/>
    <p:sldId id="576" r:id="rId13"/>
    <p:sldId id="577" r:id="rId14"/>
    <p:sldId id="578" r:id="rId15"/>
    <p:sldId id="271" r:id="rId16"/>
    <p:sldId id="579" r:id="rId17"/>
    <p:sldId id="580" r:id="rId18"/>
    <p:sldId id="581" r:id="rId19"/>
    <p:sldId id="582" r:id="rId20"/>
    <p:sldId id="585" r:id="rId21"/>
    <p:sldId id="583" r:id="rId22"/>
    <p:sldId id="601" r:id="rId23"/>
    <p:sldId id="596" r:id="rId24"/>
    <p:sldId id="598" r:id="rId25"/>
    <p:sldId id="608" r:id="rId26"/>
    <p:sldId id="615" r:id="rId27"/>
    <p:sldId id="258" r:id="rId28"/>
    <p:sldId id="617" r:id="rId29"/>
    <p:sldId id="618" r:id="rId30"/>
    <p:sldId id="620" r:id="rId31"/>
    <p:sldId id="61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9432D-0F38-4E4D-A442-37E4BAE94E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1E7EB-CC95-4751-A435-69420C916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6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1E7EB-CC95-4751-A435-69420C916D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8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0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5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4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9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1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6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2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9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7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9E01B-6B97-4E45-A2C6-7EEF233F4CB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63EDD-9015-47C2-A4D9-FF5B538C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8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blue text on a white background&#10;&#10;Description automatically generated"/>
          <p:cNvPicPr>
            <a:picLocks noChangeAspect="1"/>
          </p:cNvPicPr>
          <p:nvPr/>
        </p:nvPicPr>
        <p:blipFill rotWithShape="1">
          <a:blip r:embed="rId2"/>
          <a:srcRect l="32598" t="25140" r="5699" b="52658"/>
          <a:stretch/>
        </p:blipFill>
        <p:spPr>
          <a:xfrm>
            <a:off x="1263578" y="2361831"/>
            <a:ext cx="9664846" cy="195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40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4559-89DD-7A40-127C-F72663E3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5C6C5-8643-D870-9835-D92D7A3FE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is a powerful and widely used method to estimate values, such as </a:t>
            </a:r>
          </a:p>
          <a:p>
            <a:pPr lvl="1"/>
            <a:r>
              <a:rPr lang="en-US" dirty="0"/>
              <a:t>price of a house</a:t>
            </a:r>
          </a:p>
          <a:p>
            <a:pPr lvl="1"/>
            <a:r>
              <a:rPr lang="en-US" dirty="0"/>
              <a:t>value of a certain stock</a:t>
            </a:r>
          </a:p>
          <a:p>
            <a:pPr lvl="1"/>
            <a:r>
              <a:rPr lang="en-US" dirty="0"/>
              <a:t>life expectancy of an individual </a:t>
            </a:r>
          </a:p>
          <a:p>
            <a:pPr lvl="1"/>
            <a:r>
              <a:rPr lang="en-US" dirty="0"/>
              <a:t>amount of time a user will watch a video or spend on a website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22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Introduction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b="1" dirty="0"/>
              <a:t>Regression models</a:t>
            </a:r>
            <a:r>
              <a:rPr lang="en-US" sz="2400" dirty="0"/>
              <a:t> describe the relationship between variables by fitting a line to the observed data.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Linear regression models use a straight line, while nonlinear regression models use a curved line.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Regression allows you to estimate how a dependent variable changes as the independent variable(s) change.</a:t>
            </a:r>
          </a:p>
        </p:txBody>
      </p:sp>
    </p:spTree>
    <p:extLst>
      <p:ext uri="{BB962C8B-B14F-4D97-AF65-F5344CB8AC3E}">
        <p14:creationId xmlns:p14="http://schemas.microsoft.com/office/powerpoint/2010/main" val="41778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Simple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6640286" cy="466725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Simple linear regression</a:t>
            </a:r>
            <a:r>
              <a:rPr lang="en-US" sz="2400" dirty="0"/>
              <a:t> is used to estimate the relationship between</a:t>
            </a:r>
            <a:r>
              <a:rPr lang="en-US" sz="2400" b="1" dirty="0"/>
              <a:t> two quantitative variables</a:t>
            </a:r>
            <a:r>
              <a:rPr lang="en-US" sz="2400" dirty="0"/>
              <a:t>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You can use simple linear regression when you want to know:</a:t>
            </a:r>
          </a:p>
          <a:p>
            <a:pPr lvl="1" algn="just"/>
            <a:r>
              <a:rPr lang="en-US" sz="2000" b="1" dirty="0"/>
              <a:t>The relationship is between two variables </a:t>
            </a:r>
          </a:p>
          <a:p>
            <a:pPr lvl="1" algn="just"/>
            <a:r>
              <a:rPr lang="en-US" sz="2000" dirty="0"/>
              <a:t>e.g. the relationship between salary and experience.</a:t>
            </a:r>
          </a:p>
          <a:p>
            <a:pPr lvl="1" algn="just"/>
            <a:r>
              <a:rPr lang="en-US" sz="2000" dirty="0"/>
              <a:t>The value of the dependent variable at a certain value of the independent variable</a:t>
            </a:r>
          </a:p>
          <a:p>
            <a:pPr lvl="1" algn="just"/>
            <a:r>
              <a:rPr lang="en-US" sz="2000" dirty="0"/>
              <a:t>e.g. the salary at a certain level of experience.</a:t>
            </a:r>
          </a:p>
          <a:p>
            <a:pPr algn="just"/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D9DC5C-D9EE-BA4A-D111-E2B4521D7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391785"/>
              </p:ext>
            </p:extLst>
          </p:nvPr>
        </p:nvGraphicFramePr>
        <p:xfrm>
          <a:off x="7903029" y="1825625"/>
          <a:ext cx="3603172" cy="43138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1586">
                  <a:extLst>
                    <a:ext uri="{9D8B030D-6E8A-4147-A177-3AD203B41FA5}">
                      <a16:colId xmlns:a16="http://schemas.microsoft.com/office/drawing/2014/main" val="2481805007"/>
                    </a:ext>
                  </a:extLst>
                </a:gridCol>
                <a:gridCol w="1801586">
                  <a:extLst>
                    <a:ext uri="{9D8B030D-6E8A-4147-A177-3AD203B41FA5}">
                      <a16:colId xmlns:a16="http://schemas.microsoft.com/office/drawing/2014/main" val="3528301558"/>
                    </a:ext>
                  </a:extLst>
                </a:gridCol>
              </a:tblGrid>
              <a:tr h="838231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Experience (years)</a:t>
                      </a:r>
                    </a:p>
                    <a:p>
                      <a:pPr algn="ctr"/>
                      <a:r>
                        <a:rPr lang="en-US" b="1"/>
                        <a:t>(IDV)</a:t>
                      </a:r>
                      <a:endParaRPr lang="en-IN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Salary</a:t>
                      </a:r>
                    </a:p>
                    <a:p>
                      <a:pPr algn="ctr"/>
                      <a:r>
                        <a:rPr lang="en-US" b="1"/>
                        <a:t>(DV)</a:t>
                      </a:r>
                      <a:endParaRPr lang="en-IN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000023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39,343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426408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46,205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859465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37,731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169219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43,525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5844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39,891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6887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56,642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400886"/>
                  </a:ext>
                </a:extLst>
              </a:tr>
              <a:tr h="4856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60,150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40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34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155" t="21223" r="5700" b="8255"/>
          <a:stretch/>
        </p:blipFill>
        <p:spPr>
          <a:xfrm>
            <a:off x="805218" y="354842"/>
            <a:ext cx="10426889" cy="515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1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9922732" cy="599515"/>
          </a:xfrm>
          <a:custGeom>
            <a:avLst/>
            <a:gdLst/>
            <a:ahLst/>
            <a:cxnLst/>
            <a:rect l="l" t="t" r="r" b="b"/>
            <a:pathLst>
              <a:path w="15481300" h="935355">
                <a:moveTo>
                  <a:pt x="15481046" y="467664"/>
                </a:moveTo>
                <a:lnTo>
                  <a:pt x="15455138" y="373430"/>
                </a:lnTo>
                <a:lnTo>
                  <a:pt x="15380843" y="285673"/>
                </a:lnTo>
                <a:lnTo>
                  <a:pt x="15263241" y="206171"/>
                </a:lnTo>
                <a:lnTo>
                  <a:pt x="15107412" y="136956"/>
                </a:lnTo>
                <a:lnTo>
                  <a:pt x="14918563" y="79933"/>
                </a:lnTo>
                <a:lnTo>
                  <a:pt x="14701901" y="36753"/>
                </a:lnTo>
                <a:lnTo>
                  <a:pt x="14462379" y="9575"/>
                </a:lnTo>
                <a:lnTo>
                  <a:pt x="14205331" y="50"/>
                </a:lnTo>
                <a:lnTo>
                  <a:pt x="14006576" y="7416"/>
                </a:lnTo>
                <a:lnTo>
                  <a:pt x="14006576" y="0"/>
                </a:lnTo>
                <a:lnTo>
                  <a:pt x="0" y="0"/>
                </a:lnTo>
                <a:lnTo>
                  <a:pt x="0" y="935278"/>
                </a:lnTo>
                <a:lnTo>
                  <a:pt x="14006576" y="935278"/>
                </a:lnTo>
                <a:lnTo>
                  <a:pt x="14006576" y="928027"/>
                </a:lnTo>
                <a:lnTo>
                  <a:pt x="14205331" y="935278"/>
                </a:lnTo>
                <a:lnTo>
                  <a:pt x="14462379" y="925880"/>
                </a:lnTo>
                <a:lnTo>
                  <a:pt x="14701901" y="898575"/>
                </a:lnTo>
                <a:lnTo>
                  <a:pt x="14918563" y="855395"/>
                </a:lnTo>
                <a:lnTo>
                  <a:pt x="15107412" y="798372"/>
                </a:lnTo>
                <a:lnTo>
                  <a:pt x="15263241" y="729157"/>
                </a:lnTo>
                <a:lnTo>
                  <a:pt x="15380843" y="649655"/>
                </a:lnTo>
                <a:lnTo>
                  <a:pt x="15455138" y="561898"/>
                </a:lnTo>
                <a:lnTo>
                  <a:pt x="15481046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346677" y="204697"/>
            <a:ext cx="11453437" cy="6056105"/>
          </a:xfrm>
          <a:prstGeom prst="rect">
            <a:avLst/>
          </a:prstGeom>
        </p:spPr>
        <p:txBody>
          <a:bodyPr vert="horz" wrap="square" lIns="0" tIns="196175" rIns="0" bIns="0" rtlCol="0">
            <a:spAutoFit/>
          </a:bodyPr>
          <a:lstStyle/>
          <a:p>
            <a:pPr marL="8139">
              <a:spcBef>
                <a:spcPts val="1545"/>
              </a:spcBef>
            </a:pPr>
            <a:r>
              <a:rPr sz="4000" spc="-16" dirty="0">
                <a:solidFill>
                  <a:srgbClr val="FFFFFF"/>
                </a:solidFill>
                <a:latin typeface="Calibri"/>
                <a:cs typeface="Calibri"/>
              </a:rPr>
              <a:t>Population</a:t>
            </a:r>
            <a:r>
              <a:rPr sz="4000" spc="-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9" dirty="0">
                <a:solidFill>
                  <a:srgbClr val="FFFFFF"/>
                </a:solidFill>
                <a:latin typeface="Calibri"/>
                <a:cs typeface="Calibri"/>
              </a:rPr>
              <a:t>versus</a:t>
            </a:r>
            <a:r>
              <a:rPr sz="4000" spc="-3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3" dirty="0">
                <a:solidFill>
                  <a:srgbClr val="FFFFFF"/>
                </a:solidFill>
                <a:latin typeface="Calibri"/>
                <a:cs typeface="Calibri"/>
              </a:rPr>
              <a:t>Sample</a:t>
            </a:r>
            <a:endParaRPr sz="4000" dirty="0">
              <a:latin typeface="Calibri"/>
              <a:cs typeface="Calibri"/>
            </a:endParaRPr>
          </a:p>
          <a:p>
            <a:pPr marL="516854" indent="-183951">
              <a:spcBef>
                <a:spcPts val="1480"/>
              </a:spcBef>
              <a:buFont typeface="Arial MT"/>
              <a:buChar char="•"/>
              <a:tabLst>
                <a:tab pos="517261" algn="l"/>
              </a:tabLst>
            </a:pPr>
            <a:r>
              <a:rPr sz="4000" spc="-13" dirty="0">
                <a:latin typeface="Calibri"/>
                <a:cs typeface="Calibri"/>
              </a:rPr>
              <a:t>Population</a:t>
            </a:r>
            <a:r>
              <a:rPr sz="4000" spc="-3" dirty="0">
                <a:latin typeface="Calibri"/>
                <a:cs typeface="Calibri"/>
              </a:rPr>
              <a:t> </a:t>
            </a:r>
            <a:r>
              <a:rPr sz="4000" spc="-16" dirty="0">
                <a:latin typeface="Calibri"/>
                <a:cs typeface="Calibri"/>
              </a:rPr>
              <a:t>Regression</a:t>
            </a:r>
            <a:r>
              <a:rPr sz="4000" spc="10" dirty="0">
                <a:latin typeface="Calibri"/>
                <a:cs typeface="Calibri"/>
              </a:rPr>
              <a:t> </a:t>
            </a:r>
            <a:r>
              <a:rPr sz="4000" spc="-3" dirty="0">
                <a:latin typeface="Calibri"/>
                <a:cs typeface="Calibri"/>
              </a:rPr>
              <a:t>Function</a:t>
            </a:r>
            <a:endParaRPr sz="4000" dirty="0">
              <a:latin typeface="Calibri"/>
              <a:cs typeface="Calibri"/>
            </a:endParaRPr>
          </a:p>
          <a:p>
            <a:pPr marL="809873" lvl="1" indent="-183951">
              <a:spcBef>
                <a:spcPts val="64"/>
              </a:spcBef>
              <a:buFont typeface="Arial MT"/>
              <a:buChar char="•"/>
              <a:tabLst>
                <a:tab pos="810280" algn="l"/>
                <a:tab pos="3572396" algn="l"/>
              </a:tabLst>
            </a:pPr>
            <a:endParaRPr lang="en-US" sz="4000" spc="-10" dirty="0">
              <a:latin typeface="Calibri"/>
              <a:cs typeface="Calibri"/>
            </a:endParaRPr>
          </a:p>
          <a:p>
            <a:pPr marL="809873" lvl="1" indent="-183951">
              <a:spcBef>
                <a:spcPts val="64"/>
              </a:spcBef>
              <a:buFont typeface="Arial MT"/>
              <a:buChar char="•"/>
              <a:tabLst>
                <a:tab pos="810280" algn="l"/>
                <a:tab pos="3572396" algn="l"/>
              </a:tabLst>
            </a:pPr>
            <a:r>
              <a:rPr sz="4000" spc="-10" dirty="0">
                <a:latin typeface="Calibri"/>
                <a:cs typeface="Calibri"/>
              </a:rPr>
              <a:t>Deterministic</a:t>
            </a:r>
            <a:r>
              <a:rPr lang="en-US" sz="4000" spc="-10" dirty="0">
                <a:latin typeface="Calibri"/>
                <a:cs typeface="Calibri"/>
              </a:rPr>
              <a:t> </a:t>
            </a:r>
            <a:r>
              <a:rPr sz="4000" spc="-6" dirty="0">
                <a:latin typeface="Calibri"/>
                <a:cs typeface="Calibri"/>
              </a:rPr>
              <a:t>Component</a:t>
            </a:r>
            <a:endParaRPr sz="4000" dirty="0">
              <a:latin typeface="Calibri"/>
              <a:cs typeface="Calibri"/>
            </a:endParaRPr>
          </a:p>
          <a:p>
            <a:pPr marL="809873" lvl="1" indent="-183951">
              <a:spcBef>
                <a:spcPts val="67"/>
              </a:spcBef>
              <a:buFont typeface="Arial MT"/>
              <a:buChar char="•"/>
              <a:tabLst>
                <a:tab pos="810280" algn="l"/>
              </a:tabLst>
            </a:pPr>
            <a:endParaRPr lang="en-US" sz="4000" spc="-10" dirty="0">
              <a:latin typeface="Calibri"/>
              <a:cs typeface="Calibri"/>
            </a:endParaRPr>
          </a:p>
          <a:p>
            <a:pPr marL="809873" lvl="1" indent="-183951">
              <a:spcBef>
                <a:spcPts val="67"/>
              </a:spcBef>
              <a:buFont typeface="Arial MT"/>
              <a:buChar char="•"/>
              <a:tabLst>
                <a:tab pos="810280" algn="l"/>
              </a:tabLst>
            </a:pPr>
            <a:endParaRPr lang="en-US" sz="4000" spc="-10" dirty="0">
              <a:latin typeface="Calibri"/>
              <a:cs typeface="Calibri"/>
            </a:endParaRPr>
          </a:p>
          <a:p>
            <a:pPr marL="809873" lvl="1" indent="-183951">
              <a:spcBef>
                <a:spcPts val="67"/>
              </a:spcBef>
              <a:buFont typeface="Arial MT"/>
              <a:buChar char="•"/>
              <a:tabLst>
                <a:tab pos="810280" algn="l"/>
              </a:tabLst>
            </a:pPr>
            <a:r>
              <a:rPr sz="4000" spc="-10" dirty="0">
                <a:latin typeface="Calibri"/>
                <a:cs typeface="Calibri"/>
              </a:rPr>
              <a:t>Stochastic</a:t>
            </a:r>
            <a:r>
              <a:rPr sz="4000" spc="-22" dirty="0">
                <a:latin typeface="Calibri"/>
                <a:cs typeface="Calibri"/>
              </a:rPr>
              <a:t> </a:t>
            </a:r>
            <a:r>
              <a:rPr sz="4000" spc="-3" dirty="0">
                <a:latin typeface="Calibri"/>
                <a:cs typeface="Calibri"/>
              </a:rPr>
              <a:t>Component</a:t>
            </a:r>
            <a:endParaRPr sz="4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4800" dirty="0">
              <a:latin typeface="Calibri"/>
              <a:cs typeface="Calibri"/>
            </a:endParaRPr>
          </a:p>
          <a:p>
            <a:pPr>
              <a:spcBef>
                <a:spcPts val="35"/>
              </a:spcBef>
              <a:buFont typeface="Arial MT"/>
              <a:buChar char="•"/>
            </a:pPr>
            <a:endParaRPr sz="3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8698" y="3245497"/>
            <a:ext cx="1688900" cy="4600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7286" y="5223412"/>
            <a:ext cx="2464484" cy="4610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9922732" cy="599515"/>
          </a:xfrm>
          <a:custGeom>
            <a:avLst/>
            <a:gdLst/>
            <a:ahLst/>
            <a:cxnLst/>
            <a:rect l="l" t="t" r="r" b="b"/>
            <a:pathLst>
              <a:path w="15481300" h="935355">
                <a:moveTo>
                  <a:pt x="15481046" y="467664"/>
                </a:moveTo>
                <a:lnTo>
                  <a:pt x="15455138" y="373430"/>
                </a:lnTo>
                <a:lnTo>
                  <a:pt x="15380843" y="285673"/>
                </a:lnTo>
                <a:lnTo>
                  <a:pt x="15263241" y="206171"/>
                </a:lnTo>
                <a:lnTo>
                  <a:pt x="15107412" y="136956"/>
                </a:lnTo>
                <a:lnTo>
                  <a:pt x="14918563" y="79933"/>
                </a:lnTo>
                <a:lnTo>
                  <a:pt x="14701901" y="36753"/>
                </a:lnTo>
                <a:lnTo>
                  <a:pt x="14462379" y="9575"/>
                </a:lnTo>
                <a:lnTo>
                  <a:pt x="14205331" y="50"/>
                </a:lnTo>
                <a:lnTo>
                  <a:pt x="14006576" y="7416"/>
                </a:lnTo>
                <a:lnTo>
                  <a:pt x="14006576" y="0"/>
                </a:lnTo>
                <a:lnTo>
                  <a:pt x="0" y="0"/>
                </a:lnTo>
                <a:lnTo>
                  <a:pt x="0" y="935278"/>
                </a:lnTo>
                <a:lnTo>
                  <a:pt x="14006576" y="935278"/>
                </a:lnTo>
                <a:lnTo>
                  <a:pt x="14006576" y="928027"/>
                </a:lnTo>
                <a:lnTo>
                  <a:pt x="14205331" y="935278"/>
                </a:lnTo>
                <a:lnTo>
                  <a:pt x="14462379" y="925880"/>
                </a:lnTo>
                <a:lnTo>
                  <a:pt x="14701901" y="898575"/>
                </a:lnTo>
                <a:lnTo>
                  <a:pt x="14918563" y="855395"/>
                </a:lnTo>
                <a:lnTo>
                  <a:pt x="15107412" y="798372"/>
                </a:lnTo>
                <a:lnTo>
                  <a:pt x="15263241" y="729157"/>
                </a:lnTo>
                <a:lnTo>
                  <a:pt x="15380843" y="649655"/>
                </a:lnTo>
                <a:lnTo>
                  <a:pt x="15455138" y="561898"/>
                </a:lnTo>
                <a:lnTo>
                  <a:pt x="15481046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346677" y="204697"/>
            <a:ext cx="11453437" cy="5938124"/>
          </a:xfrm>
          <a:prstGeom prst="rect">
            <a:avLst/>
          </a:prstGeom>
        </p:spPr>
        <p:txBody>
          <a:bodyPr vert="horz" wrap="square" lIns="0" tIns="196175" rIns="0" bIns="0" rtlCol="0">
            <a:spAutoFit/>
          </a:bodyPr>
          <a:lstStyle/>
          <a:p>
            <a:pPr marL="8139">
              <a:spcBef>
                <a:spcPts val="1545"/>
              </a:spcBef>
            </a:pPr>
            <a:r>
              <a:rPr sz="4000" spc="-16" dirty="0">
                <a:solidFill>
                  <a:srgbClr val="FFFFFF"/>
                </a:solidFill>
                <a:latin typeface="Calibri"/>
                <a:cs typeface="Calibri"/>
              </a:rPr>
              <a:t>Population</a:t>
            </a:r>
            <a:r>
              <a:rPr sz="4000" spc="-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9" dirty="0">
                <a:solidFill>
                  <a:srgbClr val="FFFFFF"/>
                </a:solidFill>
                <a:latin typeface="Calibri"/>
                <a:cs typeface="Calibri"/>
              </a:rPr>
              <a:t>versus</a:t>
            </a:r>
            <a:r>
              <a:rPr sz="4000" spc="-3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3" dirty="0">
                <a:solidFill>
                  <a:srgbClr val="FFFFFF"/>
                </a:solidFill>
                <a:latin typeface="Calibri"/>
                <a:cs typeface="Calibri"/>
              </a:rPr>
              <a:t>Sample</a:t>
            </a:r>
            <a:endParaRPr sz="4000" dirty="0">
              <a:latin typeface="Calibri"/>
              <a:cs typeface="Calibri"/>
            </a:endParaRPr>
          </a:p>
          <a:p>
            <a:pPr marL="516854" indent="-183951">
              <a:spcBef>
                <a:spcPts val="64"/>
              </a:spcBef>
              <a:buFont typeface="Arial MT"/>
              <a:buChar char="•"/>
              <a:tabLst>
                <a:tab pos="517261" algn="l"/>
              </a:tabLst>
            </a:pPr>
            <a:endParaRPr lang="en-US" sz="4000" dirty="0">
              <a:latin typeface="Calibri"/>
              <a:cs typeface="Calibri"/>
            </a:endParaRPr>
          </a:p>
          <a:p>
            <a:pPr marL="516854" indent="-183951">
              <a:spcBef>
                <a:spcPts val="64"/>
              </a:spcBef>
              <a:buFont typeface="Arial MT"/>
              <a:buChar char="•"/>
              <a:tabLst>
                <a:tab pos="517261" algn="l"/>
              </a:tabLst>
            </a:pPr>
            <a:r>
              <a:rPr sz="3200" dirty="0">
                <a:latin typeface="Calibri"/>
                <a:cs typeface="Calibri"/>
              </a:rPr>
              <a:t>Normally </a:t>
            </a:r>
            <a:r>
              <a:rPr sz="3200" spc="-10" dirty="0">
                <a:latin typeface="Calibri"/>
                <a:cs typeface="Calibri"/>
              </a:rPr>
              <a:t>distributed</a:t>
            </a:r>
            <a:r>
              <a:rPr sz="3200" spc="-3" dirty="0">
                <a:latin typeface="Calibri"/>
                <a:cs typeface="Calibri"/>
              </a:rPr>
              <a:t> </a:t>
            </a:r>
            <a:r>
              <a:rPr sz="3200" spc="-16" dirty="0">
                <a:latin typeface="Calibri"/>
                <a:cs typeface="Calibri"/>
              </a:rPr>
              <a:t>error</a:t>
            </a:r>
            <a:r>
              <a:rPr sz="3200" spc="-6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component</a:t>
            </a:r>
            <a:endParaRPr sz="3200" dirty="0">
              <a:latin typeface="Calibri"/>
              <a:cs typeface="Calibri"/>
            </a:endParaRPr>
          </a:p>
          <a:p>
            <a:pPr marL="516854" indent="-183951">
              <a:spcBef>
                <a:spcPts val="61"/>
              </a:spcBef>
              <a:buFont typeface="Arial MT"/>
              <a:buChar char="•"/>
              <a:tabLst>
                <a:tab pos="517261" algn="l"/>
              </a:tabLst>
            </a:pPr>
            <a:endParaRPr lang="en-US" sz="4000" spc="-13" dirty="0">
              <a:latin typeface="Calibri"/>
              <a:cs typeface="Calibri"/>
            </a:endParaRPr>
          </a:p>
          <a:p>
            <a:pPr marL="516854" indent="-183951">
              <a:spcBef>
                <a:spcPts val="61"/>
              </a:spcBef>
              <a:buFont typeface="Arial MT"/>
              <a:buChar char="•"/>
              <a:tabLst>
                <a:tab pos="517261" algn="l"/>
              </a:tabLst>
            </a:pPr>
            <a:r>
              <a:rPr sz="3200" spc="-13" dirty="0">
                <a:latin typeface="Calibri"/>
                <a:cs typeface="Calibri"/>
              </a:rPr>
              <a:t>Univariate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spc="-3" dirty="0">
                <a:latin typeface="Calibri"/>
                <a:cs typeface="Calibri"/>
              </a:rPr>
              <a:t>function</a:t>
            </a:r>
            <a:endParaRPr sz="3200" dirty="0">
              <a:latin typeface="Calibri"/>
              <a:cs typeface="Calibri"/>
            </a:endParaRPr>
          </a:p>
          <a:p>
            <a:pPr marL="516854" indent="-183951">
              <a:spcBef>
                <a:spcPts val="70"/>
              </a:spcBef>
              <a:buFont typeface="Arial MT"/>
              <a:buChar char="•"/>
              <a:tabLst>
                <a:tab pos="517261" algn="l"/>
              </a:tabLst>
            </a:pPr>
            <a:endParaRPr lang="en-US" sz="4000" spc="-13" dirty="0">
              <a:latin typeface="Calibri"/>
              <a:cs typeface="Calibri"/>
            </a:endParaRPr>
          </a:p>
          <a:p>
            <a:pPr marL="516854" indent="-183951">
              <a:spcBef>
                <a:spcPts val="70"/>
              </a:spcBef>
              <a:buFont typeface="Arial MT"/>
              <a:buChar char="•"/>
              <a:tabLst>
                <a:tab pos="517261" algn="l"/>
              </a:tabLst>
            </a:pPr>
            <a:r>
              <a:rPr sz="3200" spc="-13" dirty="0">
                <a:latin typeface="Calibri"/>
                <a:cs typeface="Calibri"/>
              </a:rPr>
              <a:t>Multivariate </a:t>
            </a:r>
            <a:r>
              <a:rPr sz="3200" spc="-3" dirty="0">
                <a:latin typeface="Calibri"/>
                <a:cs typeface="Calibri"/>
              </a:rPr>
              <a:t>function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4800" dirty="0">
              <a:latin typeface="Calibri"/>
              <a:cs typeface="Calibri"/>
            </a:endParaRPr>
          </a:p>
          <a:p>
            <a:pPr>
              <a:spcBef>
                <a:spcPts val="35"/>
              </a:spcBef>
              <a:buFont typeface="Arial MT"/>
              <a:buChar char="•"/>
            </a:pPr>
            <a:endParaRPr sz="3600" dirty="0">
              <a:latin typeface="Calibri"/>
              <a:cs typeface="Calibri"/>
            </a:endParaRPr>
          </a:p>
          <a:p>
            <a:pPr marL="516854" indent="-183951">
              <a:buFont typeface="Arial MT"/>
              <a:buChar char="•"/>
              <a:tabLst>
                <a:tab pos="517261" algn="l"/>
                <a:tab pos="2773104" algn="l"/>
              </a:tabLst>
            </a:pPr>
            <a:endParaRPr lang="en-IN" sz="2800" spc="-13" dirty="0"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9324" y="2810135"/>
            <a:ext cx="2933352" cy="411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0854" y="4776304"/>
            <a:ext cx="5826654" cy="10627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1210" y="1328457"/>
            <a:ext cx="2028828" cy="219879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37780" y="3940439"/>
            <a:ext cx="1854956" cy="219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7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095512" y="3427127"/>
            <a:ext cx="1221" cy="0"/>
          </a:xfrm>
          <a:custGeom>
            <a:avLst/>
            <a:gdLst/>
            <a:ahLst/>
            <a:cxnLst/>
            <a:rect l="l" t="t" r="r" b="b"/>
            <a:pathLst>
              <a:path w="1904">
                <a:moveTo>
                  <a:pt x="0" y="0"/>
                </a:moveTo>
                <a:lnTo>
                  <a:pt x="1524" y="0"/>
                </a:lnTo>
              </a:path>
            </a:pathLst>
          </a:custGeom>
          <a:ln w="3175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4" name="object 4"/>
          <p:cNvSpPr txBox="1"/>
          <p:nvPr/>
        </p:nvSpPr>
        <p:spPr>
          <a:xfrm>
            <a:off x="596983" y="1401693"/>
            <a:ext cx="9211698" cy="882818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indent="-183951">
              <a:spcBef>
                <a:spcPts val="64"/>
              </a:spcBef>
              <a:buFont typeface="Arial MT"/>
              <a:buChar char="•"/>
              <a:tabLst>
                <a:tab pos="192091" algn="l"/>
              </a:tabLst>
            </a:pPr>
            <a:r>
              <a:rPr sz="2800" spc="-6" dirty="0">
                <a:latin typeface="Calibri"/>
                <a:cs typeface="Calibri"/>
              </a:rPr>
              <a:t>Sample</a:t>
            </a:r>
            <a:r>
              <a:rPr sz="2800" spc="-19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Regression</a:t>
            </a:r>
            <a:r>
              <a:rPr sz="2800" spc="3" dirty="0">
                <a:latin typeface="Calibri"/>
                <a:cs typeface="Calibri"/>
              </a:rPr>
              <a:t> </a:t>
            </a:r>
            <a:r>
              <a:rPr sz="2800" spc="-3" dirty="0">
                <a:latin typeface="Calibri"/>
                <a:cs typeface="Calibri"/>
              </a:rPr>
              <a:t>Functions</a:t>
            </a:r>
            <a:endParaRPr sz="2800" dirty="0">
              <a:latin typeface="Calibri"/>
              <a:cs typeface="Calibri"/>
            </a:endParaRPr>
          </a:p>
          <a:p>
            <a:pPr marL="484703" lvl="1" indent="-183951">
              <a:spcBef>
                <a:spcPts val="64"/>
              </a:spcBef>
              <a:buFont typeface="Arial MT"/>
              <a:buChar char="•"/>
              <a:tabLst>
                <a:tab pos="485110" algn="l"/>
              </a:tabLst>
            </a:pPr>
            <a:r>
              <a:rPr sz="2800" spc="-26" dirty="0">
                <a:latin typeface="Calibri"/>
                <a:cs typeface="Calibri"/>
              </a:rPr>
              <a:t>Different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Regression</a:t>
            </a:r>
            <a:r>
              <a:rPr sz="2800" spc="-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Line/Plane/Hyperplane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6983" y="5217113"/>
            <a:ext cx="3354281" cy="1326529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indent="-183951">
              <a:spcBef>
                <a:spcPts val="64"/>
              </a:spcBef>
              <a:buFont typeface="Arial MT"/>
              <a:buChar char="•"/>
              <a:tabLst>
                <a:tab pos="192091" algn="l"/>
              </a:tabLst>
            </a:pPr>
            <a:r>
              <a:rPr sz="2800" spc="-13" dirty="0">
                <a:latin typeface="Calibri"/>
                <a:cs typeface="Calibri"/>
              </a:rPr>
              <a:t>Univariate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spc="-3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  <a:p>
            <a:pPr marL="191684" indent="-183951">
              <a:spcBef>
                <a:spcPts val="70"/>
              </a:spcBef>
              <a:buFont typeface="Arial MT"/>
              <a:buChar char="•"/>
              <a:tabLst>
                <a:tab pos="192091" algn="l"/>
              </a:tabLst>
            </a:pPr>
            <a:endParaRPr lang="en-US" sz="2800" spc="-13" dirty="0">
              <a:latin typeface="Calibri"/>
              <a:cs typeface="Calibri"/>
            </a:endParaRPr>
          </a:p>
          <a:p>
            <a:pPr marL="191684" indent="-183951">
              <a:spcBef>
                <a:spcPts val="70"/>
              </a:spcBef>
              <a:buFont typeface="Arial MT"/>
              <a:buChar char="•"/>
              <a:tabLst>
                <a:tab pos="192091" algn="l"/>
              </a:tabLst>
            </a:pPr>
            <a:r>
              <a:rPr sz="2800" spc="-13" dirty="0">
                <a:latin typeface="Calibri"/>
                <a:cs typeface="Calibri"/>
              </a:rPr>
              <a:t>Multivariate</a:t>
            </a:r>
            <a:r>
              <a:rPr sz="2800" spc="-38" dirty="0">
                <a:latin typeface="Calibri"/>
                <a:cs typeface="Calibri"/>
              </a:rPr>
              <a:t> </a:t>
            </a:r>
            <a:r>
              <a:rPr sz="2800" spc="-3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39" y="5225232"/>
            <a:ext cx="3685493" cy="4610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3539" y="6019097"/>
            <a:ext cx="3279311" cy="52454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1808" y="2549924"/>
            <a:ext cx="3845146" cy="24897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266954" y="3508365"/>
            <a:ext cx="3083454" cy="1513237"/>
          </a:xfrm>
          <a:custGeom>
            <a:avLst/>
            <a:gdLst/>
            <a:ahLst/>
            <a:cxnLst/>
            <a:rect l="l" t="t" r="r" b="b"/>
            <a:pathLst>
              <a:path w="4810759" h="2360929">
                <a:moveTo>
                  <a:pt x="2024633" y="1048258"/>
                </a:moveTo>
                <a:lnTo>
                  <a:pt x="2488946" y="1048258"/>
                </a:lnTo>
                <a:lnTo>
                  <a:pt x="0" y="0"/>
                </a:lnTo>
                <a:lnTo>
                  <a:pt x="3185413" y="1048258"/>
                </a:lnTo>
                <a:lnTo>
                  <a:pt x="4810506" y="1048258"/>
                </a:lnTo>
                <a:lnTo>
                  <a:pt x="4810506" y="1266952"/>
                </a:lnTo>
                <a:lnTo>
                  <a:pt x="4810506" y="1594993"/>
                </a:lnTo>
                <a:lnTo>
                  <a:pt x="4810506" y="2360422"/>
                </a:lnTo>
                <a:lnTo>
                  <a:pt x="3185413" y="2360422"/>
                </a:lnTo>
                <a:lnTo>
                  <a:pt x="2488946" y="2360422"/>
                </a:lnTo>
                <a:lnTo>
                  <a:pt x="2024633" y="2360422"/>
                </a:lnTo>
                <a:lnTo>
                  <a:pt x="2024633" y="1594993"/>
                </a:lnTo>
                <a:lnTo>
                  <a:pt x="2024633" y="1266952"/>
                </a:lnTo>
                <a:lnTo>
                  <a:pt x="2024633" y="1048258"/>
                </a:lnTo>
                <a:close/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10" name="object 10"/>
          <p:cNvSpPr txBox="1"/>
          <p:nvPr/>
        </p:nvSpPr>
        <p:spPr>
          <a:xfrm>
            <a:off x="9615599" y="4181548"/>
            <a:ext cx="1516493" cy="796999"/>
          </a:xfrm>
          <a:prstGeom prst="rect">
            <a:avLst/>
          </a:prstGeom>
        </p:spPr>
        <p:txBody>
          <a:bodyPr vert="horz" wrap="square" lIns="0" tIns="7733" rIns="0" bIns="0" rtlCol="0">
            <a:spAutoFit/>
          </a:bodyPr>
          <a:lstStyle/>
          <a:p>
            <a:pPr marL="8139" marR="3256">
              <a:spcBef>
                <a:spcPts val="61"/>
              </a:spcBef>
            </a:pPr>
            <a:r>
              <a:rPr sz="2564" b="1" spc="-3" dirty="0">
                <a:latin typeface="Calibri"/>
                <a:cs typeface="Calibri"/>
              </a:rPr>
              <a:t>Hypothesis  </a:t>
            </a:r>
            <a:r>
              <a:rPr sz="2564" b="1" spc="-6" dirty="0">
                <a:latin typeface="Calibri"/>
                <a:cs typeface="Calibri"/>
              </a:rPr>
              <a:t>function(s)</a:t>
            </a:r>
            <a:endParaRPr sz="2564">
              <a:latin typeface="Calibri"/>
              <a:cs typeface="Calibri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09DAE3F8-4D0E-6673-B19F-8D431B486791}"/>
              </a:ext>
            </a:extLst>
          </p:cNvPr>
          <p:cNvSpPr/>
          <p:nvPr/>
        </p:nvSpPr>
        <p:spPr>
          <a:xfrm>
            <a:off x="102963" y="464952"/>
            <a:ext cx="9922732" cy="599515"/>
          </a:xfrm>
          <a:custGeom>
            <a:avLst/>
            <a:gdLst/>
            <a:ahLst/>
            <a:cxnLst/>
            <a:rect l="l" t="t" r="r" b="b"/>
            <a:pathLst>
              <a:path w="15481300" h="935355">
                <a:moveTo>
                  <a:pt x="15481046" y="467664"/>
                </a:moveTo>
                <a:lnTo>
                  <a:pt x="15455138" y="373430"/>
                </a:lnTo>
                <a:lnTo>
                  <a:pt x="15380843" y="285673"/>
                </a:lnTo>
                <a:lnTo>
                  <a:pt x="15263241" y="206171"/>
                </a:lnTo>
                <a:lnTo>
                  <a:pt x="15107412" y="136956"/>
                </a:lnTo>
                <a:lnTo>
                  <a:pt x="14918563" y="79933"/>
                </a:lnTo>
                <a:lnTo>
                  <a:pt x="14701901" y="36753"/>
                </a:lnTo>
                <a:lnTo>
                  <a:pt x="14462379" y="9575"/>
                </a:lnTo>
                <a:lnTo>
                  <a:pt x="14205331" y="50"/>
                </a:lnTo>
                <a:lnTo>
                  <a:pt x="14006576" y="7416"/>
                </a:lnTo>
                <a:lnTo>
                  <a:pt x="14006576" y="0"/>
                </a:lnTo>
                <a:lnTo>
                  <a:pt x="0" y="0"/>
                </a:lnTo>
                <a:lnTo>
                  <a:pt x="0" y="935278"/>
                </a:lnTo>
                <a:lnTo>
                  <a:pt x="14006576" y="935278"/>
                </a:lnTo>
                <a:lnTo>
                  <a:pt x="14006576" y="928027"/>
                </a:lnTo>
                <a:lnTo>
                  <a:pt x="14205331" y="935278"/>
                </a:lnTo>
                <a:lnTo>
                  <a:pt x="14462379" y="925880"/>
                </a:lnTo>
                <a:lnTo>
                  <a:pt x="14701901" y="898575"/>
                </a:lnTo>
                <a:lnTo>
                  <a:pt x="14918563" y="855395"/>
                </a:lnTo>
                <a:lnTo>
                  <a:pt x="15107412" y="798372"/>
                </a:lnTo>
                <a:lnTo>
                  <a:pt x="15263241" y="729157"/>
                </a:lnTo>
                <a:lnTo>
                  <a:pt x="15380843" y="649655"/>
                </a:lnTo>
                <a:lnTo>
                  <a:pt x="15455138" y="561898"/>
                </a:lnTo>
                <a:lnTo>
                  <a:pt x="15481046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346676" y="373072"/>
            <a:ext cx="8035324" cy="685328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6" dirty="0">
                <a:solidFill>
                  <a:schemeClr val="bg1"/>
                </a:solidFill>
              </a:rPr>
              <a:t>Population</a:t>
            </a:r>
            <a:r>
              <a:rPr spc="-54" dirty="0">
                <a:solidFill>
                  <a:schemeClr val="bg1"/>
                </a:solidFill>
              </a:rPr>
              <a:t> </a:t>
            </a:r>
            <a:r>
              <a:rPr spc="-19" dirty="0">
                <a:solidFill>
                  <a:schemeClr val="bg1"/>
                </a:solidFill>
              </a:rPr>
              <a:t>versus</a:t>
            </a:r>
            <a:r>
              <a:rPr spc="-38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Sample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095512" y="3427127"/>
            <a:ext cx="1221" cy="0"/>
          </a:xfrm>
          <a:custGeom>
            <a:avLst/>
            <a:gdLst/>
            <a:ahLst/>
            <a:cxnLst/>
            <a:rect l="l" t="t" r="r" b="b"/>
            <a:pathLst>
              <a:path w="1904">
                <a:moveTo>
                  <a:pt x="0" y="0"/>
                </a:moveTo>
                <a:lnTo>
                  <a:pt x="1524" y="0"/>
                </a:lnTo>
              </a:path>
            </a:pathLst>
          </a:custGeom>
          <a:ln w="3175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 sz="1154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009" y="1063742"/>
            <a:ext cx="6295522" cy="528843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210844" y="4439099"/>
            <a:ext cx="7562522" cy="751328"/>
          </a:xfrm>
          <a:custGeom>
            <a:avLst/>
            <a:gdLst/>
            <a:ahLst/>
            <a:cxnLst/>
            <a:rect l="l" t="t" r="r" b="b"/>
            <a:pathLst>
              <a:path w="11798935" h="1172209">
                <a:moveTo>
                  <a:pt x="11798681" y="0"/>
                </a:moveTo>
                <a:lnTo>
                  <a:pt x="6493637" y="0"/>
                </a:lnTo>
                <a:lnTo>
                  <a:pt x="6493637" y="683641"/>
                </a:lnTo>
                <a:lnTo>
                  <a:pt x="0" y="771779"/>
                </a:lnTo>
                <a:lnTo>
                  <a:pt x="6493637" y="976630"/>
                </a:lnTo>
                <a:lnTo>
                  <a:pt x="6493637" y="1171956"/>
                </a:lnTo>
                <a:lnTo>
                  <a:pt x="11798681" y="1171956"/>
                </a:lnTo>
                <a:lnTo>
                  <a:pt x="117986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10" name="object 10"/>
          <p:cNvSpPr/>
          <p:nvPr/>
        </p:nvSpPr>
        <p:spPr>
          <a:xfrm>
            <a:off x="4215239" y="5709111"/>
            <a:ext cx="7742824" cy="936921"/>
          </a:xfrm>
          <a:custGeom>
            <a:avLst/>
            <a:gdLst/>
            <a:ahLst/>
            <a:cxnLst/>
            <a:rect l="l" t="t" r="r" b="b"/>
            <a:pathLst>
              <a:path w="12080240" h="1461770">
                <a:moveTo>
                  <a:pt x="0" y="0"/>
                </a:moveTo>
                <a:lnTo>
                  <a:pt x="7312279" y="891286"/>
                </a:lnTo>
                <a:lnTo>
                  <a:pt x="6358762" y="891286"/>
                </a:lnTo>
                <a:lnTo>
                  <a:pt x="6358762" y="1461262"/>
                </a:lnTo>
                <a:lnTo>
                  <a:pt x="12079858" y="1461262"/>
                </a:lnTo>
                <a:lnTo>
                  <a:pt x="12079858" y="891286"/>
                </a:lnTo>
                <a:lnTo>
                  <a:pt x="8742552" y="8912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AAC83E36-ED0C-6922-2631-CBF52B1668C7}"/>
              </a:ext>
            </a:extLst>
          </p:cNvPr>
          <p:cNvSpPr/>
          <p:nvPr/>
        </p:nvSpPr>
        <p:spPr>
          <a:xfrm>
            <a:off x="102963" y="464952"/>
            <a:ext cx="9922732" cy="599515"/>
          </a:xfrm>
          <a:custGeom>
            <a:avLst/>
            <a:gdLst/>
            <a:ahLst/>
            <a:cxnLst/>
            <a:rect l="l" t="t" r="r" b="b"/>
            <a:pathLst>
              <a:path w="15481300" h="935355">
                <a:moveTo>
                  <a:pt x="15481046" y="467664"/>
                </a:moveTo>
                <a:lnTo>
                  <a:pt x="15455138" y="373430"/>
                </a:lnTo>
                <a:lnTo>
                  <a:pt x="15380843" y="285673"/>
                </a:lnTo>
                <a:lnTo>
                  <a:pt x="15263241" y="206171"/>
                </a:lnTo>
                <a:lnTo>
                  <a:pt x="15107412" y="136956"/>
                </a:lnTo>
                <a:lnTo>
                  <a:pt x="14918563" y="79933"/>
                </a:lnTo>
                <a:lnTo>
                  <a:pt x="14701901" y="36753"/>
                </a:lnTo>
                <a:lnTo>
                  <a:pt x="14462379" y="9575"/>
                </a:lnTo>
                <a:lnTo>
                  <a:pt x="14205331" y="50"/>
                </a:lnTo>
                <a:lnTo>
                  <a:pt x="14006576" y="7416"/>
                </a:lnTo>
                <a:lnTo>
                  <a:pt x="14006576" y="0"/>
                </a:lnTo>
                <a:lnTo>
                  <a:pt x="0" y="0"/>
                </a:lnTo>
                <a:lnTo>
                  <a:pt x="0" y="935278"/>
                </a:lnTo>
                <a:lnTo>
                  <a:pt x="14006576" y="935278"/>
                </a:lnTo>
                <a:lnTo>
                  <a:pt x="14006576" y="928027"/>
                </a:lnTo>
                <a:lnTo>
                  <a:pt x="14205331" y="935278"/>
                </a:lnTo>
                <a:lnTo>
                  <a:pt x="14462379" y="925880"/>
                </a:lnTo>
                <a:lnTo>
                  <a:pt x="14701901" y="898575"/>
                </a:lnTo>
                <a:lnTo>
                  <a:pt x="14918563" y="855395"/>
                </a:lnTo>
                <a:lnTo>
                  <a:pt x="15107412" y="798372"/>
                </a:lnTo>
                <a:lnTo>
                  <a:pt x="15263241" y="729157"/>
                </a:lnTo>
                <a:lnTo>
                  <a:pt x="15380843" y="649655"/>
                </a:lnTo>
                <a:lnTo>
                  <a:pt x="15455138" y="561898"/>
                </a:lnTo>
                <a:lnTo>
                  <a:pt x="15481046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21" name="object 2"/>
          <p:cNvSpPr txBox="1">
            <a:spLocks noGrp="1"/>
          </p:cNvSpPr>
          <p:nvPr>
            <p:ph type="title"/>
          </p:nvPr>
        </p:nvSpPr>
        <p:spPr>
          <a:xfrm>
            <a:off x="346676" y="394843"/>
            <a:ext cx="7349524" cy="685328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6" dirty="0">
                <a:solidFill>
                  <a:schemeClr val="bg1"/>
                </a:solidFill>
              </a:rPr>
              <a:t>Hypothesis</a:t>
            </a:r>
            <a:r>
              <a:rPr spc="-32" dirty="0">
                <a:solidFill>
                  <a:schemeClr val="bg1"/>
                </a:solidFill>
              </a:rPr>
              <a:t> </a:t>
            </a:r>
            <a:r>
              <a:rPr spc="-6" dirty="0">
                <a:solidFill>
                  <a:schemeClr val="bg1"/>
                </a:solidFill>
              </a:rPr>
              <a:t>function(s)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8049" y="2842916"/>
            <a:ext cx="8092033" cy="875738"/>
          </a:xfrm>
          <a:prstGeom prst="rect">
            <a:avLst/>
          </a:prstGeom>
        </p:spPr>
        <p:txBody>
          <a:bodyPr vert="horz" wrap="square" lIns="0" tIns="7733" rIns="0" bIns="0" rtlCol="0">
            <a:spAutoFit/>
          </a:bodyPr>
          <a:lstStyle/>
          <a:p>
            <a:pPr marL="8139">
              <a:spcBef>
                <a:spcPts val="61"/>
              </a:spcBef>
            </a:pPr>
            <a:r>
              <a:rPr sz="5640" spc="-6" dirty="0">
                <a:solidFill>
                  <a:srgbClr val="009FEE"/>
                </a:solidFill>
                <a:latin typeface="Calibri"/>
                <a:cs typeface="Calibri"/>
              </a:rPr>
              <a:t>Linear</a:t>
            </a:r>
            <a:r>
              <a:rPr sz="5640" spc="-22" dirty="0">
                <a:solidFill>
                  <a:srgbClr val="009FEE"/>
                </a:solidFill>
                <a:latin typeface="Calibri"/>
                <a:cs typeface="Calibri"/>
              </a:rPr>
              <a:t> </a:t>
            </a:r>
            <a:r>
              <a:rPr sz="5640" spc="-19" dirty="0">
                <a:solidFill>
                  <a:srgbClr val="009FEE"/>
                </a:solidFill>
                <a:latin typeface="Calibri"/>
                <a:cs typeface="Calibri"/>
              </a:rPr>
              <a:t>Regression</a:t>
            </a:r>
            <a:r>
              <a:rPr sz="5640" spc="-13" dirty="0">
                <a:solidFill>
                  <a:srgbClr val="009FEE"/>
                </a:solidFill>
                <a:latin typeface="Calibri"/>
                <a:cs typeface="Calibri"/>
              </a:rPr>
              <a:t> </a:t>
            </a:r>
            <a:r>
              <a:rPr sz="5640" spc="-10" dirty="0">
                <a:solidFill>
                  <a:srgbClr val="009FEE"/>
                </a:solidFill>
                <a:latin typeface="Calibri"/>
                <a:cs typeface="Calibri"/>
              </a:rPr>
              <a:t>algorithm</a:t>
            </a:r>
            <a:endParaRPr sz="564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76" y="318642"/>
            <a:ext cx="4546467" cy="685328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3" dirty="0">
                <a:solidFill>
                  <a:schemeClr val="bg1"/>
                </a:solidFill>
              </a:rPr>
              <a:t>Step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1.</a:t>
            </a:r>
            <a:r>
              <a:rPr spc="-26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Initialization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386" y="1244889"/>
            <a:ext cx="6427746" cy="500662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indent="-183951">
              <a:spcBef>
                <a:spcPts val="64"/>
              </a:spcBef>
              <a:buFont typeface="Arial MT"/>
              <a:buChar char="•"/>
              <a:tabLst>
                <a:tab pos="192091" algn="l"/>
                <a:tab pos="4136865" algn="l"/>
              </a:tabLst>
            </a:pPr>
            <a:r>
              <a:rPr lang="en-IN" sz="3200" dirty="0">
                <a:latin typeface="Calibri"/>
                <a:cs typeface="Calibri"/>
              </a:rPr>
              <a:t>Assume</a:t>
            </a:r>
            <a:r>
              <a:rPr lang="en-IN" sz="3200" spc="10" dirty="0">
                <a:latin typeface="Calibri"/>
                <a:cs typeface="Calibri"/>
              </a:rPr>
              <a:t> </a:t>
            </a:r>
            <a:r>
              <a:rPr lang="en-IN" sz="3200" spc="-13" dirty="0">
                <a:latin typeface="Calibri"/>
                <a:cs typeface="Calibri"/>
              </a:rPr>
              <a:t>parametric </a:t>
            </a:r>
            <a:r>
              <a:rPr lang="en-IN" sz="3200" spc="-26" dirty="0">
                <a:latin typeface="Calibri"/>
                <a:cs typeface="Calibri"/>
              </a:rPr>
              <a:t>form</a:t>
            </a:r>
            <a:endParaRPr lang="en-IN"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24334" y="1165819"/>
            <a:ext cx="2820521" cy="1289695"/>
          </a:xfrm>
          <a:custGeom>
            <a:avLst/>
            <a:gdLst/>
            <a:ahLst/>
            <a:cxnLst/>
            <a:rect l="l" t="t" r="r" b="b"/>
            <a:pathLst>
              <a:path w="5284469" h="2131060">
                <a:moveTo>
                  <a:pt x="2281682" y="0"/>
                </a:moveTo>
                <a:lnTo>
                  <a:pt x="2782061" y="0"/>
                </a:lnTo>
                <a:lnTo>
                  <a:pt x="3532632" y="0"/>
                </a:lnTo>
                <a:lnTo>
                  <a:pt x="5283961" y="0"/>
                </a:lnTo>
                <a:lnTo>
                  <a:pt x="5283961" y="355092"/>
                </a:lnTo>
                <a:lnTo>
                  <a:pt x="5283961" y="887730"/>
                </a:lnTo>
                <a:lnTo>
                  <a:pt x="5283961" y="2130552"/>
                </a:lnTo>
                <a:lnTo>
                  <a:pt x="3532632" y="2130552"/>
                </a:lnTo>
                <a:lnTo>
                  <a:pt x="2782061" y="2130552"/>
                </a:lnTo>
                <a:lnTo>
                  <a:pt x="2281682" y="2130552"/>
                </a:lnTo>
                <a:lnTo>
                  <a:pt x="2281682" y="887730"/>
                </a:lnTo>
                <a:lnTo>
                  <a:pt x="0" y="293370"/>
                </a:lnTo>
                <a:lnTo>
                  <a:pt x="2281682" y="355092"/>
                </a:lnTo>
                <a:lnTo>
                  <a:pt x="2281682" y="0"/>
                </a:lnTo>
                <a:close/>
              </a:path>
            </a:pathLst>
          </a:custGeom>
          <a:ln w="19049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5" name="object 5"/>
          <p:cNvSpPr txBox="1"/>
          <p:nvPr/>
        </p:nvSpPr>
        <p:spPr>
          <a:xfrm>
            <a:off x="8687045" y="1205448"/>
            <a:ext cx="1315597" cy="1238915"/>
          </a:xfrm>
          <a:prstGeom prst="rect">
            <a:avLst/>
          </a:prstGeom>
        </p:spPr>
        <p:txBody>
          <a:bodyPr vert="horz" wrap="square" lIns="0" tIns="7733" rIns="0" bIns="0" rtlCol="0">
            <a:spAutoFit/>
          </a:bodyPr>
          <a:lstStyle/>
          <a:p>
            <a:pPr marL="8139" marR="3256" algn="just">
              <a:spcBef>
                <a:spcPts val="61"/>
              </a:spcBef>
            </a:pPr>
            <a:r>
              <a:rPr sz="2000" b="1" spc="-16" dirty="0">
                <a:latin typeface="Calibri"/>
                <a:cs typeface="Calibri"/>
              </a:rPr>
              <a:t>Parametric </a:t>
            </a:r>
            <a:r>
              <a:rPr sz="2000" b="1" spc="-573" dirty="0">
                <a:latin typeface="Calibri"/>
                <a:cs typeface="Calibri"/>
              </a:rPr>
              <a:t> </a:t>
            </a:r>
            <a:r>
              <a:rPr sz="2000" b="1" spc="-13" dirty="0">
                <a:latin typeface="Calibri"/>
                <a:cs typeface="Calibri"/>
              </a:rPr>
              <a:t>form</a:t>
            </a:r>
            <a:r>
              <a:rPr sz="2000" b="1" spc="-29" dirty="0">
                <a:latin typeface="Calibri"/>
                <a:cs typeface="Calibri"/>
              </a:rPr>
              <a:t> </a:t>
            </a:r>
            <a:r>
              <a:rPr sz="2000" b="1" spc="-3" dirty="0">
                <a:latin typeface="Calibri"/>
                <a:cs typeface="Calibri"/>
              </a:rPr>
              <a:t>of</a:t>
            </a:r>
            <a:r>
              <a:rPr sz="2000" b="1" spc="-26" dirty="0">
                <a:latin typeface="Calibri"/>
                <a:cs typeface="Calibri"/>
              </a:rPr>
              <a:t> </a:t>
            </a:r>
            <a:r>
              <a:rPr sz="2000" b="1" spc="-3" dirty="0">
                <a:latin typeface="Calibri"/>
                <a:cs typeface="Calibri"/>
              </a:rPr>
              <a:t>the </a:t>
            </a:r>
            <a:r>
              <a:rPr sz="2000" b="1" spc="-570" dirty="0">
                <a:latin typeface="Calibri"/>
                <a:cs typeface="Calibri"/>
              </a:rPr>
              <a:t> </a:t>
            </a:r>
            <a:r>
              <a:rPr lang="en-US" sz="2000" b="1" spc="-3" dirty="0">
                <a:latin typeface="Calibri"/>
                <a:cs typeface="Calibri"/>
              </a:rPr>
              <a:t>h</a:t>
            </a:r>
            <a:r>
              <a:rPr sz="2000" b="1" spc="-3" dirty="0">
                <a:latin typeface="Calibri"/>
                <a:cs typeface="Calibri"/>
              </a:rPr>
              <a:t>ypothesis </a:t>
            </a:r>
            <a:r>
              <a:rPr sz="2000" b="1" spc="-573" dirty="0">
                <a:latin typeface="Calibri"/>
                <a:cs typeface="Calibri"/>
              </a:rPr>
              <a:t> </a:t>
            </a:r>
            <a:r>
              <a:rPr sz="2000" b="1" spc="-6" dirty="0">
                <a:latin typeface="Calibri"/>
                <a:cs typeface="Calibri"/>
              </a:rPr>
              <a:t>function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143" y="1336618"/>
            <a:ext cx="2193909" cy="411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4334" y="2584466"/>
            <a:ext cx="4200271" cy="42002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0327" y="3648963"/>
            <a:ext cx="6427746" cy="500662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marR="3256" indent="-183951">
              <a:spcBef>
                <a:spcPts val="64"/>
              </a:spcBef>
              <a:buFont typeface="Arial MT"/>
              <a:buChar char="•"/>
              <a:tabLst>
                <a:tab pos="192091" algn="l"/>
              </a:tabLst>
            </a:pPr>
            <a:r>
              <a:rPr sz="3200" spc="-13" dirty="0">
                <a:latin typeface="Calibri"/>
                <a:cs typeface="Calibri"/>
              </a:rPr>
              <a:t>Calculate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6" dirty="0">
                <a:latin typeface="Calibri"/>
                <a:cs typeface="Calibri"/>
              </a:rPr>
              <a:t>error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" dirty="0">
                <a:latin typeface="Calibri"/>
                <a:cs typeface="Calibri"/>
              </a:rPr>
              <a:t>using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the</a:t>
            </a:r>
            <a:r>
              <a:rPr sz="3200" spc="-3" dirty="0">
                <a:latin typeface="Calibri"/>
                <a:cs typeface="Calibri"/>
              </a:rPr>
              <a:t> </a:t>
            </a:r>
            <a:r>
              <a:rPr sz="3200" spc="3" dirty="0">
                <a:latin typeface="Calibri"/>
                <a:cs typeface="Calibri"/>
              </a:rPr>
              <a:t>initial </a:t>
            </a:r>
            <a:r>
              <a:rPr sz="3200" spc="-86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</a:t>
            </a:r>
            <a:r>
              <a:rPr sz="3200" spc="-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1513" y="4537134"/>
            <a:ext cx="3985373" cy="52454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75" y="318642"/>
            <a:ext cx="6712047" cy="685328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9" dirty="0">
                <a:solidFill>
                  <a:schemeClr val="bg1"/>
                </a:solidFill>
              </a:rPr>
              <a:t>Formulate</a:t>
            </a:r>
            <a:r>
              <a:rPr spc="-16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Objective</a:t>
            </a:r>
            <a:r>
              <a:rPr spc="-48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21269" y="382175"/>
            <a:ext cx="6738748" cy="2998798"/>
            <a:chOff x="8141207" y="596264"/>
            <a:chExt cx="10513695" cy="4678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41207" y="3316223"/>
              <a:ext cx="6790944" cy="19583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912597" y="605789"/>
              <a:ext cx="5732780" cy="3531235"/>
            </a:xfrm>
            <a:custGeom>
              <a:avLst/>
              <a:gdLst/>
              <a:ahLst/>
              <a:cxnLst/>
              <a:rect l="l" t="t" r="r" b="b"/>
              <a:pathLst>
                <a:path w="5732780" h="3531235">
                  <a:moveTo>
                    <a:pt x="5732780" y="0"/>
                  </a:moveTo>
                  <a:lnTo>
                    <a:pt x="2730500" y="0"/>
                  </a:lnTo>
                  <a:lnTo>
                    <a:pt x="2730500" y="1092581"/>
                  </a:lnTo>
                  <a:lnTo>
                    <a:pt x="0" y="3531108"/>
                  </a:lnTo>
                  <a:lnTo>
                    <a:pt x="2730500" y="1560829"/>
                  </a:lnTo>
                  <a:lnTo>
                    <a:pt x="2730500" y="1872996"/>
                  </a:lnTo>
                  <a:lnTo>
                    <a:pt x="5732780" y="1872996"/>
                  </a:lnTo>
                  <a:lnTo>
                    <a:pt x="57327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sp>
          <p:nvSpPr>
            <p:cNvPr id="6" name="object 6"/>
            <p:cNvSpPr/>
            <p:nvPr/>
          </p:nvSpPr>
          <p:spPr>
            <a:xfrm>
              <a:off x="12912597" y="605789"/>
              <a:ext cx="5732780" cy="3531235"/>
            </a:xfrm>
            <a:custGeom>
              <a:avLst/>
              <a:gdLst/>
              <a:ahLst/>
              <a:cxnLst/>
              <a:rect l="l" t="t" r="r" b="b"/>
              <a:pathLst>
                <a:path w="5732780" h="3531235">
                  <a:moveTo>
                    <a:pt x="2730500" y="0"/>
                  </a:moveTo>
                  <a:lnTo>
                    <a:pt x="3230880" y="0"/>
                  </a:lnTo>
                  <a:lnTo>
                    <a:pt x="3981450" y="0"/>
                  </a:lnTo>
                  <a:lnTo>
                    <a:pt x="5732780" y="0"/>
                  </a:lnTo>
                  <a:lnTo>
                    <a:pt x="5732780" y="1092581"/>
                  </a:lnTo>
                  <a:lnTo>
                    <a:pt x="5732780" y="1560829"/>
                  </a:lnTo>
                  <a:lnTo>
                    <a:pt x="5732780" y="1872996"/>
                  </a:lnTo>
                  <a:lnTo>
                    <a:pt x="3981450" y="1872996"/>
                  </a:lnTo>
                  <a:lnTo>
                    <a:pt x="3230880" y="1872996"/>
                  </a:lnTo>
                  <a:lnTo>
                    <a:pt x="2730500" y="1872996"/>
                  </a:lnTo>
                  <a:lnTo>
                    <a:pt x="2730500" y="1560829"/>
                  </a:lnTo>
                  <a:lnTo>
                    <a:pt x="0" y="3531108"/>
                  </a:lnTo>
                  <a:lnTo>
                    <a:pt x="2730500" y="1092581"/>
                  </a:lnTo>
                  <a:lnTo>
                    <a:pt x="2730500" y="0"/>
                  </a:lnTo>
                  <a:close/>
                </a:path>
              </a:pathLst>
            </a:custGeom>
            <a:ln w="1904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080966" y="373628"/>
            <a:ext cx="1466025" cy="1191594"/>
          </a:xfrm>
          <a:prstGeom prst="rect">
            <a:avLst/>
          </a:prstGeom>
        </p:spPr>
        <p:txBody>
          <a:bodyPr vert="horz" wrap="square" lIns="0" tIns="7733" rIns="0" bIns="0" rtlCol="0">
            <a:spAutoFit/>
          </a:bodyPr>
          <a:lstStyle/>
          <a:p>
            <a:pPr marL="8139" marR="3256">
              <a:spcBef>
                <a:spcPts val="61"/>
              </a:spcBef>
            </a:pPr>
            <a:r>
              <a:rPr sz="2564" b="1" spc="-3" dirty="0">
                <a:latin typeface="Calibri"/>
                <a:cs typeface="Calibri"/>
              </a:rPr>
              <a:t>Also</a:t>
            </a:r>
            <a:r>
              <a:rPr sz="2564" b="1" spc="-38" dirty="0">
                <a:latin typeface="Calibri"/>
                <a:cs typeface="Calibri"/>
              </a:rPr>
              <a:t> </a:t>
            </a:r>
            <a:r>
              <a:rPr sz="2564" b="1" spc="-6" dirty="0">
                <a:latin typeface="Calibri"/>
                <a:cs typeface="Calibri"/>
              </a:rPr>
              <a:t>called </a:t>
            </a:r>
            <a:r>
              <a:rPr sz="2564" b="1" spc="-570" dirty="0">
                <a:latin typeface="Calibri"/>
                <a:cs typeface="Calibri"/>
              </a:rPr>
              <a:t> </a:t>
            </a:r>
            <a:r>
              <a:rPr sz="2564" b="1" spc="-16" dirty="0">
                <a:latin typeface="Calibri"/>
                <a:cs typeface="Calibri"/>
              </a:rPr>
              <a:t>cost </a:t>
            </a:r>
            <a:r>
              <a:rPr sz="2564" b="1" spc="-3" dirty="0">
                <a:latin typeface="Calibri"/>
                <a:cs typeface="Calibri"/>
              </a:rPr>
              <a:t>/ loss </a:t>
            </a:r>
            <a:r>
              <a:rPr sz="2564" b="1" dirty="0">
                <a:latin typeface="Calibri"/>
                <a:cs typeface="Calibri"/>
              </a:rPr>
              <a:t> </a:t>
            </a:r>
            <a:r>
              <a:rPr sz="2564" b="1" spc="-6" dirty="0">
                <a:latin typeface="Calibri"/>
                <a:cs typeface="Calibri"/>
              </a:rPr>
              <a:t>function</a:t>
            </a:r>
            <a:endParaRPr sz="2564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7050" y="1716250"/>
            <a:ext cx="11654124" cy="4828357"/>
            <a:chOff x="598931" y="2677667"/>
            <a:chExt cx="18182591" cy="7533131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931" y="2677667"/>
              <a:ext cx="6553200" cy="6553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51748" y="5835395"/>
              <a:ext cx="6394704" cy="19583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6575" y="8252459"/>
              <a:ext cx="10674096" cy="19583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494637" y="3571493"/>
              <a:ext cx="4286885" cy="1873250"/>
            </a:xfrm>
            <a:custGeom>
              <a:avLst/>
              <a:gdLst/>
              <a:ahLst/>
              <a:cxnLst/>
              <a:rect l="l" t="t" r="r" b="b"/>
              <a:pathLst>
                <a:path w="4286884" h="1873250">
                  <a:moveTo>
                    <a:pt x="4286377" y="0"/>
                  </a:moveTo>
                  <a:lnTo>
                    <a:pt x="1284097" y="0"/>
                  </a:lnTo>
                  <a:lnTo>
                    <a:pt x="1284097" y="1092581"/>
                  </a:lnTo>
                  <a:lnTo>
                    <a:pt x="0" y="1019810"/>
                  </a:lnTo>
                  <a:lnTo>
                    <a:pt x="1284097" y="1560830"/>
                  </a:lnTo>
                  <a:lnTo>
                    <a:pt x="1284097" y="1872996"/>
                  </a:lnTo>
                  <a:lnTo>
                    <a:pt x="4286377" y="1872996"/>
                  </a:lnTo>
                  <a:lnTo>
                    <a:pt x="4286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54"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4606" y="1263428"/>
            <a:ext cx="3985373" cy="523568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6" y="318642"/>
            <a:ext cx="8720201" cy="685328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22" dirty="0">
                <a:solidFill>
                  <a:schemeClr val="bg1"/>
                </a:solidFill>
              </a:rPr>
              <a:t>Feature</a:t>
            </a:r>
            <a:r>
              <a:rPr spc="-19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space</a:t>
            </a:r>
            <a:r>
              <a:rPr spc="-29" dirty="0">
                <a:solidFill>
                  <a:schemeClr val="bg1"/>
                </a:solidFill>
              </a:rPr>
              <a:t> </a:t>
            </a:r>
            <a:r>
              <a:rPr spc="-19" dirty="0">
                <a:solidFill>
                  <a:schemeClr val="bg1"/>
                </a:solidFill>
              </a:rPr>
              <a:t>versus</a:t>
            </a:r>
            <a:r>
              <a:rPr spc="-26" dirty="0">
                <a:solidFill>
                  <a:schemeClr val="bg1"/>
                </a:solidFill>
              </a:rPr>
              <a:t> </a:t>
            </a:r>
            <a:r>
              <a:rPr spc="-19" dirty="0">
                <a:solidFill>
                  <a:schemeClr val="bg1"/>
                </a:solidFill>
              </a:rPr>
              <a:t>parameter </a:t>
            </a:r>
            <a:r>
              <a:rPr spc="-3" dirty="0">
                <a:solidFill>
                  <a:schemeClr val="bg1"/>
                </a:solidFill>
              </a:rPr>
              <a:t>space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2531" y="1393810"/>
            <a:ext cx="5944848" cy="10920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5446" y="798352"/>
            <a:ext cx="2193909" cy="41123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640710" y="2875720"/>
            <a:ext cx="4978867" cy="2759073"/>
            <a:chOff x="10355798" y="4486655"/>
            <a:chExt cx="7767955" cy="43046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5798" y="4486655"/>
              <a:ext cx="7767609" cy="43040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8907" y="7263383"/>
              <a:ext cx="1375409" cy="150190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0838" y="1979988"/>
            <a:ext cx="4471823" cy="44718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97535" y="4759085"/>
            <a:ext cx="330893" cy="540801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3461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461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95647" y="5212243"/>
            <a:ext cx="797563" cy="9626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472571" y="5315425"/>
            <a:ext cx="247458" cy="540801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3461" dirty="0">
                <a:solidFill>
                  <a:srgbClr val="4471C4"/>
                </a:solidFill>
                <a:latin typeface="Calibri"/>
                <a:cs typeface="Calibri"/>
              </a:rPr>
              <a:t>b</a:t>
            </a:r>
            <a:endParaRPr sz="3461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97338" y="4569503"/>
            <a:ext cx="3675644" cy="2049260"/>
            <a:chOff x="8415908" y="7129271"/>
            <a:chExt cx="5734685" cy="3197225"/>
          </a:xfrm>
        </p:grpSpPr>
        <p:sp>
          <p:nvSpPr>
            <p:cNvPr id="14" name="object 14"/>
            <p:cNvSpPr/>
            <p:nvPr/>
          </p:nvSpPr>
          <p:spPr>
            <a:xfrm>
              <a:off x="8425433" y="7138796"/>
              <a:ext cx="5715635" cy="3178175"/>
            </a:xfrm>
            <a:custGeom>
              <a:avLst/>
              <a:gdLst/>
              <a:ahLst/>
              <a:cxnLst/>
              <a:rect l="l" t="t" r="r" b="b"/>
              <a:pathLst>
                <a:path w="5715634" h="3178175">
                  <a:moveTo>
                    <a:pt x="5715254" y="0"/>
                  </a:moveTo>
                  <a:lnTo>
                    <a:pt x="3753612" y="1358011"/>
                  </a:lnTo>
                  <a:lnTo>
                    <a:pt x="3753612" y="994029"/>
                  </a:lnTo>
                  <a:lnTo>
                    <a:pt x="0" y="994029"/>
                  </a:lnTo>
                  <a:lnTo>
                    <a:pt x="0" y="3177921"/>
                  </a:lnTo>
                  <a:lnTo>
                    <a:pt x="3753612" y="3177921"/>
                  </a:lnTo>
                  <a:lnTo>
                    <a:pt x="3753612" y="1903984"/>
                  </a:lnTo>
                  <a:lnTo>
                    <a:pt x="5715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sp>
          <p:nvSpPr>
            <p:cNvPr id="15" name="object 15"/>
            <p:cNvSpPr/>
            <p:nvPr/>
          </p:nvSpPr>
          <p:spPr>
            <a:xfrm>
              <a:off x="8425433" y="7138796"/>
              <a:ext cx="5715635" cy="3178175"/>
            </a:xfrm>
            <a:custGeom>
              <a:avLst/>
              <a:gdLst/>
              <a:ahLst/>
              <a:cxnLst/>
              <a:rect l="l" t="t" r="r" b="b"/>
              <a:pathLst>
                <a:path w="5715634" h="3178175">
                  <a:moveTo>
                    <a:pt x="0" y="994029"/>
                  </a:moveTo>
                  <a:lnTo>
                    <a:pt x="2189607" y="994029"/>
                  </a:lnTo>
                  <a:lnTo>
                    <a:pt x="3128010" y="994029"/>
                  </a:lnTo>
                  <a:lnTo>
                    <a:pt x="3753612" y="994029"/>
                  </a:lnTo>
                  <a:lnTo>
                    <a:pt x="3753612" y="1358011"/>
                  </a:lnTo>
                  <a:lnTo>
                    <a:pt x="5715254" y="0"/>
                  </a:lnTo>
                  <a:lnTo>
                    <a:pt x="3753612" y="1903984"/>
                  </a:lnTo>
                  <a:lnTo>
                    <a:pt x="3753612" y="3177921"/>
                  </a:lnTo>
                  <a:lnTo>
                    <a:pt x="3128010" y="3177921"/>
                  </a:lnTo>
                  <a:lnTo>
                    <a:pt x="2189607" y="3177921"/>
                  </a:lnTo>
                  <a:lnTo>
                    <a:pt x="0" y="3177921"/>
                  </a:lnTo>
                  <a:lnTo>
                    <a:pt x="0" y="1903984"/>
                  </a:lnTo>
                  <a:lnTo>
                    <a:pt x="0" y="1358011"/>
                  </a:lnTo>
                  <a:lnTo>
                    <a:pt x="0" y="994029"/>
                  </a:lnTo>
                  <a:close/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54237" y="5298039"/>
            <a:ext cx="2203921" cy="1191594"/>
          </a:xfrm>
          <a:prstGeom prst="rect">
            <a:avLst/>
          </a:prstGeom>
        </p:spPr>
        <p:txBody>
          <a:bodyPr vert="horz" wrap="square" lIns="0" tIns="7733" rIns="0" bIns="0" rtlCol="0">
            <a:spAutoFit/>
          </a:bodyPr>
          <a:lstStyle/>
          <a:p>
            <a:pPr marL="8139" marR="3256">
              <a:spcBef>
                <a:spcPts val="61"/>
              </a:spcBef>
            </a:pPr>
            <a:r>
              <a:rPr sz="2564" b="1" spc="-3" dirty="0">
                <a:latin typeface="Calibri"/>
                <a:cs typeface="Calibri"/>
              </a:rPr>
              <a:t>Find the w &amp; b </a:t>
            </a:r>
            <a:r>
              <a:rPr sz="2564" b="1" dirty="0">
                <a:latin typeface="Calibri"/>
                <a:cs typeface="Calibri"/>
              </a:rPr>
              <a:t> </a:t>
            </a:r>
            <a:r>
              <a:rPr sz="2564" b="1" spc="-3" dirty="0">
                <a:latin typeface="Calibri"/>
                <a:cs typeface="Calibri"/>
              </a:rPr>
              <a:t>when the </a:t>
            </a:r>
            <a:r>
              <a:rPr sz="2564" b="1" spc="-16" dirty="0">
                <a:latin typeface="Calibri"/>
                <a:cs typeface="Calibri"/>
              </a:rPr>
              <a:t>cost </a:t>
            </a:r>
            <a:r>
              <a:rPr sz="2564" b="1" spc="-3" dirty="0">
                <a:latin typeface="Calibri"/>
                <a:cs typeface="Calibri"/>
              </a:rPr>
              <a:t>is </a:t>
            </a:r>
            <a:r>
              <a:rPr sz="2564" b="1" spc="-570" dirty="0">
                <a:latin typeface="Calibri"/>
                <a:cs typeface="Calibri"/>
              </a:rPr>
              <a:t> </a:t>
            </a:r>
            <a:r>
              <a:rPr sz="2564" b="1" spc="-6" dirty="0">
                <a:latin typeface="Calibri"/>
                <a:cs typeface="Calibri"/>
              </a:rPr>
              <a:t>minimum</a:t>
            </a:r>
            <a:endParaRPr sz="2564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6" y="349419"/>
            <a:ext cx="11406709" cy="623773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z="4000" spc="-13" dirty="0">
                <a:solidFill>
                  <a:schemeClr val="bg1"/>
                </a:solidFill>
              </a:rPr>
              <a:t>Step</a:t>
            </a:r>
            <a:r>
              <a:rPr sz="4000" spc="-10" dirty="0">
                <a:solidFill>
                  <a:schemeClr val="bg1"/>
                </a:solidFill>
              </a:rPr>
              <a:t> </a:t>
            </a:r>
            <a:r>
              <a:rPr sz="4000" dirty="0">
                <a:solidFill>
                  <a:schemeClr val="bg1"/>
                </a:solidFill>
              </a:rPr>
              <a:t>2.</a:t>
            </a:r>
            <a:r>
              <a:rPr sz="4000" spc="3" dirty="0">
                <a:solidFill>
                  <a:schemeClr val="bg1"/>
                </a:solidFill>
              </a:rPr>
              <a:t> </a:t>
            </a:r>
            <a:r>
              <a:rPr sz="4000" spc="-32" dirty="0">
                <a:solidFill>
                  <a:schemeClr val="bg1"/>
                </a:solidFill>
              </a:rPr>
              <a:t>Evaluate</a:t>
            </a:r>
            <a:r>
              <a:rPr sz="4000" spc="-26" dirty="0">
                <a:solidFill>
                  <a:schemeClr val="bg1"/>
                </a:solidFill>
              </a:rPr>
              <a:t> </a:t>
            </a:r>
            <a:r>
              <a:rPr sz="4000" spc="-13" dirty="0">
                <a:solidFill>
                  <a:schemeClr val="bg1"/>
                </a:solidFill>
              </a:rPr>
              <a:t>y-hat</a:t>
            </a:r>
            <a:r>
              <a:rPr sz="4000" spc="-10" dirty="0">
                <a:solidFill>
                  <a:schemeClr val="bg1"/>
                </a:solidFill>
              </a:rPr>
              <a:t> </a:t>
            </a:r>
            <a:r>
              <a:rPr sz="4000" dirty="0">
                <a:solidFill>
                  <a:schemeClr val="bg1"/>
                </a:solidFill>
              </a:rPr>
              <a:t>&amp; </a:t>
            </a:r>
            <a:r>
              <a:rPr sz="4000" spc="-22" dirty="0">
                <a:solidFill>
                  <a:schemeClr val="bg1"/>
                </a:solidFill>
              </a:rPr>
              <a:t>evaluate</a:t>
            </a:r>
            <a:r>
              <a:rPr sz="4000" spc="-19" dirty="0">
                <a:solidFill>
                  <a:schemeClr val="bg1"/>
                </a:solidFill>
              </a:rPr>
              <a:t> </a:t>
            </a:r>
            <a:r>
              <a:rPr sz="4000" spc="-6" dirty="0">
                <a:solidFill>
                  <a:schemeClr val="bg1"/>
                </a:solidFill>
              </a:rPr>
              <a:t>objective</a:t>
            </a:r>
            <a:r>
              <a:rPr sz="4000" spc="-19" dirty="0">
                <a:solidFill>
                  <a:schemeClr val="bg1"/>
                </a:solidFill>
              </a:rPr>
              <a:t> </a:t>
            </a:r>
            <a:r>
              <a:rPr sz="4000" spc="-3" dirty="0">
                <a:solidFill>
                  <a:schemeClr val="bg1"/>
                </a:solidFill>
              </a:rPr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47523" y="5307604"/>
            <a:ext cx="6002480" cy="1100943"/>
            <a:chOff x="8743188" y="4514087"/>
            <a:chExt cx="9364980" cy="1717675"/>
          </a:xfrm>
        </p:grpSpPr>
        <p:sp>
          <p:nvSpPr>
            <p:cNvPr id="5" name="object 5"/>
            <p:cNvSpPr/>
            <p:nvPr/>
          </p:nvSpPr>
          <p:spPr>
            <a:xfrm>
              <a:off x="9505188" y="5346953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3188" y="4514087"/>
              <a:ext cx="9364980" cy="171754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75697" y="1198197"/>
            <a:ext cx="6255025" cy="2016462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indent="-183951">
              <a:spcBef>
                <a:spcPts val="64"/>
              </a:spcBef>
              <a:buFont typeface="Arial MT"/>
              <a:buChar char="•"/>
              <a:tabLst>
                <a:tab pos="192091" algn="l"/>
              </a:tabLst>
            </a:pPr>
            <a:r>
              <a:rPr sz="3200" spc="-29" dirty="0">
                <a:latin typeface="Calibri"/>
                <a:cs typeface="Calibri"/>
              </a:rPr>
              <a:t>Evaluate</a:t>
            </a:r>
            <a:r>
              <a:rPr sz="3200" spc="-16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y-hat</a:t>
            </a:r>
            <a:endParaRPr sz="3200" dirty="0">
              <a:latin typeface="Calibri"/>
              <a:cs typeface="Calibri"/>
            </a:endParaRPr>
          </a:p>
          <a:p>
            <a:pPr marL="191684" indent="-183951">
              <a:spcBef>
                <a:spcPts val="67"/>
              </a:spcBef>
              <a:buFont typeface="Arial MT"/>
              <a:buChar char="•"/>
              <a:tabLst>
                <a:tab pos="192091" algn="l"/>
              </a:tabLst>
            </a:pPr>
            <a:endParaRPr lang="en-US" sz="3200" spc="-29" dirty="0">
              <a:latin typeface="Calibri"/>
              <a:cs typeface="Calibri"/>
            </a:endParaRPr>
          </a:p>
          <a:p>
            <a:pPr marL="191684" indent="-183951">
              <a:spcBef>
                <a:spcPts val="67"/>
              </a:spcBef>
              <a:buFont typeface="Arial MT"/>
              <a:buChar char="•"/>
              <a:tabLst>
                <a:tab pos="192091" algn="l"/>
              </a:tabLst>
            </a:pPr>
            <a:r>
              <a:rPr sz="3200" spc="-29" dirty="0">
                <a:latin typeface="Calibri"/>
                <a:cs typeface="Calibri"/>
              </a:rPr>
              <a:t>Evaluate</a:t>
            </a:r>
            <a:r>
              <a:rPr sz="3200" spc="-13" dirty="0">
                <a:latin typeface="Calibri"/>
                <a:cs typeface="Calibri"/>
              </a:rPr>
              <a:t> </a:t>
            </a:r>
            <a:r>
              <a:rPr lang="en-US" sz="3200" spc="-13" dirty="0">
                <a:latin typeface="Calibri"/>
                <a:cs typeface="Calibri"/>
              </a:rPr>
              <a:t>o</a:t>
            </a:r>
            <a:r>
              <a:rPr sz="3200" spc="-6" dirty="0">
                <a:latin typeface="Calibri"/>
                <a:cs typeface="Calibri"/>
              </a:rPr>
              <a:t>bjective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" dirty="0">
                <a:latin typeface="Calibri"/>
                <a:cs typeface="Calibri"/>
              </a:rPr>
              <a:t>function</a:t>
            </a:r>
            <a:r>
              <a:rPr lang="en-US" sz="3200" spc="-3" dirty="0">
                <a:latin typeface="Calibri"/>
                <a:cs typeface="Calibri"/>
              </a:rPr>
              <a:t> (a</a:t>
            </a:r>
            <a:r>
              <a:rPr sz="3200" dirty="0">
                <a:latin typeface="Calibri"/>
                <a:cs typeface="Calibri"/>
              </a:rPr>
              <a:t>lso</a:t>
            </a:r>
            <a:r>
              <a:rPr sz="3200" spc="-22" dirty="0">
                <a:latin typeface="Calibri"/>
                <a:cs typeface="Calibri"/>
              </a:rPr>
              <a:t> </a:t>
            </a:r>
            <a:r>
              <a:rPr sz="3200" spc="-3" dirty="0">
                <a:latin typeface="Calibri"/>
                <a:cs typeface="Calibri"/>
              </a:rPr>
              <a:t>known</a:t>
            </a:r>
            <a:r>
              <a:rPr sz="3200" spc="-13" dirty="0">
                <a:latin typeface="Calibri"/>
                <a:cs typeface="Calibri"/>
              </a:rPr>
              <a:t> </a:t>
            </a:r>
            <a:r>
              <a:rPr sz="3200" spc="3" dirty="0">
                <a:latin typeface="Calibri"/>
                <a:cs typeface="Calibri"/>
              </a:rPr>
              <a:t>as</a:t>
            </a:r>
            <a:r>
              <a:rPr sz="3200" spc="-13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forward</a:t>
            </a:r>
            <a:r>
              <a:rPr sz="3200" spc="-16" dirty="0">
                <a:latin typeface="Calibri"/>
                <a:cs typeface="Calibri"/>
              </a:rPr>
              <a:t> </a:t>
            </a:r>
            <a:r>
              <a:rPr sz="3200" spc="-3" dirty="0">
                <a:latin typeface="Calibri"/>
                <a:cs typeface="Calibri"/>
              </a:rPr>
              <a:t>pass</a:t>
            </a:r>
            <a:r>
              <a:rPr lang="en-US" sz="3200" spc="-3" dirty="0"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575" y="1419911"/>
            <a:ext cx="4012064" cy="41668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7523" y="3760707"/>
            <a:ext cx="4615414" cy="10129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35580" y="1263469"/>
            <a:ext cx="2194886" cy="41123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6" y="318642"/>
            <a:ext cx="5748836" cy="685328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0" dirty="0">
                <a:solidFill>
                  <a:schemeClr val="bg1"/>
                </a:solidFill>
              </a:rPr>
              <a:t>Objective</a:t>
            </a:r>
            <a:r>
              <a:rPr spc="-29" dirty="0">
                <a:solidFill>
                  <a:schemeClr val="bg1"/>
                </a:solidFill>
              </a:rPr>
              <a:t> </a:t>
            </a:r>
            <a:r>
              <a:rPr spc="-6" dirty="0">
                <a:solidFill>
                  <a:schemeClr val="bg1"/>
                </a:solidFill>
              </a:rPr>
              <a:t>function</a:t>
            </a:r>
            <a:r>
              <a:rPr spc="-38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plot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95013" y="6414887"/>
            <a:ext cx="297112" cy="57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2"/>
              </a:lnSpc>
            </a:pPr>
            <a:r>
              <a:rPr sz="2307" spc="-3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2307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5594" y="1765090"/>
            <a:ext cx="11041991" cy="5033406"/>
            <a:chOff x="1361150" y="2753867"/>
            <a:chExt cx="17227550" cy="7853045"/>
          </a:xfrm>
        </p:grpSpPr>
        <p:sp>
          <p:nvSpPr>
            <p:cNvPr id="6" name="object 6"/>
            <p:cNvSpPr/>
            <p:nvPr/>
          </p:nvSpPr>
          <p:spPr>
            <a:xfrm>
              <a:off x="9505188" y="5346953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3560" y="2753867"/>
              <a:ext cx="9154667" cy="77739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1150" y="3294887"/>
              <a:ext cx="7767609" cy="43040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57350" y="5934074"/>
              <a:ext cx="9431020" cy="4663440"/>
            </a:xfrm>
            <a:custGeom>
              <a:avLst/>
              <a:gdLst/>
              <a:ahLst/>
              <a:cxnLst/>
              <a:rect l="l" t="t" r="r" b="b"/>
              <a:pathLst>
                <a:path w="9431020" h="4663440">
                  <a:moveTo>
                    <a:pt x="9430639" y="0"/>
                  </a:moveTo>
                  <a:lnTo>
                    <a:pt x="3066161" y="2149983"/>
                  </a:lnTo>
                  <a:lnTo>
                    <a:pt x="0" y="2149983"/>
                  </a:lnTo>
                  <a:lnTo>
                    <a:pt x="0" y="4663059"/>
                  </a:lnTo>
                  <a:lnTo>
                    <a:pt x="5256276" y="4663059"/>
                  </a:lnTo>
                  <a:lnTo>
                    <a:pt x="5256276" y="2149983"/>
                  </a:lnTo>
                  <a:lnTo>
                    <a:pt x="4380230" y="2149983"/>
                  </a:lnTo>
                  <a:lnTo>
                    <a:pt x="9430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657350" y="5934074"/>
              <a:ext cx="9431020" cy="4663440"/>
            </a:xfrm>
            <a:custGeom>
              <a:avLst/>
              <a:gdLst/>
              <a:ahLst/>
              <a:cxnLst/>
              <a:rect l="l" t="t" r="r" b="b"/>
              <a:pathLst>
                <a:path w="9431020" h="4663440">
                  <a:moveTo>
                    <a:pt x="0" y="2149983"/>
                  </a:moveTo>
                  <a:lnTo>
                    <a:pt x="3066161" y="2149983"/>
                  </a:lnTo>
                  <a:lnTo>
                    <a:pt x="9430639" y="0"/>
                  </a:lnTo>
                  <a:lnTo>
                    <a:pt x="4380230" y="2149983"/>
                  </a:lnTo>
                  <a:lnTo>
                    <a:pt x="5256276" y="2149983"/>
                  </a:lnTo>
                  <a:lnTo>
                    <a:pt x="5256276" y="2568829"/>
                  </a:lnTo>
                  <a:lnTo>
                    <a:pt x="5256276" y="3197098"/>
                  </a:lnTo>
                  <a:lnTo>
                    <a:pt x="5256276" y="4663059"/>
                  </a:lnTo>
                  <a:lnTo>
                    <a:pt x="4380230" y="4663059"/>
                  </a:lnTo>
                  <a:lnTo>
                    <a:pt x="3066161" y="4663059"/>
                  </a:lnTo>
                  <a:lnTo>
                    <a:pt x="0" y="4663059"/>
                  </a:lnTo>
                  <a:lnTo>
                    <a:pt x="0" y="3197098"/>
                  </a:lnTo>
                  <a:lnTo>
                    <a:pt x="0" y="2568829"/>
                  </a:lnTo>
                  <a:lnTo>
                    <a:pt x="0" y="2149983"/>
                  </a:lnTo>
                  <a:close/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4636" y="6074663"/>
              <a:ext cx="1375409" cy="15019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4468" y="6943343"/>
              <a:ext cx="1244346" cy="150190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15423" y="3968035"/>
            <a:ext cx="4222249" cy="2796770"/>
          </a:xfrm>
          <a:prstGeom prst="rect">
            <a:avLst/>
          </a:prstGeom>
        </p:spPr>
        <p:txBody>
          <a:bodyPr vert="horz" wrap="square" lIns="0" tIns="37444" rIns="0" bIns="0" rtlCol="0">
            <a:spAutoFit/>
          </a:bodyPr>
          <a:lstStyle/>
          <a:p>
            <a:pPr marL="3891055" algn="ctr">
              <a:spcBef>
                <a:spcPts val="294"/>
              </a:spcBef>
            </a:pPr>
            <a:r>
              <a:rPr sz="3461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461" dirty="0">
              <a:latin typeface="Calibri"/>
              <a:cs typeface="Calibri"/>
            </a:endParaRPr>
          </a:p>
          <a:p>
            <a:pPr marR="840803" algn="ctr">
              <a:spcBef>
                <a:spcPts val="230"/>
              </a:spcBef>
            </a:pPr>
            <a:r>
              <a:rPr sz="3461" dirty="0">
                <a:solidFill>
                  <a:srgbClr val="4471C4"/>
                </a:solidFill>
                <a:latin typeface="Calibri"/>
                <a:cs typeface="Calibri"/>
              </a:rPr>
              <a:t>b</a:t>
            </a:r>
            <a:endParaRPr sz="3461" dirty="0">
              <a:latin typeface="Calibri"/>
              <a:cs typeface="Calibri"/>
            </a:endParaRPr>
          </a:p>
          <a:p>
            <a:pPr marL="8139" marR="1429691">
              <a:spcBef>
                <a:spcPts val="747"/>
              </a:spcBef>
            </a:pPr>
            <a:r>
              <a:rPr sz="2564" b="1" spc="-70" dirty="0">
                <a:latin typeface="Calibri"/>
                <a:cs typeface="Calibri"/>
              </a:rPr>
              <a:t>Take</a:t>
            </a:r>
            <a:r>
              <a:rPr sz="2564" b="1" spc="-10" dirty="0">
                <a:latin typeface="Calibri"/>
                <a:cs typeface="Calibri"/>
              </a:rPr>
              <a:t> </a:t>
            </a:r>
            <a:r>
              <a:rPr sz="2564" b="1" spc="-3" dirty="0">
                <a:latin typeface="Calibri"/>
                <a:cs typeface="Calibri"/>
              </a:rPr>
              <a:t>a </a:t>
            </a:r>
            <a:r>
              <a:rPr sz="2564" b="1" spc="-6" dirty="0">
                <a:latin typeface="Calibri"/>
                <a:cs typeface="Calibri"/>
              </a:rPr>
              <a:t>little </a:t>
            </a:r>
            <a:r>
              <a:rPr sz="2564" b="1" spc="-19" dirty="0">
                <a:latin typeface="Calibri"/>
                <a:cs typeface="Calibri"/>
              </a:rPr>
              <a:t>step </a:t>
            </a:r>
            <a:r>
              <a:rPr sz="2564" b="1" spc="-16" dirty="0">
                <a:latin typeface="Calibri"/>
                <a:cs typeface="Calibri"/>
              </a:rPr>
              <a:t> </a:t>
            </a:r>
            <a:r>
              <a:rPr sz="2564" b="1" spc="-19" dirty="0">
                <a:latin typeface="Calibri"/>
                <a:cs typeface="Calibri"/>
              </a:rPr>
              <a:t>towards</a:t>
            </a:r>
            <a:r>
              <a:rPr sz="2564" b="1" dirty="0">
                <a:latin typeface="Calibri"/>
                <a:cs typeface="Calibri"/>
              </a:rPr>
              <a:t> </a:t>
            </a:r>
            <a:r>
              <a:rPr sz="2564" b="1" spc="-13" dirty="0">
                <a:latin typeface="Calibri"/>
                <a:cs typeface="Calibri"/>
              </a:rPr>
              <a:t>lowest</a:t>
            </a:r>
            <a:r>
              <a:rPr sz="2564" b="1" spc="-16" dirty="0">
                <a:latin typeface="Calibri"/>
                <a:cs typeface="Calibri"/>
              </a:rPr>
              <a:t> </a:t>
            </a:r>
            <a:r>
              <a:rPr sz="2564" b="1" spc="-13" dirty="0">
                <a:latin typeface="Calibri"/>
                <a:cs typeface="Calibri"/>
              </a:rPr>
              <a:t>cost.</a:t>
            </a:r>
            <a:endParaRPr sz="2564" dirty="0">
              <a:latin typeface="Calibri"/>
              <a:cs typeface="Calibri"/>
            </a:endParaRPr>
          </a:p>
          <a:p>
            <a:pPr marL="484703" indent="-476971">
              <a:spcBef>
                <a:spcPts val="3"/>
              </a:spcBef>
              <a:buAutoNum type="arabicPeriod"/>
              <a:tabLst>
                <a:tab pos="484703" algn="l"/>
                <a:tab pos="485110" algn="l"/>
              </a:tabLst>
            </a:pPr>
            <a:r>
              <a:rPr sz="2564" b="1" spc="-6" dirty="0">
                <a:latin typeface="Calibri"/>
                <a:cs typeface="Calibri"/>
              </a:rPr>
              <a:t>How</a:t>
            </a:r>
            <a:r>
              <a:rPr sz="2564" b="1" spc="-26" dirty="0">
                <a:latin typeface="Calibri"/>
                <a:cs typeface="Calibri"/>
              </a:rPr>
              <a:t> </a:t>
            </a:r>
            <a:r>
              <a:rPr sz="2564" b="1" spc="-6" dirty="0">
                <a:latin typeface="Calibri"/>
                <a:cs typeface="Calibri"/>
              </a:rPr>
              <a:t>little?</a:t>
            </a:r>
            <a:endParaRPr sz="2564" dirty="0">
              <a:latin typeface="Calibri"/>
              <a:cs typeface="Calibri"/>
            </a:endParaRPr>
          </a:p>
          <a:p>
            <a:pPr marL="484703" indent="-476971">
              <a:buAutoNum type="arabicPeriod"/>
              <a:tabLst>
                <a:tab pos="484703" algn="l"/>
                <a:tab pos="485110" algn="l"/>
              </a:tabLst>
            </a:pPr>
            <a:r>
              <a:rPr sz="2564" b="1" spc="-6" dirty="0">
                <a:latin typeface="Calibri"/>
                <a:cs typeface="Calibri"/>
              </a:rPr>
              <a:t>Which </a:t>
            </a:r>
            <a:r>
              <a:rPr sz="2564" b="1" spc="-10" dirty="0">
                <a:latin typeface="Calibri"/>
                <a:cs typeface="Calibri"/>
              </a:rPr>
              <a:t>direction?</a:t>
            </a:r>
            <a:endParaRPr sz="2564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7" y="318642"/>
            <a:ext cx="8340124" cy="685328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3" dirty="0">
                <a:solidFill>
                  <a:schemeClr val="bg1"/>
                </a:solidFill>
              </a:rPr>
              <a:t>Step</a:t>
            </a:r>
            <a:r>
              <a:rPr spc="-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3. </a:t>
            </a:r>
            <a:r>
              <a:rPr spc="-16" dirty="0">
                <a:solidFill>
                  <a:schemeClr val="bg1"/>
                </a:solidFill>
              </a:rPr>
              <a:t>Calculate</a:t>
            </a:r>
            <a:r>
              <a:rPr spc="-19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analytical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16" dirty="0">
                <a:solidFill>
                  <a:schemeClr val="bg1"/>
                </a:solidFill>
              </a:rPr>
              <a:t>gradients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695" y="1158727"/>
            <a:ext cx="11146491" cy="5467190"/>
            <a:chOff x="1164108" y="1546859"/>
            <a:chExt cx="17390591" cy="8529828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73739" y="1546859"/>
              <a:ext cx="6829044" cy="14996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0724" y="1633727"/>
              <a:ext cx="8203692" cy="15057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18064" y="3166871"/>
              <a:ext cx="8136635" cy="69098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108" y="5834046"/>
              <a:ext cx="7335011" cy="29428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05188" y="5346953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6366" y="2994476"/>
            <a:ext cx="3716450" cy="599920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8140" rIns="0" bIns="0" rtlCol="0">
            <a:spAutoFit/>
          </a:bodyPr>
          <a:lstStyle/>
          <a:p>
            <a:pPr marL="7733">
              <a:spcBef>
                <a:spcPts val="64"/>
              </a:spcBef>
              <a:tabLst>
                <a:tab pos="192091" algn="l"/>
              </a:tabLst>
            </a:pPr>
            <a:r>
              <a:rPr sz="3845" spc="-13" dirty="0">
                <a:solidFill>
                  <a:schemeClr val="bg1"/>
                </a:solidFill>
                <a:latin typeface="Calibri"/>
                <a:cs typeface="Calibri"/>
              </a:rPr>
              <a:t>Calculate</a:t>
            </a:r>
            <a:r>
              <a:rPr sz="3845" spc="-3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845" spc="-16" dirty="0">
                <a:solidFill>
                  <a:schemeClr val="bg1"/>
                </a:solidFill>
                <a:latin typeface="Calibri"/>
                <a:cs typeface="Calibri"/>
              </a:rPr>
              <a:t>gradient</a:t>
            </a:r>
            <a:endParaRPr sz="3845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11346022" cy="599515"/>
          </a:xfrm>
          <a:custGeom>
            <a:avLst/>
            <a:gdLst/>
            <a:ahLst/>
            <a:cxnLst/>
            <a:rect l="l" t="t" r="r" b="b"/>
            <a:pathLst>
              <a:path w="17701895" h="935355">
                <a:moveTo>
                  <a:pt x="17701387" y="467664"/>
                </a:moveTo>
                <a:lnTo>
                  <a:pt x="17671669" y="373430"/>
                </a:lnTo>
                <a:lnTo>
                  <a:pt x="17586833" y="285673"/>
                </a:lnTo>
                <a:lnTo>
                  <a:pt x="17452340" y="206171"/>
                </a:lnTo>
                <a:lnTo>
                  <a:pt x="17274413" y="136956"/>
                </a:lnTo>
                <a:lnTo>
                  <a:pt x="17058640" y="79933"/>
                </a:lnTo>
                <a:lnTo>
                  <a:pt x="16810990" y="36753"/>
                </a:lnTo>
                <a:lnTo>
                  <a:pt x="16537305" y="9575"/>
                </a:lnTo>
                <a:lnTo>
                  <a:pt x="16243554" y="50"/>
                </a:lnTo>
                <a:lnTo>
                  <a:pt x="16016732" y="7416"/>
                </a:lnTo>
                <a:lnTo>
                  <a:pt x="16016732" y="0"/>
                </a:lnTo>
                <a:lnTo>
                  <a:pt x="0" y="0"/>
                </a:lnTo>
                <a:lnTo>
                  <a:pt x="0" y="935278"/>
                </a:lnTo>
                <a:lnTo>
                  <a:pt x="16016732" y="935278"/>
                </a:lnTo>
                <a:lnTo>
                  <a:pt x="16016732" y="928027"/>
                </a:lnTo>
                <a:lnTo>
                  <a:pt x="16243554" y="935278"/>
                </a:lnTo>
                <a:lnTo>
                  <a:pt x="16537305" y="925880"/>
                </a:lnTo>
                <a:lnTo>
                  <a:pt x="16810990" y="898575"/>
                </a:lnTo>
                <a:lnTo>
                  <a:pt x="17058640" y="855395"/>
                </a:lnTo>
                <a:lnTo>
                  <a:pt x="17274413" y="798372"/>
                </a:lnTo>
                <a:lnTo>
                  <a:pt x="17452340" y="729157"/>
                </a:lnTo>
                <a:lnTo>
                  <a:pt x="17586833" y="649655"/>
                </a:lnTo>
                <a:lnTo>
                  <a:pt x="17671669" y="561898"/>
                </a:lnTo>
                <a:lnTo>
                  <a:pt x="17701387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346676" y="309146"/>
            <a:ext cx="8603636" cy="1937285"/>
          </a:xfrm>
          <a:prstGeom prst="rect">
            <a:avLst/>
          </a:prstGeom>
        </p:spPr>
        <p:txBody>
          <a:bodyPr vert="horz" wrap="square" lIns="0" tIns="59015" rIns="0" bIns="0" rtlCol="0">
            <a:spAutoFit/>
          </a:bodyPr>
          <a:lstStyle/>
          <a:p>
            <a:pPr marL="8139">
              <a:spcBef>
                <a:spcPts val="465"/>
              </a:spcBef>
            </a:pPr>
            <a:r>
              <a:rPr sz="3845" spc="-13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845" spc="-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45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3845" spc="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45" spc="-26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sz="3845" spc="-4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45" spc="-10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3845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45" spc="-19" dirty="0">
                <a:solidFill>
                  <a:srgbClr val="FFFFFF"/>
                </a:solidFill>
                <a:latin typeface="Calibri"/>
                <a:cs typeface="Calibri"/>
              </a:rPr>
              <a:t>gradient</a:t>
            </a:r>
            <a:r>
              <a:rPr sz="3845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45" spc="-10" dirty="0">
                <a:solidFill>
                  <a:srgbClr val="FFFFFF"/>
                </a:solidFill>
                <a:latin typeface="Calibri"/>
                <a:cs typeface="Calibri"/>
              </a:rPr>
              <a:t>descent</a:t>
            </a:r>
            <a:endParaRPr sz="3845" dirty="0">
              <a:latin typeface="Calibri"/>
              <a:cs typeface="Calibri"/>
            </a:endParaRPr>
          </a:p>
          <a:p>
            <a:pPr marL="459064" indent="-183951">
              <a:spcBef>
                <a:spcPts val="401"/>
              </a:spcBef>
              <a:buFont typeface="Arial MT"/>
              <a:buChar char="•"/>
              <a:tabLst>
                <a:tab pos="459471" algn="l"/>
              </a:tabLst>
            </a:pPr>
            <a:endParaRPr lang="en-US" sz="3845" dirty="0">
              <a:latin typeface="Calibri"/>
              <a:cs typeface="Calibri"/>
            </a:endParaRPr>
          </a:p>
          <a:p>
            <a:pPr marL="459064" indent="-183951">
              <a:spcBef>
                <a:spcPts val="401"/>
              </a:spcBef>
              <a:buFont typeface="Arial MT"/>
              <a:buChar char="•"/>
              <a:tabLst>
                <a:tab pos="459471" algn="l"/>
              </a:tabLst>
            </a:pPr>
            <a:r>
              <a:rPr lang="en-US" sz="3845" dirty="0">
                <a:latin typeface="Calibri"/>
                <a:cs typeface="Calibri"/>
              </a:rPr>
              <a:t>B</a:t>
            </a:r>
            <a:r>
              <a:rPr sz="3845" spc="-13" dirty="0">
                <a:latin typeface="Calibri"/>
                <a:cs typeface="Calibri"/>
              </a:rPr>
              <a:t>ackward</a:t>
            </a:r>
            <a:r>
              <a:rPr sz="3845" spc="-16" dirty="0">
                <a:latin typeface="Calibri"/>
                <a:cs typeface="Calibri"/>
              </a:rPr>
              <a:t> </a:t>
            </a:r>
            <a:r>
              <a:rPr sz="3845" dirty="0">
                <a:latin typeface="Calibri"/>
                <a:cs typeface="Calibri"/>
              </a:rPr>
              <a:t>pass</a:t>
            </a:r>
            <a:r>
              <a:rPr lang="en-US" sz="3845" dirty="0">
                <a:latin typeface="Calibri"/>
                <a:cs typeface="Calibri"/>
              </a:rPr>
              <a:t> – update </a:t>
            </a:r>
            <a:r>
              <a:rPr lang="en-US" sz="3845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845" dirty="0">
                <a:latin typeface="Calibri"/>
                <a:cs typeface="Calibri"/>
              </a:rPr>
              <a:t> and </a:t>
            </a:r>
            <a:r>
              <a:rPr lang="en-US" sz="3845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sz="3845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075" y="4738282"/>
            <a:ext cx="3906007" cy="599920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indent="-183951">
              <a:spcBef>
                <a:spcPts val="64"/>
              </a:spcBef>
              <a:buFont typeface="Arial MT"/>
              <a:buChar char="•"/>
              <a:tabLst>
                <a:tab pos="192091" algn="l"/>
              </a:tabLst>
            </a:pPr>
            <a:r>
              <a:rPr sz="3845" spc="-19" dirty="0">
                <a:latin typeface="Calibri"/>
                <a:cs typeface="Calibri"/>
              </a:rPr>
              <a:t>Repeat</a:t>
            </a:r>
            <a:r>
              <a:rPr sz="3845" spc="-6" dirty="0">
                <a:latin typeface="Calibri"/>
                <a:cs typeface="Calibri"/>
              </a:rPr>
              <a:t> </a:t>
            </a:r>
            <a:r>
              <a:rPr sz="3845" spc="-13" dirty="0">
                <a:latin typeface="Calibri"/>
                <a:cs typeface="Calibri"/>
              </a:rPr>
              <a:t>Step</a:t>
            </a:r>
            <a:r>
              <a:rPr sz="3845" spc="-10" dirty="0">
                <a:latin typeface="Calibri"/>
                <a:cs typeface="Calibri"/>
              </a:rPr>
              <a:t> </a:t>
            </a:r>
            <a:r>
              <a:rPr sz="3845" dirty="0">
                <a:latin typeface="Calibri"/>
                <a:cs typeface="Calibri"/>
              </a:rPr>
              <a:t>2,</a:t>
            </a:r>
            <a:r>
              <a:rPr sz="3845" spc="-13" dirty="0">
                <a:latin typeface="Calibri"/>
                <a:cs typeface="Calibri"/>
              </a:rPr>
              <a:t> </a:t>
            </a:r>
            <a:r>
              <a:rPr sz="3845" dirty="0">
                <a:latin typeface="Calibri"/>
                <a:cs typeface="Calibri"/>
              </a:rPr>
              <a:t>3,</a:t>
            </a:r>
            <a:r>
              <a:rPr sz="3845" spc="-10" dirty="0">
                <a:latin typeface="Calibri"/>
                <a:cs typeface="Calibri"/>
              </a:rPr>
              <a:t> </a:t>
            </a:r>
            <a:r>
              <a:rPr sz="3845" dirty="0">
                <a:latin typeface="Calibri"/>
                <a:cs typeface="Calibri"/>
              </a:rPr>
              <a:t>4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084" y="2384305"/>
            <a:ext cx="2804413" cy="20893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2298930"/>
            <a:ext cx="5146601" cy="416740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11346022" cy="599515"/>
          </a:xfrm>
          <a:custGeom>
            <a:avLst/>
            <a:gdLst/>
            <a:ahLst/>
            <a:cxnLst/>
            <a:rect l="l" t="t" r="r" b="b"/>
            <a:pathLst>
              <a:path w="17701895" h="935355">
                <a:moveTo>
                  <a:pt x="17701387" y="467664"/>
                </a:moveTo>
                <a:lnTo>
                  <a:pt x="17671669" y="373430"/>
                </a:lnTo>
                <a:lnTo>
                  <a:pt x="17586833" y="285673"/>
                </a:lnTo>
                <a:lnTo>
                  <a:pt x="17452340" y="206171"/>
                </a:lnTo>
                <a:lnTo>
                  <a:pt x="17274413" y="136956"/>
                </a:lnTo>
                <a:lnTo>
                  <a:pt x="17058640" y="79933"/>
                </a:lnTo>
                <a:lnTo>
                  <a:pt x="16810990" y="36753"/>
                </a:lnTo>
                <a:lnTo>
                  <a:pt x="16537305" y="9575"/>
                </a:lnTo>
                <a:lnTo>
                  <a:pt x="16243554" y="50"/>
                </a:lnTo>
                <a:lnTo>
                  <a:pt x="16016732" y="7416"/>
                </a:lnTo>
                <a:lnTo>
                  <a:pt x="16016732" y="0"/>
                </a:lnTo>
                <a:lnTo>
                  <a:pt x="0" y="0"/>
                </a:lnTo>
                <a:lnTo>
                  <a:pt x="0" y="935278"/>
                </a:lnTo>
                <a:lnTo>
                  <a:pt x="16016732" y="935278"/>
                </a:lnTo>
                <a:lnTo>
                  <a:pt x="16016732" y="928027"/>
                </a:lnTo>
                <a:lnTo>
                  <a:pt x="16243554" y="935278"/>
                </a:lnTo>
                <a:lnTo>
                  <a:pt x="16537305" y="925880"/>
                </a:lnTo>
                <a:lnTo>
                  <a:pt x="16810990" y="898575"/>
                </a:lnTo>
                <a:lnTo>
                  <a:pt x="17058640" y="855395"/>
                </a:lnTo>
                <a:lnTo>
                  <a:pt x="17274413" y="798372"/>
                </a:lnTo>
                <a:lnTo>
                  <a:pt x="17452340" y="729157"/>
                </a:lnTo>
                <a:lnTo>
                  <a:pt x="17586833" y="649655"/>
                </a:lnTo>
                <a:lnTo>
                  <a:pt x="17671669" y="561898"/>
                </a:lnTo>
                <a:lnTo>
                  <a:pt x="17701387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6" y="318642"/>
            <a:ext cx="9745178" cy="685328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0" dirty="0">
                <a:solidFill>
                  <a:schemeClr val="bg1"/>
                </a:solidFill>
              </a:rPr>
              <a:t>Change</a:t>
            </a:r>
            <a:r>
              <a:rPr spc="-22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</a:t>
            </a:r>
            <a:r>
              <a:rPr spc="3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13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 </a:t>
            </a:r>
            <a:r>
              <a:rPr spc="-6" dirty="0">
                <a:solidFill>
                  <a:schemeClr val="bg1"/>
                </a:solidFill>
              </a:rPr>
              <a:t>with</a:t>
            </a:r>
            <a:r>
              <a:rPr spc="-3" dirty="0">
                <a:solidFill>
                  <a:schemeClr val="bg1"/>
                </a:solidFill>
              </a:rPr>
              <a:t> </a:t>
            </a:r>
            <a:r>
              <a:rPr spc="-19" dirty="0">
                <a:solidFill>
                  <a:schemeClr val="bg1"/>
                </a:solidFill>
              </a:rPr>
              <a:t>gradient</a:t>
            </a:r>
            <a:r>
              <a:rPr spc="-16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descent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676" y="1422231"/>
            <a:ext cx="5789444" cy="468959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560470" y="1422230"/>
            <a:ext cx="5181763" cy="4689593"/>
            <a:chOff x="10230611" y="2218943"/>
            <a:chExt cx="6975475" cy="69754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30611" y="2218943"/>
              <a:ext cx="6975348" cy="69753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71936" y="2871723"/>
              <a:ext cx="5713095" cy="3743325"/>
            </a:xfrm>
            <a:custGeom>
              <a:avLst/>
              <a:gdLst/>
              <a:ahLst/>
              <a:cxnLst/>
              <a:rect l="l" t="t" r="r" b="b"/>
              <a:pathLst>
                <a:path w="5713094" h="3743325">
                  <a:moveTo>
                    <a:pt x="142875" y="3743324"/>
                  </a:moveTo>
                  <a:lnTo>
                    <a:pt x="158750" y="3743324"/>
                  </a:lnTo>
                  <a:lnTo>
                    <a:pt x="174498" y="3743324"/>
                  </a:lnTo>
                  <a:lnTo>
                    <a:pt x="237871" y="3727449"/>
                  </a:lnTo>
                  <a:lnTo>
                    <a:pt x="285750" y="3711574"/>
                  </a:lnTo>
                  <a:lnTo>
                    <a:pt x="364998" y="3695699"/>
                  </a:lnTo>
                  <a:lnTo>
                    <a:pt x="428371" y="3679951"/>
                  </a:lnTo>
                  <a:lnTo>
                    <a:pt x="523748" y="3648201"/>
                  </a:lnTo>
                  <a:lnTo>
                    <a:pt x="634619" y="3616197"/>
                  </a:lnTo>
                  <a:lnTo>
                    <a:pt x="745871" y="3584447"/>
                  </a:lnTo>
                  <a:lnTo>
                    <a:pt x="857123" y="3552824"/>
                  </a:lnTo>
                  <a:lnTo>
                    <a:pt x="936371" y="3536949"/>
                  </a:lnTo>
                  <a:lnTo>
                    <a:pt x="1031367" y="3505326"/>
                  </a:lnTo>
                  <a:lnTo>
                    <a:pt x="1095121" y="3505326"/>
                  </a:lnTo>
                  <a:lnTo>
                    <a:pt x="1142619" y="3489451"/>
                  </a:lnTo>
                  <a:lnTo>
                    <a:pt x="1221740" y="3473576"/>
                  </a:lnTo>
                  <a:lnTo>
                    <a:pt x="1285494" y="3457829"/>
                  </a:lnTo>
                  <a:lnTo>
                    <a:pt x="1332992" y="3441954"/>
                  </a:lnTo>
                  <a:lnTo>
                    <a:pt x="1364742" y="3426079"/>
                  </a:lnTo>
                  <a:lnTo>
                    <a:pt x="1412240" y="3410330"/>
                  </a:lnTo>
                  <a:lnTo>
                    <a:pt x="1428369" y="3410330"/>
                  </a:lnTo>
                  <a:lnTo>
                    <a:pt x="1460119" y="3394455"/>
                  </a:lnTo>
                  <a:lnTo>
                    <a:pt x="1491742" y="3394455"/>
                  </a:lnTo>
                  <a:lnTo>
                    <a:pt x="1507617" y="3378580"/>
                  </a:lnTo>
                  <a:lnTo>
                    <a:pt x="1539367" y="3378580"/>
                  </a:lnTo>
                  <a:lnTo>
                    <a:pt x="1570990" y="3378580"/>
                  </a:lnTo>
                  <a:lnTo>
                    <a:pt x="1586865" y="3362451"/>
                  </a:lnTo>
                  <a:lnTo>
                    <a:pt x="1618488" y="3362451"/>
                  </a:lnTo>
                  <a:lnTo>
                    <a:pt x="1650492" y="3362451"/>
                  </a:lnTo>
                  <a:lnTo>
                    <a:pt x="1682242" y="3346576"/>
                  </a:lnTo>
                  <a:lnTo>
                    <a:pt x="1698117" y="3346576"/>
                  </a:lnTo>
                  <a:lnTo>
                    <a:pt x="1729740" y="3330701"/>
                  </a:lnTo>
                  <a:lnTo>
                    <a:pt x="1745615" y="3330701"/>
                  </a:lnTo>
                  <a:lnTo>
                    <a:pt x="1761490" y="3314826"/>
                  </a:lnTo>
                  <a:lnTo>
                    <a:pt x="1777238" y="3314826"/>
                  </a:lnTo>
                  <a:lnTo>
                    <a:pt x="1967737" y="3314826"/>
                  </a:lnTo>
                  <a:lnTo>
                    <a:pt x="2015617" y="3299079"/>
                  </a:lnTo>
                  <a:lnTo>
                    <a:pt x="2078990" y="3299079"/>
                  </a:lnTo>
                  <a:lnTo>
                    <a:pt x="2126487" y="3299079"/>
                  </a:lnTo>
                  <a:lnTo>
                    <a:pt x="2173985" y="3299079"/>
                  </a:lnTo>
                  <a:lnTo>
                    <a:pt x="2237740" y="3283204"/>
                  </a:lnTo>
                  <a:lnTo>
                    <a:pt x="2301112" y="3283204"/>
                  </a:lnTo>
                  <a:lnTo>
                    <a:pt x="2380233" y="3283204"/>
                  </a:lnTo>
                  <a:lnTo>
                    <a:pt x="2459862" y="3283204"/>
                  </a:lnTo>
                  <a:lnTo>
                    <a:pt x="2538983" y="3267329"/>
                  </a:lnTo>
                  <a:lnTo>
                    <a:pt x="2602737" y="3251454"/>
                  </a:lnTo>
                  <a:lnTo>
                    <a:pt x="2681985" y="3251454"/>
                  </a:lnTo>
                  <a:lnTo>
                    <a:pt x="2729483" y="3235705"/>
                  </a:lnTo>
                  <a:lnTo>
                    <a:pt x="2761106" y="3219830"/>
                  </a:lnTo>
                  <a:lnTo>
                    <a:pt x="2777362" y="3219830"/>
                  </a:lnTo>
                  <a:lnTo>
                    <a:pt x="2808985" y="3203955"/>
                  </a:lnTo>
                  <a:lnTo>
                    <a:pt x="2840735" y="3203955"/>
                  </a:lnTo>
                  <a:lnTo>
                    <a:pt x="2872358" y="3188207"/>
                  </a:lnTo>
                  <a:lnTo>
                    <a:pt x="2904108" y="3188207"/>
                  </a:lnTo>
                  <a:lnTo>
                    <a:pt x="2951606" y="3172332"/>
                  </a:lnTo>
                  <a:lnTo>
                    <a:pt x="2967735" y="3172332"/>
                  </a:lnTo>
                  <a:lnTo>
                    <a:pt x="2999485" y="3172332"/>
                  </a:lnTo>
                  <a:lnTo>
                    <a:pt x="3031108" y="3156457"/>
                  </a:lnTo>
                  <a:lnTo>
                    <a:pt x="3046983" y="3156457"/>
                  </a:lnTo>
                  <a:lnTo>
                    <a:pt x="3078606" y="3156457"/>
                  </a:lnTo>
                  <a:lnTo>
                    <a:pt x="3094481" y="3156457"/>
                  </a:lnTo>
                  <a:lnTo>
                    <a:pt x="3126231" y="3140582"/>
                  </a:lnTo>
                  <a:lnTo>
                    <a:pt x="3158235" y="3140582"/>
                  </a:lnTo>
                  <a:lnTo>
                    <a:pt x="3174110" y="3140582"/>
                  </a:lnTo>
                  <a:lnTo>
                    <a:pt x="3205733" y="3124834"/>
                  </a:lnTo>
                  <a:lnTo>
                    <a:pt x="3237483" y="3108579"/>
                  </a:lnTo>
                  <a:lnTo>
                    <a:pt x="3269106" y="3092704"/>
                  </a:lnTo>
                  <a:lnTo>
                    <a:pt x="3300729" y="3076955"/>
                  </a:lnTo>
                  <a:lnTo>
                    <a:pt x="3348354" y="3061080"/>
                  </a:lnTo>
                  <a:lnTo>
                    <a:pt x="3396233" y="3045205"/>
                  </a:lnTo>
                  <a:lnTo>
                    <a:pt x="3427856" y="3029330"/>
                  </a:lnTo>
                  <a:lnTo>
                    <a:pt x="3443731" y="3029330"/>
                  </a:lnTo>
                  <a:lnTo>
                    <a:pt x="3491229" y="3013582"/>
                  </a:lnTo>
                  <a:lnTo>
                    <a:pt x="3522853" y="2997707"/>
                  </a:lnTo>
                  <a:lnTo>
                    <a:pt x="3538728" y="2981832"/>
                  </a:lnTo>
                  <a:lnTo>
                    <a:pt x="3586606" y="2966084"/>
                  </a:lnTo>
                  <a:lnTo>
                    <a:pt x="3618356" y="2966084"/>
                  </a:lnTo>
                  <a:lnTo>
                    <a:pt x="3649979" y="2950209"/>
                  </a:lnTo>
                  <a:lnTo>
                    <a:pt x="3681729" y="2934334"/>
                  </a:lnTo>
                  <a:lnTo>
                    <a:pt x="3713353" y="2918459"/>
                  </a:lnTo>
                  <a:lnTo>
                    <a:pt x="3729228" y="2918459"/>
                  </a:lnTo>
                  <a:lnTo>
                    <a:pt x="3761231" y="2918459"/>
                  </a:lnTo>
                  <a:lnTo>
                    <a:pt x="3792854" y="2902711"/>
                  </a:lnTo>
                  <a:lnTo>
                    <a:pt x="3808729" y="2902711"/>
                  </a:lnTo>
                  <a:lnTo>
                    <a:pt x="3840479" y="2886836"/>
                  </a:lnTo>
                  <a:lnTo>
                    <a:pt x="3872103" y="2886836"/>
                  </a:lnTo>
                  <a:lnTo>
                    <a:pt x="3919601" y="2870961"/>
                  </a:lnTo>
                  <a:lnTo>
                    <a:pt x="3935856" y="2870961"/>
                  </a:lnTo>
                  <a:lnTo>
                    <a:pt x="3967479" y="2855213"/>
                  </a:lnTo>
                  <a:lnTo>
                    <a:pt x="3983354" y="2855213"/>
                  </a:lnTo>
                  <a:lnTo>
                    <a:pt x="4014978" y="2855213"/>
                  </a:lnTo>
                  <a:lnTo>
                    <a:pt x="4046728" y="2838957"/>
                  </a:lnTo>
                  <a:lnTo>
                    <a:pt x="4078351" y="2838957"/>
                  </a:lnTo>
                  <a:lnTo>
                    <a:pt x="4126229" y="2823082"/>
                  </a:lnTo>
                  <a:lnTo>
                    <a:pt x="4173728" y="2823082"/>
                  </a:lnTo>
                  <a:lnTo>
                    <a:pt x="4205478" y="2807207"/>
                  </a:lnTo>
                  <a:lnTo>
                    <a:pt x="4237101" y="2807207"/>
                  </a:lnTo>
                  <a:lnTo>
                    <a:pt x="4284726" y="2807207"/>
                  </a:lnTo>
                  <a:lnTo>
                    <a:pt x="4364228" y="2775584"/>
                  </a:lnTo>
                  <a:lnTo>
                    <a:pt x="4411726" y="2775584"/>
                  </a:lnTo>
                  <a:lnTo>
                    <a:pt x="4475099" y="2775584"/>
                  </a:lnTo>
                  <a:lnTo>
                    <a:pt x="4554728" y="2743961"/>
                  </a:lnTo>
                  <a:lnTo>
                    <a:pt x="4617974" y="2728086"/>
                  </a:lnTo>
                  <a:lnTo>
                    <a:pt x="4665599" y="2728086"/>
                  </a:lnTo>
                  <a:lnTo>
                    <a:pt x="4713478" y="2712211"/>
                  </a:lnTo>
                  <a:lnTo>
                    <a:pt x="4745101" y="2696336"/>
                  </a:lnTo>
                  <a:lnTo>
                    <a:pt x="4792599" y="2680588"/>
                  </a:lnTo>
                  <a:lnTo>
                    <a:pt x="4824349" y="2680588"/>
                  </a:lnTo>
                  <a:lnTo>
                    <a:pt x="4840097" y="2664713"/>
                  </a:lnTo>
                  <a:lnTo>
                    <a:pt x="4871847" y="2648838"/>
                  </a:lnTo>
                  <a:lnTo>
                    <a:pt x="4903851" y="2633091"/>
                  </a:lnTo>
                  <a:lnTo>
                    <a:pt x="4919726" y="2617216"/>
                  </a:lnTo>
                  <a:lnTo>
                    <a:pt x="4951349" y="2617216"/>
                  </a:lnTo>
                  <a:lnTo>
                    <a:pt x="4983099" y="2617216"/>
                  </a:lnTo>
                  <a:lnTo>
                    <a:pt x="4998974" y="2585211"/>
                  </a:lnTo>
                  <a:lnTo>
                    <a:pt x="5030597" y="2585211"/>
                  </a:lnTo>
                  <a:lnTo>
                    <a:pt x="5062220" y="2569336"/>
                  </a:lnTo>
                  <a:lnTo>
                    <a:pt x="5078095" y="2553461"/>
                  </a:lnTo>
                  <a:lnTo>
                    <a:pt x="5110099" y="2537586"/>
                  </a:lnTo>
                  <a:lnTo>
                    <a:pt x="5141849" y="2521838"/>
                  </a:lnTo>
                  <a:lnTo>
                    <a:pt x="5157724" y="2521838"/>
                  </a:lnTo>
                  <a:lnTo>
                    <a:pt x="5189347" y="2521838"/>
                  </a:lnTo>
                  <a:lnTo>
                    <a:pt x="5220970" y="2505963"/>
                  </a:lnTo>
                  <a:lnTo>
                    <a:pt x="5252720" y="2505963"/>
                  </a:lnTo>
                  <a:lnTo>
                    <a:pt x="5268595" y="2474213"/>
                  </a:lnTo>
                  <a:lnTo>
                    <a:pt x="5300599" y="2458466"/>
                  </a:lnTo>
                  <a:lnTo>
                    <a:pt x="5332222" y="2442591"/>
                  </a:lnTo>
                  <a:lnTo>
                    <a:pt x="5348097" y="2426716"/>
                  </a:lnTo>
                  <a:lnTo>
                    <a:pt x="5379847" y="2410967"/>
                  </a:lnTo>
                  <a:lnTo>
                    <a:pt x="5411470" y="2410967"/>
                  </a:lnTo>
                  <a:lnTo>
                    <a:pt x="5443093" y="2395092"/>
                  </a:lnTo>
                  <a:lnTo>
                    <a:pt x="5458968" y="2379217"/>
                  </a:lnTo>
                  <a:lnTo>
                    <a:pt x="5475224" y="2363342"/>
                  </a:lnTo>
                  <a:lnTo>
                    <a:pt x="5506847" y="2347594"/>
                  </a:lnTo>
                  <a:lnTo>
                    <a:pt x="5538597" y="2347594"/>
                  </a:lnTo>
                  <a:lnTo>
                    <a:pt x="5538597" y="2331719"/>
                  </a:lnTo>
                  <a:lnTo>
                    <a:pt x="5538597" y="2315463"/>
                  </a:lnTo>
                  <a:lnTo>
                    <a:pt x="5554345" y="2315463"/>
                  </a:lnTo>
                  <a:lnTo>
                    <a:pt x="5570220" y="2315463"/>
                  </a:lnTo>
                  <a:lnTo>
                    <a:pt x="5586095" y="2299716"/>
                  </a:lnTo>
                  <a:lnTo>
                    <a:pt x="5586095" y="2283841"/>
                  </a:lnTo>
                  <a:lnTo>
                    <a:pt x="5617718" y="2267966"/>
                  </a:lnTo>
                  <a:lnTo>
                    <a:pt x="5633593" y="2252091"/>
                  </a:lnTo>
                  <a:lnTo>
                    <a:pt x="5633593" y="2236342"/>
                  </a:lnTo>
                  <a:lnTo>
                    <a:pt x="5649468" y="2220467"/>
                  </a:lnTo>
                  <a:lnTo>
                    <a:pt x="5665597" y="2220467"/>
                  </a:lnTo>
                  <a:lnTo>
                    <a:pt x="5681472" y="2204592"/>
                  </a:lnTo>
                  <a:lnTo>
                    <a:pt x="5697347" y="2204592"/>
                  </a:lnTo>
                  <a:lnTo>
                    <a:pt x="5713095" y="2188844"/>
                  </a:lnTo>
                  <a:lnTo>
                    <a:pt x="5713095" y="2172969"/>
                  </a:lnTo>
                </a:path>
                <a:path w="5713094" h="3743325">
                  <a:moveTo>
                    <a:pt x="0" y="3600322"/>
                  </a:moveTo>
                  <a:lnTo>
                    <a:pt x="0" y="3616197"/>
                  </a:lnTo>
                  <a:lnTo>
                    <a:pt x="31623" y="3632072"/>
                  </a:lnTo>
                  <a:lnTo>
                    <a:pt x="63373" y="3632072"/>
                  </a:lnTo>
                  <a:lnTo>
                    <a:pt x="95377" y="3632072"/>
                  </a:lnTo>
                  <a:lnTo>
                    <a:pt x="111252" y="3632072"/>
                  </a:lnTo>
                  <a:lnTo>
                    <a:pt x="142875" y="3632072"/>
                  </a:lnTo>
                  <a:lnTo>
                    <a:pt x="174498" y="3600322"/>
                  </a:lnTo>
                  <a:lnTo>
                    <a:pt x="206248" y="3568699"/>
                  </a:lnTo>
                  <a:lnTo>
                    <a:pt x="237871" y="3552824"/>
                  </a:lnTo>
                  <a:lnTo>
                    <a:pt x="285750" y="3536949"/>
                  </a:lnTo>
                  <a:lnTo>
                    <a:pt x="317500" y="3521201"/>
                  </a:lnTo>
                  <a:lnTo>
                    <a:pt x="349123" y="3521201"/>
                  </a:lnTo>
                  <a:lnTo>
                    <a:pt x="412496" y="3505326"/>
                  </a:lnTo>
                  <a:lnTo>
                    <a:pt x="459994" y="3489451"/>
                  </a:lnTo>
                  <a:lnTo>
                    <a:pt x="507873" y="3457829"/>
                  </a:lnTo>
                  <a:lnTo>
                    <a:pt x="539623" y="3457829"/>
                  </a:lnTo>
                  <a:lnTo>
                    <a:pt x="602996" y="3441954"/>
                  </a:lnTo>
                  <a:lnTo>
                    <a:pt x="650494" y="3410330"/>
                  </a:lnTo>
                  <a:lnTo>
                    <a:pt x="698373" y="3394455"/>
                  </a:lnTo>
                  <a:lnTo>
                    <a:pt x="777494" y="3362451"/>
                  </a:lnTo>
                  <a:lnTo>
                    <a:pt x="825119" y="3346576"/>
                  </a:lnTo>
                  <a:lnTo>
                    <a:pt x="872998" y="3330701"/>
                  </a:lnTo>
                  <a:lnTo>
                    <a:pt x="904621" y="3314826"/>
                  </a:lnTo>
                  <a:lnTo>
                    <a:pt x="936371" y="3299079"/>
                  </a:lnTo>
                  <a:lnTo>
                    <a:pt x="967994" y="3283204"/>
                  </a:lnTo>
                  <a:lnTo>
                    <a:pt x="983869" y="3283204"/>
                  </a:lnTo>
                  <a:lnTo>
                    <a:pt x="1015492" y="3267329"/>
                  </a:lnTo>
                  <a:lnTo>
                    <a:pt x="1047496" y="3235705"/>
                  </a:lnTo>
                  <a:lnTo>
                    <a:pt x="1095121" y="3219830"/>
                  </a:lnTo>
                  <a:lnTo>
                    <a:pt x="1126744" y="3203955"/>
                  </a:lnTo>
                  <a:lnTo>
                    <a:pt x="1158367" y="3203955"/>
                  </a:lnTo>
                  <a:lnTo>
                    <a:pt x="1190117" y="3188207"/>
                  </a:lnTo>
                  <a:lnTo>
                    <a:pt x="1205992" y="3172332"/>
                  </a:lnTo>
                  <a:lnTo>
                    <a:pt x="1237996" y="3156457"/>
                  </a:lnTo>
                  <a:lnTo>
                    <a:pt x="1269619" y="3156457"/>
                  </a:lnTo>
                  <a:lnTo>
                    <a:pt x="1301369" y="3140582"/>
                  </a:lnTo>
                  <a:lnTo>
                    <a:pt x="1317244" y="3124834"/>
                  </a:lnTo>
                  <a:lnTo>
                    <a:pt x="1364742" y="3092704"/>
                  </a:lnTo>
                  <a:lnTo>
                    <a:pt x="1396365" y="3061080"/>
                  </a:lnTo>
                  <a:lnTo>
                    <a:pt x="1428369" y="3045205"/>
                  </a:lnTo>
                  <a:lnTo>
                    <a:pt x="1444244" y="3013582"/>
                  </a:lnTo>
                  <a:lnTo>
                    <a:pt x="1491742" y="2981832"/>
                  </a:lnTo>
                  <a:lnTo>
                    <a:pt x="1539367" y="2950209"/>
                  </a:lnTo>
                  <a:lnTo>
                    <a:pt x="1570990" y="2934334"/>
                  </a:lnTo>
                  <a:lnTo>
                    <a:pt x="1586865" y="2918459"/>
                  </a:lnTo>
                  <a:lnTo>
                    <a:pt x="1618488" y="2902711"/>
                  </a:lnTo>
                  <a:lnTo>
                    <a:pt x="1650492" y="2902711"/>
                  </a:lnTo>
                  <a:lnTo>
                    <a:pt x="1682242" y="2886836"/>
                  </a:lnTo>
                  <a:lnTo>
                    <a:pt x="1698117" y="2870961"/>
                  </a:lnTo>
                  <a:lnTo>
                    <a:pt x="1729740" y="2838957"/>
                  </a:lnTo>
                  <a:lnTo>
                    <a:pt x="1777238" y="2823082"/>
                  </a:lnTo>
                  <a:lnTo>
                    <a:pt x="1793113" y="2807207"/>
                  </a:lnTo>
                  <a:lnTo>
                    <a:pt x="1825117" y="2791459"/>
                  </a:lnTo>
                  <a:lnTo>
                    <a:pt x="1856867" y="2791459"/>
                  </a:lnTo>
                  <a:lnTo>
                    <a:pt x="1904365" y="2775584"/>
                  </a:lnTo>
                  <a:lnTo>
                    <a:pt x="1935987" y="2759709"/>
                  </a:lnTo>
                  <a:lnTo>
                    <a:pt x="1967737" y="2743961"/>
                  </a:lnTo>
                  <a:lnTo>
                    <a:pt x="2015617" y="2728086"/>
                  </a:lnTo>
                  <a:lnTo>
                    <a:pt x="2078990" y="2712211"/>
                  </a:lnTo>
                  <a:lnTo>
                    <a:pt x="2094737" y="2712211"/>
                  </a:lnTo>
                  <a:lnTo>
                    <a:pt x="2142362" y="2696336"/>
                  </a:lnTo>
                  <a:lnTo>
                    <a:pt x="2173985" y="2696336"/>
                  </a:lnTo>
                  <a:lnTo>
                    <a:pt x="2189860" y="2680588"/>
                  </a:lnTo>
                  <a:lnTo>
                    <a:pt x="2221865" y="2680588"/>
                  </a:lnTo>
                  <a:lnTo>
                    <a:pt x="2253487" y="2664713"/>
                  </a:lnTo>
                  <a:lnTo>
                    <a:pt x="2269362" y="2664713"/>
                  </a:lnTo>
                  <a:lnTo>
                    <a:pt x="2301112" y="2664713"/>
                  </a:lnTo>
                  <a:lnTo>
                    <a:pt x="2332735" y="2648838"/>
                  </a:lnTo>
                  <a:lnTo>
                    <a:pt x="2348610" y="2648838"/>
                  </a:lnTo>
                  <a:lnTo>
                    <a:pt x="2380233" y="2648838"/>
                  </a:lnTo>
                  <a:lnTo>
                    <a:pt x="2396490" y="2648838"/>
                  </a:lnTo>
                  <a:lnTo>
                    <a:pt x="2428112" y="2633091"/>
                  </a:lnTo>
                  <a:lnTo>
                    <a:pt x="2475610" y="2617216"/>
                  </a:lnTo>
                  <a:lnTo>
                    <a:pt x="2507360" y="2617216"/>
                  </a:lnTo>
                  <a:lnTo>
                    <a:pt x="2538983" y="2601341"/>
                  </a:lnTo>
                  <a:lnTo>
                    <a:pt x="2570733" y="2585211"/>
                  </a:lnTo>
                  <a:lnTo>
                    <a:pt x="2602737" y="2569336"/>
                  </a:lnTo>
                  <a:lnTo>
                    <a:pt x="2618612" y="2569336"/>
                  </a:lnTo>
                  <a:lnTo>
                    <a:pt x="2650235" y="2569336"/>
                  </a:lnTo>
                  <a:lnTo>
                    <a:pt x="2681985" y="2569336"/>
                  </a:lnTo>
                  <a:lnTo>
                    <a:pt x="2697733" y="2553461"/>
                  </a:lnTo>
                  <a:lnTo>
                    <a:pt x="2729483" y="2553461"/>
                  </a:lnTo>
                  <a:lnTo>
                    <a:pt x="2761106" y="2537586"/>
                  </a:lnTo>
                  <a:lnTo>
                    <a:pt x="2777362" y="2537586"/>
                  </a:lnTo>
                  <a:lnTo>
                    <a:pt x="2808985" y="2521838"/>
                  </a:lnTo>
                  <a:lnTo>
                    <a:pt x="2840735" y="2521838"/>
                  </a:lnTo>
                  <a:lnTo>
                    <a:pt x="2872358" y="2505963"/>
                  </a:lnTo>
                  <a:lnTo>
                    <a:pt x="2904108" y="2490088"/>
                  </a:lnTo>
                  <a:lnTo>
                    <a:pt x="2951606" y="2474213"/>
                  </a:lnTo>
                  <a:lnTo>
                    <a:pt x="2967735" y="2458466"/>
                  </a:lnTo>
                  <a:lnTo>
                    <a:pt x="3015360" y="2442591"/>
                  </a:lnTo>
                  <a:lnTo>
                    <a:pt x="3062858" y="2442591"/>
                  </a:lnTo>
                  <a:lnTo>
                    <a:pt x="3094481" y="2426716"/>
                  </a:lnTo>
                  <a:lnTo>
                    <a:pt x="3141979" y="2410967"/>
                  </a:lnTo>
                  <a:lnTo>
                    <a:pt x="3237483" y="2395092"/>
                  </a:lnTo>
                  <a:lnTo>
                    <a:pt x="3300729" y="2379217"/>
                  </a:lnTo>
                  <a:lnTo>
                    <a:pt x="3364483" y="2363342"/>
                  </a:lnTo>
                  <a:lnTo>
                    <a:pt x="3396233" y="2331719"/>
                  </a:lnTo>
                  <a:lnTo>
                    <a:pt x="3459606" y="2315463"/>
                  </a:lnTo>
                  <a:lnTo>
                    <a:pt x="3554983" y="2283841"/>
                  </a:lnTo>
                  <a:lnTo>
                    <a:pt x="3618356" y="2252091"/>
                  </a:lnTo>
                  <a:lnTo>
                    <a:pt x="3681729" y="2220467"/>
                  </a:lnTo>
                  <a:lnTo>
                    <a:pt x="3745356" y="2172969"/>
                  </a:lnTo>
                  <a:lnTo>
                    <a:pt x="3808729" y="2172969"/>
                  </a:lnTo>
                  <a:lnTo>
                    <a:pt x="3872103" y="2125471"/>
                  </a:lnTo>
                  <a:lnTo>
                    <a:pt x="3919601" y="2109596"/>
                  </a:lnTo>
                  <a:lnTo>
                    <a:pt x="3967479" y="2093721"/>
                  </a:lnTo>
                  <a:lnTo>
                    <a:pt x="4030853" y="2077973"/>
                  </a:lnTo>
                  <a:lnTo>
                    <a:pt x="4110101" y="2077973"/>
                  </a:lnTo>
                  <a:lnTo>
                    <a:pt x="4189603" y="2077973"/>
                  </a:lnTo>
                  <a:lnTo>
                    <a:pt x="4252976" y="2077973"/>
                  </a:lnTo>
                  <a:lnTo>
                    <a:pt x="4316730" y="2061717"/>
                  </a:lnTo>
                  <a:lnTo>
                    <a:pt x="4395851" y="2061717"/>
                  </a:lnTo>
                  <a:lnTo>
                    <a:pt x="4475099" y="2061717"/>
                  </a:lnTo>
                  <a:lnTo>
                    <a:pt x="4522978" y="2045842"/>
                  </a:lnTo>
                  <a:lnTo>
                    <a:pt x="4570476" y="2029967"/>
                  </a:lnTo>
                  <a:lnTo>
                    <a:pt x="4633849" y="2014219"/>
                  </a:lnTo>
                  <a:lnTo>
                    <a:pt x="4697603" y="1982469"/>
                  </a:lnTo>
                  <a:lnTo>
                    <a:pt x="4776851" y="1950846"/>
                  </a:lnTo>
                  <a:lnTo>
                    <a:pt x="4808474" y="1919096"/>
                  </a:lnTo>
                  <a:lnTo>
                    <a:pt x="4871847" y="1887473"/>
                  </a:lnTo>
                  <a:lnTo>
                    <a:pt x="4935601" y="1855850"/>
                  </a:lnTo>
                  <a:lnTo>
                    <a:pt x="4983099" y="1824100"/>
                  </a:lnTo>
                  <a:lnTo>
                    <a:pt x="5014722" y="1808225"/>
                  </a:lnTo>
                  <a:lnTo>
                    <a:pt x="5030597" y="1808225"/>
                  </a:lnTo>
                  <a:lnTo>
                    <a:pt x="5030597" y="1792096"/>
                  </a:lnTo>
                  <a:lnTo>
                    <a:pt x="5046472" y="1792096"/>
                  </a:lnTo>
                  <a:lnTo>
                    <a:pt x="5062220" y="1792096"/>
                  </a:lnTo>
                  <a:lnTo>
                    <a:pt x="5078095" y="1792096"/>
                  </a:lnTo>
                  <a:lnTo>
                    <a:pt x="5094351" y="1776221"/>
                  </a:lnTo>
                  <a:lnTo>
                    <a:pt x="5110099" y="1776221"/>
                  </a:lnTo>
                </a:path>
                <a:path w="5713094" h="3743325">
                  <a:moveTo>
                    <a:pt x="507873" y="3267329"/>
                  </a:moveTo>
                  <a:lnTo>
                    <a:pt x="555371" y="3235705"/>
                  </a:lnTo>
                  <a:lnTo>
                    <a:pt x="602996" y="3219830"/>
                  </a:lnTo>
                  <a:lnTo>
                    <a:pt x="666623" y="3188207"/>
                  </a:lnTo>
                  <a:lnTo>
                    <a:pt x="729996" y="3172332"/>
                  </a:lnTo>
                  <a:lnTo>
                    <a:pt x="840867" y="3140582"/>
                  </a:lnTo>
                  <a:lnTo>
                    <a:pt x="952119" y="3092704"/>
                  </a:lnTo>
                  <a:lnTo>
                    <a:pt x="1047496" y="3061080"/>
                  </a:lnTo>
                  <a:lnTo>
                    <a:pt x="1142619" y="3029330"/>
                  </a:lnTo>
                  <a:lnTo>
                    <a:pt x="1221740" y="2981832"/>
                  </a:lnTo>
                  <a:lnTo>
                    <a:pt x="1285494" y="2950209"/>
                  </a:lnTo>
                  <a:lnTo>
                    <a:pt x="1348867" y="2934334"/>
                  </a:lnTo>
                  <a:lnTo>
                    <a:pt x="1380490" y="2918459"/>
                  </a:lnTo>
                  <a:lnTo>
                    <a:pt x="1412240" y="2902711"/>
                  </a:lnTo>
                  <a:lnTo>
                    <a:pt x="1444244" y="2886836"/>
                  </a:lnTo>
                  <a:lnTo>
                    <a:pt x="1475994" y="2870961"/>
                  </a:lnTo>
                  <a:lnTo>
                    <a:pt x="1507617" y="2855213"/>
                  </a:lnTo>
                  <a:lnTo>
                    <a:pt x="1539367" y="2838957"/>
                  </a:lnTo>
                  <a:lnTo>
                    <a:pt x="1555115" y="2823082"/>
                  </a:lnTo>
                  <a:lnTo>
                    <a:pt x="1586865" y="2807207"/>
                  </a:lnTo>
                  <a:lnTo>
                    <a:pt x="1618488" y="2807207"/>
                  </a:lnTo>
                  <a:lnTo>
                    <a:pt x="1634744" y="2807207"/>
                  </a:lnTo>
                  <a:lnTo>
                    <a:pt x="1666367" y="2791459"/>
                  </a:lnTo>
                  <a:lnTo>
                    <a:pt x="1698117" y="2791459"/>
                  </a:lnTo>
                  <a:lnTo>
                    <a:pt x="1698117" y="2775584"/>
                  </a:lnTo>
                  <a:lnTo>
                    <a:pt x="1713865" y="2775584"/>
                  </a:lnTo>
                  <a:lnTo>
                    <a:pt x="1745615" y="2775584"/>
                  </a:lnTo>
                  <a:lnTo>
                    <a:pt x="1745615" y="2759709"/>
                  </a:lnTo>
                  <a:lnTo>
                    <a:pt x="1761490" y="2759709"/>
                  </a:lnTo>
                  <a:lnTo>
                    <a:pt x="1793113" y="2759709"/>
                  </a:lnTo>
                  <a:lnTo>
                    <a:pt x="1825117" y="2743961"/>
                  </a:lnTo>
                  <a:lnTo>
                    <a:pt x="1856867" y="2728086"/>
                  </a:lnTo>
                  <a:lnTo>
                    <a:pt x="1872615" y="2712211"/>
                  </a:lnTo>
                  <a:lnTo>
                    <a:pt x="1904365" y="2712211"/>
                  </a:lnTo>
                  <a:lnTo>
                    <a:pt x="1935987" y="2680588"/>
                  </a:lnTo>
                  <a:lnTo>
                    <a:pt x="1951862" y="2680588"/>
                  </a:lnTo>
                  <a:lnTo>
                    <a:pt x="1983612" y="2664713"/>
                  </a:lnTo>
                  <a:lnTo>
                    <a:pt x="2015617" y="2648838"/>
                  </a:lnTo>
                  <a:lnTo>
                    <a:pt x="2031492" y="2633091"/>
                  </a:lnTo>
                  <a:lnTo>
                    <a:pt x="2063115" y="2617216"/>
                  </a:lnTo>
                  <a:lnTo>
                    <a:pt x="2094737" y="2585211"/>
                  </a:lnTo>
                  <a:lnTo>
                    <a:pt x="2126487" y="2569336"/>
                  </a:lnTo>
                  <a:lnTo>
                    <a:pt x="2142362" y="2553461"/>
                  </a:lnTo>
                  <a:lnTo>
                    <a:pt x="2173985" y="2537586"/>
                  </a:lnTo>
                  <a:lnTo>
                    <a:pt x="2205990" y="2521838"/>
                  </a:lnTo>
                  <a:lnTo>
                    <a:pt x="2237740" y="2490088"/>
                  </a:lnTo>
                  <a:lnTo>
                    <a:pt x="2253487" y="2474213"/>
                  </a:lnTo>
                  <a:lnTo>
                    <a:pt x="2285237" y="2458466"/>
                  </a:lnTo>
                  <a:lnTo>
                    <a:pt x="2316860" y="2442591"/>
                  </a:lnTo>
                  <a:lnTo>
                    <a:pt x="2332735" y="2426716"/>
                  </a:lnTo>
                  <a:lnTo>
                    <a:pt x="2364485" y="2395092"/>
                  </a:lnTo>
                  <a:lnTo>
                    <a:pt x="2396490" y="2379217"/>
                  </a:lnTo>
                  <a:lnTo>
                    <a:pt x="2428112" y="2363342"/>
                  </a:lnTo>
                  <a:lnTo>
                    <a:pt x="2443987" y="2331719"/>
                  </a:lnTo>
                  <a:lnTo>
                    <a:pt x="2475610" y="2331719"/>
                  </a:lnTo>
                  <a:lnTo>
                    <a:pt x="2507360" y="2315463"/>
                  </a:lnTo>
                  <a:lnTo>
                    <a:pt x="2538983" y="2299716"/>
                  </a:lnTo>
                  <a:lnTo>
                    <a:pt x="2554858" y="2283841"/>
                  </a:lnTo>
                  <a:lnTo>
                    <a:pt x="2586862" y="2252091"/>
                  </a:lnTo>
                  <a:lnTo>
                    <a:pt x="2618612" y="2236342"/>
                  </a:lnTo>
                  <a:lnTo>
                    <a:pt x="2634487" y="2236342"/>
                  </a:lnTo>
                  <a:lnTo>
                    <a:pt x="2666110" y="2220467"/>
                  </a:lnTo>
                  <a:lnTo>
                    <a:pt x="2697733" y="2204592"/>
                  </a:lnTo>
                  <a:lnTo>
                    <a:pt x="2729483" y="2172969"/>
                  </a:lnTo>
                  <a:lnTo>
                    <a:pt x="2745358" y="2157094"/>
                  </a:lnTo>
                  <a:lnTo>
                    <a:pt x="2793237" y="2141219"/>
                  </a:lnTo>
                  <a:lnTo>
                    <a:pt x="2824860" y="2125471"/>
                  </a:lnTo>
                  <a:lnTo>
                    <a:pt x="2872358" y="2109596"/>
                  </a:lnTo>
                  <a:lnTo>
                    <a:pt x="2888233" y="2077973"/>
                  </a:lnTo>
                  <a:lnTo>
                    <a:pt x="2919856" y="2061717"/>
                  </a:lnTo>
                  <a:lnTo>
                    <a:pt x="2951606" y="2061717"/>
                  </a:lnTo>
                  <a:lnTo>
                    <a:pt x="2983610" y="2045842"/>
                  </a:lnTo>
                  <a:lnTo>
                    <a:pt x="2999485" y="2029967"/>
                  </a:lnTo>
                  <a:lnTo>
                    <a:pt x="3031108" y="2014219"/>
                  </a:lnTo>
                  <a:lnTo>
                    <a:pt x="3062858" y="1998344"/>
                  </a:lnTo>
                  <a:lnTo>
                    <a:pt x="3078606" y="1966721"/>
                  </a:lnTo>
                  <a:lnTo>
                    <a:pt x="3110356" y="1950846"/>
                  </a:lnTo>
                  <a:lnTo>
                    <a:pt x="3158235" y="1919096"/>
                  </a:lnTo>
                  <a:lnTo>
                    <a:pt x="3205733" y="1887473"/>
                  </a:lnTo>
                  <a:lnTo>
                    <a:pt x="3237483" y="1855850"/>
                  </a:lnTo>
                  <a:lnTo>
                    <a:pt x="3269106" y="1824100"/>
                  </a:lnTo>
                  <a:lnTo>
                    <a:pt x="3316604" y="1792096"/>
                  </a:lnTo>
                  <a:lnTo>
                    <a:pt x="3348354" y="1776221"/>
                  </a:lnTo>
                  <a:lnTo>
                    <a:pt x="3380358" y="1760346"/>
                  </a:lnTo>
                  <a:lnTo>
                    <a:pt x="3411981" y="1728723"/>
                  </a:lnTo>
                  <a:lnTo>
                    <a:pt x="3427856" y="1696973"/>
                  </a:lnTo>
                  <a:lnTo>
                    <a:pt x="3459606" y="1681225"/>
                  </a:lnTo>
                  <a:lnTo>
                    <a:pt x="3491229" y="1665350"/>
                  </a:lnTo>
                  <a:lnTo>
                    <a:pt x="3507104" y="1665350"/>
                  </a:lnTo>
                  <a:lnTo>
                    <a:pt x="3538728" y="1633727"/>
                  </a:lnTo>
                  <a:lnTo>
                    <a:pt x="3570731" y="1617852"/>
                  </a:lnTo>
                  <a:lnTo>
                    <a:pt x="3602481" y="1601977"/>
                  </a:lnTo>
                  <a:lnTo>
                    <a:pt x="3618356" y="1586102"/>
                  </a:lnTo>
                  <a:lnTo>
                    <a:pt x="3649979" y="1570354"/>
                  </a:lnTo>
                  <a:lnTo>
                    <a:pt x="3681729" y="1570354"/>
                  </a:lnTo>
                  <a:lnTo>
                    <a:pt x="3697478" y="1554479"/>
                  </a:lnTo>
                  <a:lnTo>
                    <a:pt x="3729228" y="1522475"/>
                  </a:lnTo>
                  <a:lnTo>
                    <a:pt x="3761231" y="1506600"/>
                  </a:lnTo>
                  <a:lnTo>
                    <a:pt x="3792854" y="1506600"/>
                  </a:lnTo>
                  <a:lnTo>
                    <a:pt x="3808729" y="1474850"/>
                  </a:lnTo>
                  <a:lnTo>
                    <a:pt x="3840479" y="1459102"/>
                  </a:lnTo>
                  <a:lnTo>
                    <a:pt x="3872103" y="1443227"/>
                  </a:lnTo>
                  <a:lnTo>
                    <a:pt x="3903853" y="1427352"/>
                  </a:lnTo>
                  <a:lnTo>
                    <a:pt x="3919601" y="1411604"/>
                  </a:lnTo>
                  <a:lnTo>
                    <a:pt x="3951731" y="1395729"/>
                  </a:lnTo>
                  <a:lnTo>
                    <a:pt x="3967479" y="1395729"/>
                  </a:lnTo>
                  <a:lnTo>
                    <a:pt x="3983354" y="1379854"/>
                  </a:lnTo>
                  <a:lnTo>
                    <a:pt x="3999229" y="1379854"/>
                  </a:lnTo>
                  <a:lnTo>
                    <a:pt x="4014978" y="1379854"/>
                  </a:lnTo>
                  <a:lnTo>
                    <a:pt x="4014978" y="1363979"/>
                  </a:lnTo>
                  <a:lnTo>
                    <a:pt x="4030853" y="1363979"/>
                  </a:lnTo>
                  <a:lnTo>
                    <a:pt x="4046728" y="1348231"/>
                  </a:lnTo>
                  <a:lnTo>
                    <a:pt x="4062603" y="1332356"/>
                  </a:lnTo>
                  <a:lnTo>
                    <a:pt x="4078351" y="1332356"/>
                  </a:lnTo>
                </a:path>
                <a:path w="5713094" h="3743325">
                  <a:moveTo>
                    <a:pt x="364998" y="3330701"/>
                  </a:moveTo>
                  <a:lnTo>
                    <a:pt x="396621" y="3330701"/>
                  </a:lnTo>
                  <a:lnTo>
                    <a:pt x="428371" y="3314826"/>
                  </a:lnTo>
                  <a:lnTo>
                    <a:pt x="444246" y="3299079"/>
                  </a:lnTo>
                  <a:lnTo>
                    <a:pt x="476250" y="3283204"/>
                  </a:lnTo>
                  <a:lnTo>
                    <a:pt x="507873" y="3267329"/>
                  </a:lnTo>
                  <a:lnTo>
                    <a:pt x="539623" y="3251454"/>
                  </a:lnTo>
                  <a:lnTo>
                    <a:pt x="555371" y="3251454"/>
                  </a:lnTo>
                  <a:lnTo>
                    <a:pt x="602996" y="3251454"/>
                  </a:lnTo>
                  <a:lnTo>
                    <a:pt x="618744" y="3219830"/>
                  </a:lnTo>
                  <a:lnTo>
                    <a:pt x="650494" y="3203955"/>
                  </a:lnTo>
                  <a:lnTo>
                    <a:pt x="682498" y="3188207"/>
                  </a:lnTo>
                  <a:lnTo>
                    <a:pt x="714248" y="3172332"/>
                  </a:lnTo>
                  <a:lnTo>
                    <a:pt x="714248" y="3156457"/>
                  </a:lnTo>
                  <a:lnTo>
                    <a:pt x="745871" y="3156457"/>
                  </a:lnTo>
                  <a:lnTo>
                    <a:pt x="777494" y="3156457"/>
                  </a:lnTo>
                  <a:lnTo>
                    <a:pt x="793369" y="3140582"/>
                  </a:lnTo>
                  <a:lnTo>
                    <a:pt x="809244" y="3124834"/>
                  </a:lnTo>
                  <a:lnTo>
                    <a:pt x="825119" y="3124834"/>
                  </a:lnTo>
                  <a:lnTo>
                    <a:pt x="840867" y="3124834"/>
                  </a:lnTo>
                  <a:lnTo>
                    <a:pt x="857123" y="3124834"/>
                  </a:lnTo>
                  <a:lnTo>
                    <a:pt x="888746" y="3108579"/>
                  </a:lnTo>
                  <a:lnTo>
                    <a:pt x="920496" y="3092704"/>
                  </a:lnTo>
                  <a:lnTo>
                    <a:pt x="936371" y="3076955"/>
                  </a:lnTo>
                  <a:lnTo>
                    <a:pt x="967994" y="3076955"/>
                  </a:lnTo>
                  <a:lnTo>
                    <a:pt x="999617" y="3061080"/>
                  </a:lnTo>
                  <a:lnTo>
                    <a:pt x="1015492" y="3045205"/>
                  </a:lnTo>
                  <a:lnTo>
                    <a:pt x="1047496" y="3045205"/>
                  </a:lnTo>
                  <a:lnTo>
                    <a:pt x="1079246" y="3029330"/>
                  </a:lnTo>
                  <a:lnTo>
                    <a:pt x="1095121" y="3029330"/>
                  </a:lnTo>
                  <a:lnTo>
                    <a:pt x="1126744" y="3029330"/>
                  </a:lnTo>
                  <a:lnTo>
                    <a:pt x="1158367" y="3029330"/>
                  </a:lnTo>
                  <a:lnTo>
                    <a:pt x="1174242" y="3029330"/>
                  </a:lnTo>
                  <a:lnTo>
                    <a:pt x="1205992" y="3013582"/>
                  </a:lnTo>
                  <a:lnTo>
                    <a:pt x="1237996" y="2997707"/>
                  </a:lnTo>
                  <a:lnTo>
                    <a:pt x="1253871" y="2997707"/>
                  </a:lnTo>
                  <a:lnTo>
                    <a:pt x="1285494" y="2981832"/>
                  </a:lnTo>
                  <a:lnTo>
                    <a:pt x="1301369" y="2981832"/>
                  </a:lnTo>
                  <a:lnTo>
                    <a:pt x="1332992" y="2966084"/>
                  </a:lnTo>
                  <a:lnTo>
                    <a:pt x="1348867" y="2966084"/>
                  </a:lnTo>
                  <a:lnTo>
                    <a:pt x="1364742" y="2966084"/>
                  </a:lnTo>
                  <a:lnTo>
                    <a:pt x="1380490" y="2950209"/>
                  </a:lnTo>
                  <a:lnTo>
                    <a:pt x="1412240" y="2950209"/>
                  </a:lnTo>
                  <a:lnTo>
                    <a:pt x="1428369" y="2950209"/>
                  </a:lnTo>
                  <a:lnTo>
                    <a:pt x="1444244" y="2950209"/>
                  </a:lnTo>
                  <a:lnTo>
                    <a:pt x="1475994" y="2934334"/>
                  </a:lnTo>
                  <a:lnTo>
                    <a:pt x="1507617" y="2918459"/>
                  </a:lnTo>
                  <a:lnTo>
                    <a:pt x="1523492" y="2902711"/>
                  </a:lnTo>
                  <a:lnTo>
                    <a:pt x="1539367" y="2886836"/>
                  </a:lnTo>
                  <a:lnTo>
                    <a:pt x="1570990" y="2870961"/>
                  </a:lnTo>
                  <a:lnTo>
                    <a:pt x="1602613" y="2855213"/>
                  </a:lnTo>
                  <a:lnTo>
                    <a:pt x="1618488" y="2838957"/>
                  </a:lnTo>
                  <a:lnTo>
                    <a:pt x="1650492" y="2823082"/>
                  </a:lnTo>
                  <a:lnTo>
                    <a:pt x="1682242" y="2807207"/>
                  </a:lnTo>
                  <a:lnTo>
                    <a:pt x="1713865" y="2791459"/>
                  </a:lnTo>
                  <a:lnTo>
                    <a:pt x="1745615" y="2775584"/>
                  </a:lnTo>
                  <a:lnTo>
                    <a:pt x="1761490" y="2759709"/>
                  </a:lnTo>
                  <a:lnTo>
                    <a:pt x="1777238" y="2743961"/>
                  </a:lnTo>
                  <a:lnTo>
                    <a:pt x="1808988" y="2728086"/>
                  </a:lnTo>
                  <a:lnTo>
                    <a:pt x="1840992" y="2712211"/>
                  </a:lnTo>
                  <a:lnTo>
                    <a:pt x="1856867" y="2680588"/>
                  </a:lnTo>
                  <a:lnTo>
                    <a:pt x="1904365" y="2664713"/>
                  </a:lnTo>
                  <a:lnTo>
                    <a:pt x="1951862" y="2633091"/>
                  </a:lnTo>
                  <a:lnTo>
                    <a:pt x="1983612" y="2617216"/>
                  </a:lnTo>
                  <a:lnTo>
                    <a:pt x="1999360" y="2601341"/>
                  </a:lnTo>
                  <a:lnTo>
                    <a:pt x="2031492" y="2569336"/>
                  </a:lnTo>
                  <a:lnTo>
                    <a:pt x="2063115" y="2537586"/>
                  </a:lnTo>
                  <a:lnTo>
                    <a:pt x="2094737" y="2505963"/>
                  </a:lnTo>
                  <a:lnTo>
                    <a:pt x="2110612" y="2490088"/>
                  </a:lnTo>
                  <a:lnTo>
                    <a:pt x="2142362" y="2490088"/>
                  </a:lnTo>
                  <a:lnTo>
                    <a:pt x="2173985" y="2474213"/>
                  </a:lnTo>
                  <a:lnTo>
                    <a:pt x="2205990" y="2458466"/>
                  </a:lnTo>
                  <a:lnTo>
                    <a:pt x="2221865" y="2426716"/>
                  </a:lnTo>
                  <a:lnTo>
                    <a:pt x="2253487" y="2410967"/>
                  </a:lnTo>
                  <a:lnTo>
                    <a:pt x="2285237" y="2379217"/>
                  </a:lnTo>
                  <a:lnTo>
                    <a:pt x="2316860" y="2379217"/>
                  </a:lnTo>
                  <a:lnTo>
                    <a:pt x="2332735" y="2347594"/>
                  </a:lnTo>
                  <a:lnTo>
                    <a:pt x="2364485" y="2331719"/>
                  </a:lnTo>
                  <a:lnTo>
                    <a:pt x="2396490" y="2299716"/>
                  </a:lnTo>
                  <a:lnTo>
                    <a:pt x="2412365" y="2299716"/>
                  </a:lnTo>
                  <a:lnTo>
                    <a:pt x="2428112" y="2283841"/>
                  </a:lnTo>
                  <a:lnTo>
                    <a:pt x="2443987" y="2283841"/>
                  </a:lnTo>
                  <a:lnTo>
                    <a:pt x="2459862" y="2267966"/>
                  </a:lnTo>
                  <a:lnTo>
                    <a:pt x="2475610" y="2252091"/>
                  </a:lnTo>
                  <a:lnTo>
                    <a:pt x="2507360" y="2236342"/>
                  </a:lnTo>
                  <a:lnTo>
                    <a:pt x="2538983" y="2220467"/>
                  </a:lnTo>
                  <a:lnTo>
                    <a:pt x="2554858" y="2220467"/>
                  </a:lnTo>
                  <a:lnTo>
                    <a:pt x="2586862" y="2188844"/>
                  </a:lnTo>
                  <a:lnTo>
                    <a:pt x="2618612" y="2157094"/>
                  </a:lnTo>
                  <a:lnTo>
                    <a:pt x="2650235" y="2125471"/>
                  </a:lnTo>
                  <a:lnTo>
                    <a:pt x="2666110" y="2093721"/>
                  </a:lnTo>
                  <a:lnTo>
                    <a:pt x="2697733" y="2077973"/>
                  </a:lnTo>
                  <a:lnTo>
                    <a:pt x="2729483" y="2045842"/>
                  </a:lnTo>
                  <a:lnTo>
                    <a:pt x="2761106" y="2029967"/>
                  </a:lnTo>
                  <a:lnTo>
                    <a:pt x="2777362" y="1998344"/>
                  </a:lnTo>
                  <a:lnTo>
                    <a:pt x="2808985" y="1982469"/>
                  </a:lnTo>
                  <a:lnTo>
                    <a:pt x="2840735" y="1966721"/>
                  </a:lnTo>
                  <a:lnTo>
                    <a:pt x="2856610" y="1950846"/>
                  </a:lnTo>
                  <a:lnTo>
                    <a:pt x="2872358" y="1934971"/>
                  </a:lnTo>
                  <a:lnTo>
                    <a:pt x="2904108" y="1903348"/>
                  </a:lnTo>
                  <a:lnTo>
                    <a:pt x="2935731" y="1887473"/>
                  </a:lnTo>
                  <a:lnTo>
                    <a:pt x="2967735" y="1855850"/>
                  </a:lnTo>
                  <a:lnTo>
                    <a:pt x="2983610" y="1839975"/>
                  </a:lnTo>
                  <a:lnTo>
                    <a:pt x="3015360" y="1808225"/>
                  </a:lnTo>
                  <a:lnTo>
                    <a:pt x="3046983" y="1776221"/>
                  </a:lnTo>
                  <a:lnTo>
                    <a:pt x="3078606" y="1760346"/>
                  </a:lnTo>
                  <a:lnTo>
                    <a:pt x="3094481" y="1728723"/>
                  </a:lnTo>
                  <a:lnTo>
                    <a:pt x="3126231" y="1696973"/>
                  </a:lnTo>
                  <a:lnTo>
                    <a:pt x="3158235" y="1665350"/>
                  </a:lnTo>
                  <a:lnTo>
                    <a:pt x="3189858" y="1633727"/>
                  </a:lnTo>
                  <a:lnTo>
                    <a:pt x="3205733" y="1617852"/>
                  </a:lnTo>
                  <a:lnTo>
                    <a:pt x="3237483" y="1586102"/>
                  </a:lnTo>
                  <a:lnTo>
                    <a:pt x="3269106" y="1554479"/>
                  </a:lnTo>
                  <a:lnTo>
                    <a:pt x="3300729" y="1538223"/>
                  </a:lnTo>
                  <a:lnTo>
                    <a:pt x="3332479" y="1506600"/>
                  </a:lnTo>
                  <a:lnTo>
                    <a:pt x="3348354" y="1506600"/>
                  </a:lnTo>
                  <a:lnTo>
                    <a:pt x="3380358" y="1474850"/>
                  </a:lnTo>
                  <a:lnTo>
                    <a:pt x="3427856" y="1443227"/>
                  </a:lnTo>
                  <a:lnTo>
                    <a:pt x="3475354" y="1411604"/>
                  </a:lnTo>
                  <a:lnTo>
                    <a:pt x="3522853" y="1363979"/>
                  </a:lnTo>
                  <a:lnTo>
                    <a:pt x="3554983" y="1332356"/>
                  </a:lnTo>
                  <a:lnTo>
                    <a:pt x="3602481" y="1300733"/>
                  </a:lnTo>
                  <a:lnTo>
                    <a:pt x="3634104" y="1284858"/>
                  </a:lnTo>
                  <a:lnTo>
                    <a:pt x="3665854" y="1252727"/>
                  </a:lnTo>
                  <a:lnTo>
                    <a:pt x="3681729" y="1236979"/>
                  </a:lnTo>
                  <a:lnTo>
                    <a:pt x="3713353" y="1221104"/>
                  </a:lnTo>
                  <a:lnTo>
                    <a:pt x="3745356" y="1189481"/>
                  </a:lnTo>
                  <a:lnTo>
                    <a:pt x="3761231" y="1189481"/>
                  </a:lnTo>
                  <a:lnTo>
                    <a:pt x="3761231" y="1173606"/>
                  </a:lnTo>
                  <a:lnTo>
                    <a:pt x="3777106" y="1157731"/>
                  </a:lnTo>
                  <a:lnTo>
                    <a:pt x="3792854" y="1157731"/>
                  </a:lnTo>
                  <a:lnTo>
                    <a:pt x="3808729" y="1157731"/>
                  </a:lnTo>
                  <a:lnTo>
                    <a:pt x="3824604" y="1157731"/>
                  </a:lnTo>
                </a:path>
                <a:path w="5713094" h="3743325">
                  <a:moveTo>
                    <a:pt x="507873" y="3314826"/>
                  </a:moveTo>
                  <a:lnTo>
                    <a:pt x="507873" y="3299079"/>
                  </a:lnTo>
                  <a:lnTo>
                    <a:pt x="555371" y="3267329"/>
                  </a:lnTo>
                  <a:lnTo>
                    <a:pt x="587121" y="3235705"/>
                  </a:lnTo>
                  <a:lnTo>
                    <a:pt x="698373" y="3188207"/>
                  </a:lnTo>
                  <a:lnTo>
                    <a:pt x="825119" y="3108579"/>
                  </a:lnTo>
                  <a:lnTo>
                    <a:pt x="936371" y="2997707"/>
                  </a:lnTo>
                  <a:lnTo>
                    <a:pt x="1063371" y="2902711"/>
                  </a:lnTo>
                  <a:lnTo>
                    <a:pt x="1174242" y="2823082"/>
                  </a:lnTo>
                  <a:lnTo>
                    <a:pt x="1301369" y="2759709"/>
                  </a:lnTo>
                  <a:lnTo>
                    <a:pt x="1396365" y="2680588"/>
                  </a:lnTo>
                  <a:lnTo>
                    <a:pt x="1460119" y="2633091"/>
                  </a:lnTo>
                  <a:lnTo>
                    <a:pt x="1523492" y="2601341"/>
                  </a:lnTo>
                  <a:lnTo>
                    <a:pt x="1555115" y="2569336"/>
                  </a:lnTo>
                  <a:lnTo>
                    <a:pt x="1586865" y="2553461"/>
                  </a:lnTo>
                  <a:lnTo>
                    <a:pt x="1618488" y="2521838"/>
                  </a:lnTo>
                  <a:lnTo>
                    <a:pt x="1634744" y="2490088"/>
                  </a:lnTo>
                  <a:lnTo>
                    <a:pt x="1682242" y="2458466"/>
                  </a:lnTo>
                  <a:lnTo>
                    <a:pt x="1713865" y="2410967"/>
                  </a:lnTo>
                  <a:lnTo>
                    <a:pt x="1761490" y="2395092"/>
                  </a:lnTo>
                  <a:lnTo>
                    <a:pt x="1793113" y="2363342"/>
                  </a:lnTo>
                  <a:lnTo>
                    <a:pt x="1808988" y="2347594"/>
                  </a:lnTo>
                  <a:lnTo>
                    <a:pt x="1840992" y="2315463"/>
                  </a:lnTo>
                  <a:lnTo>
                    <a:pt x="1872615" y="2283841"/>
                  </a:lnTo>
                  <a:lnTo>
                    <a:pt x="1904365" y="2267966"/>
                  </a:lnTo>
                  <a:lnTo>
                    <a:pt x="1951862" y="2236342"/>
                  </a:lnTo>
                  <a:lnTo>
                    <a:pt x="1967737" y="2220467"/>
                  </a:lnTo>
                  <a:lnTo>
                    <a:pt x="1999360" y="2188844"/>
                  </a:lnTo>
                  <a:lnTo>
                    <a:pt x="2031492" y="2157094"/>
                  </a:lnTo>
                  <a:lnTo>
                    <a:pt x="2063115" y="2141219"/>
                  </a:lnTo>
                  <a:lnTo>
                    <a:pt x="2078990" y="2125471"/>
                  </a:lnTo>
                  <a:lnTo>
                    <a:pt x="2126487" y="2093721"/>
                  </a:lnTo>
                  <a:lnTo>
                    <a:pt x="2158110" y="2061717"/>
                  </a:lnTo>
                  <a:lnTo>
                    <a:pt x="2205990" y="2029967"/>
                  </a:lnTo>
                  <a:lnTo>
                    <a:pt x="2221865" y="1998344"/>
                  </a:lnTo>
                  <a:lnTo>
                    <a:pt x="2269362" y="1966721"/>
                  </a:lnTo>
                  <a:lnTo>
                    <a:pt x="2301112" y="1950846"/>
                  </a:lnTo>
                  <a:lnTo>
                    <a:pt x="2332735" y="1919096"/>
                  </a:lnTo>
                  <a:lnTo>
                    <a:pt x="2364485" y="1887473"/>
                  </a:lnTo>
                  <a:lnTo>
                    <a:pt x="2380233" y="1855850"/>
                  </a:lnTo>
                  <a:lnTo>
                    <a:pt x="2412365" y="1839975"/>
                  </a:lnTo>
                  <a:lnTo>
                    <a:pt x="2443987" y="1839975"/>
                  </a:lnTo>
                  <a:lnTo>
                    <a:pt x="2475610" y="1808225"/>
                  </a:lnTo>
                  <a:lnTo>
                    <a:pt x="2491485" y="1792096"/>
                  </a:lnTo>
                  <a:lnTo>
                    <a:pt x="2523235" y="1760346"/>
                  </a:lnTo>
                  <a:lnTo>
                    <a:pt x="2554858" y="1744598"/>
                  </a:lnTo>
                  <a:lnTo>
                    <a:pt x="2586862" y="1728723"/>
                  </a:lnTo>
                  <a:lnTo>
                    <a:pt x="2602737" y="1712848"/>
                  </a:lnTo>
                  <a:lnTo>
                    <a:pt x="2634487" y="1696973"/>
                  </a:lnTo>
                  <a:lnTo>
                    <a:pt x="2666110" y="1665350"/>
                  </a:lnTo>
                  <a:lnTo>
                    <a:pt x="2697733" y="1633727"/>
                  </a:lnTo>
                  <a:lnTo>
                    <a:pt x="2713608" y="1617852"/>
                  </a:lnTo>
                  <a:lnTo>
                    <a:pt x="2745358" y="1586102"/>
                  </a:lnTo>
                  <a:lnTo>
                    <a:pt x="2793237" y="1554479"/>
                  </a:lnTo>
                  <a:lnTo>
                    <a:pt x="2824860" y="1522475"/>
                  </a:lnTo>
                  <a:lnTo>
                    <a:pt x="2840735" y="1506600"/>
                  </a:lnTo>
                  <a:lnTo>
                    <a:pt x="2872358" y="1474850"/>
                  </a:lnTo>
                  <a:lnTo>
                    <a:pt x="2904108" y="1459102"/>
                  </a:lnTo>
                  <a:lnTo>
                    <a:pt x="2935731" y="1427352"/>
                  </a:lnTo>
                  <a:lnTo>
                    <a:pt x="2967735" y="1395729"/>
                  </a:lnTo>
                  <a:lnTo>
                    <a:pt x="2983610" y="1363979"/>
                  </a:lnTo>
                  <a:lnTo>
                    <a:pt x="3015360" y="1348231"/>
                  </a:lnTo>
                  <a:lnTo>
                    <a:pt x="3046983" y="1316481"/>
                  </a:lnTo>
                  <a:lnTo>
                    <a:pt x="3094481" y="1284858"/>
                  </a:lnTo>
                  <a:lnTo>
                    <a:pt x="3141979" y="1236979"/>
                  </a:lnTo>
                  <a:lnTo>
                    <a:pt x="3174110" y="1189481"/>
                  </a:lnTo>
                  <a:lnTo>
                    <a:pt x="3221608" y="1157731"/>
                  </a:lnTo>
                  <a:lnTo>
                    <a:pt x="3284981" y="1126108"/>
                  </a:lnTo>
                  <a:lnTo>
                    <a:pt x="3364483" y="1078610"/>
                  </a:lnTo>
                  <a:lnTo>
                    <a:pt x="3396233" y="1046860"/>
                  </a:lnTo>
                  <a:lnTo>
                    <a:pt x="3411981" y="1014856"/>
                  </a:lnTo>
                  <a:lnTo>
                    <a:pt x="3443731" y="983106"/>
                  </a:lnTo>
                  <a:lnTo>
                    <a:pt x="3475354" y="967358"/>
                  </a:lnTo>
                  <a:lnTo>
                    <a:pt x="3522853" y="951483"/>
                  </a:lnTo>
                  <a:lnTo>
                    <a:pt x="3538728" y="919733"/>
                  </a:lnTo>
                  <a:lnTo>
                    <a:pt x="3570731" y="903985"/>
                  </a:lnTo>
                  <a:lnTo>
                    <a:pt x="3602481" y="872235"/>
                  </a:lnTo>
                  <a:lnTo>
                    <a:pt x="3634104" y="856487"/>
                  </a:lnTo>
                  <a:lnTo>
                    <a:pt x="3665854" y="840612"/>
                  </a:lnTo>
                  <a:lnTo>
                    <a:pt x="3697478" y="824737"/>
                  </a:lnTo>
                  <a:lnTo>
                    <a:pt x="3729228" y="793114"/>
                  </a:lnTo>
                  <a:lnTo>
                    <a:pt x="3761231" y="777239"/>
                  </a:lnTo>
                  <a:lnTo>
                    <a:pt x="3777106" y="761364"/>
                  </a:lnTo>
                  <a:lnTo>
                    <a:pt x="3808729" y="729360"/>
                  </a:lnTo>
                  <a:lnTo>
                    <a:pt x="3840479" y="713485"/>
                  </a:lnTo>
                  <a:lnTo>
                    <a:pt x="3872103" y="697610"/>
                  </a:lnTo>
                  <a:lnTo>
                    <a:pt x="3887978" y="681862"/>
                  </a:lnTo>
                  <a:lnTo>
                    <a:pt x="3919601" y="650112"/>
                  </a:lnTo>
                  <a:lnTo>
                    <a:pt x="3951731" y="618489"/>
                  </a:lnTo>
                  <a:lnTo>
                    <a:pt x="3967479" y="618489"/>
                  </a:lnTo>
                  <a:lnTo>
                    <a:pt x="3983354" y="618489"/>
                  </a:lnTo>
                  <a:lnTo>
                    <a:pt x="4014978" y="602614"/>
                  </a:lnTo>
                  <a:lnTo>
                    <a:pt x="4046728" y="570991"/>
                  </a:lnTo>
                  <a:lnTo>
                    <a:pt x="4078351" y="570991"/>
                  </a:lnTo>
                  <a:lnTo>
                    <a:pt x="4094226" y="539241"/>
                  </a:lnTo>
                  <a:lnTo>
                    <a:pt x="4157979" y="507618"/>
                  </a:lnTo>
                  <a:lnTo>
                    <a:pt x="4205478" y="475614"/>
                  </a:lnTo>
                  <a:lnTo>
                    <a:pt x="4237101" y="443864"/>
                  </a:lnTo>
                  <a:lnTo>
                    <a:pt x="4252976" y="412241"/>
                  </a:lnTo>
                  <a:lnTo>
                    <a:pt x="4284726" y="396366"/>
                  </a:lnTo>
                  <a:lnTo>
                    <a:pt x="4316730" y="380491"/>
                  </a:lnTo>
                  <a:lnTo>
                    <a:pt x="4348353" y="348868"/>
                  </a:lnTo>
                  <a:lnTo>
                    <a:pt x="4364228" y="332993"/>
                  </a:lnTo>
                  <a:lnTo>
                    <a:pt x="4395851" y="301370"/>
                  </a:lnTo>
                  <a:lnTo>
                    <a:pt x="4427601" y="285495"/>
                  </a:lnTo>
                  <a:lnTo>
                    <a:pt x="4459224" y="269620"/>
                  </a:lnTo>
                  <a:lnTo>
                    <a:pt x="4475099" y="253745"/>
                  </a:lnTo>
                  <a:lnTo>
                    <a:pt x="4507103" y="221741"/>
                  </a:lnTo>
                  <a:lnTo>
                    <a:pt x="4538853" y="190118"/>
                  </a:lnTo>
                  <a:lnTo>
                    <a:pt x="4570476" y="174243"/>
                  </a:lnTo>
                  <a:lnTo>
                    <a:pt x="4586351" y="158368"/>
                  </a:lnTo>
                  <a:lnTo>
                    <a:pt x="4602226" y="158368"/>
                  </a:lnTo>
                  <a:lnTo>
                    <a:pt x="4617974" y="142493"/>
                  </a:lnTo>
                  <a:lnTo>
                    <a:pt x="4617974" y="126745"/>
                  </a:lnTo>
                  <a:lnTo>
                    <a:pt x="4633849" y="126745"/>
                  </a:lnTo>
                  <a:lnTo>
                    <a:pt x="4649724" y="126745"/>
                  </a:lnTo>
                  <a:lnTo>
                    <a:pt x="4665599" y="110870"/>
                  </a:lnTo>
                  <a:lnTo>
                    <a:pt x="4697603" y="110870"/>
                  </a:lnTo>
                  <a:lnTo>
                    <a:pt x="4713478" y="110870"/>
                  </a:lnTo>
                  <a:lnTo>
                    <a:pt x="4713478" y="94995"/>
                  </a:lnTo>
                  <a:lnTo>
                    <a:pt x="4745101" y="79248"/>
                  </a:lnTo>
                  <a:lnTo>
                    <a:pt x="4760976" y="79248"/>
                  </a:lnTo>
                  <a:lnTo>
                    <a:pt x="4776851" y="63373"/>
                  </a:lnTo>
                  <a:lnTo>
                    <a:pt x="4792599" y="47498"/>
                  </a:lnTo>
                  <a:lnTo>
                    <a:pt x="4808474" y="31623"/>
                  </a:lnTo>
                  <a:lnTo>
                    <a:pt x="4824349" y="31623"/>
                  </a:lnTo>
                  <a:lnTo>
                    <a:pt x="4840097" y="31623"/>
                  </a:lnTo>
                  <a:lnTo>
                    <a:pt x="4840097" y="15875"/>
                  </a:lnTo>
                  <a:lnTo>
                    <a:pt x="4840097" y="0"/>
                  </a:lnTo>
                  <a:lnTo>
                    <a:pt x="4871847" y="0"/>
                  </a:lnTo>
                </a:path>
              </a:pathLst>
            </a:custGeom>
            <a:ln w="19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6230808" cy="599515"/>
          </a:xfrm>
          <a:custGeom>
            <a:avLst/>
            <a:gdLst/>
            <a:ahLst/>
            <a:cxnLst/>
            <a:rect l="l" t="t" r="r" b="b"/>
            <a:pathLst>
              <a:path w="9721215" h="935355">
                <a:moveTo>
                  <a:pt x="9720834" y="467664"/>
                </a:moveTo>
                <a:lnTo>
                  <a:pt x="9704578" y="373430"/>
                </a:lnTo>
                <a:lnTo>
                  <a:pt x="9657842" y="285673"/>
                </a:lnTo>
                <a:lnTo>
                  <a:pt x="9583928" y="206171"/>
                </a:lnTo>
                <a:lnTo>
                  <a:pt x="9486138" y="136956"/>
                </a:lnTo>
                <a:lnTo>
                  <a:pt x="9367520" y="79933"/>
                </a:lnTo>
                <a:lnTo>
                  <a:pt x="9231376" y="36753"/>
                </a:lnTo>
                <a:lnTo>
                  <a:pt x="9081008" y="9575"/>
                </a:lnTo>
                <a:lnTo>
                  <a:pt x="8919591" y="50"/>
                </a:lnTo>
                <a:lnTo>
                  <a:pt x="8794750" y="7416"/>
                </a:lnTo>
                <a:lnTo>
                  <a:pt x="8794750" y="0"/>
                </a:lnTo>
                <a:lnTo>
                  <a:pt x="0" y="0"/>
                </a:lnTo>
                <a:lnTo>
                  <a:pt x="0" y="935278"/>
                </a:lnTo>
                <a:lnTo>
                  <a:pt x="8794750" y="935278"/>
                </a:lnTo>
                <a:lnTo>
                  <a:pt x="8794750" y="928027"/>
                </a:lnTo>
                <a:lnTo>
                  <a:pt x="8919591" y="935278"/>
                </a:lnTo>
                <a:lnTo>
                  <a:pt x="9081008" y="925880"/>
                </a:lnTo>
                <a:lnTo>
                  <a:pt x="9231376" y="898575"/>
                </a:lnTo>
                <a:lnTo>
                  <a:pt x="9367520" y="855395"/>
                </a:lnTo>
                <a:lnTo>
                  <a:pt x="9486138" y="798372"/>
                </a:lnTo>
                <a:lnTo>
                  <a:pt x="9583928" y="729157"/>
                </a:lnTo>
                <a:lnTo>
                  <a:pt x="9657842" y="649655"/>
                </a:lnTo>
                <a:lnTo>
                  <a:pt x="9704578" y="561898"/>
                </a:lnTo>
                <a:lnTo>
                  <a:pt x="9720834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055" y="318642"/>
            <a:ext cx="7105620" cy="685328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9" dirty="0">
                <a:solidFill>
                  <a:schemeClr val="bg1"/>
                </a:solidFill>
              </a:rPr>
              <a:t>Review</a:t>
            </a:r>
            <a:r>
              <a:rPr spc="-29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Linear</a:t>
            </a:r>
            <a:r>
              <a:rPr spc="-42" dirty="0">
                <a:solidFill>
                  <a:schemeClr val="bg1"/>
                </a:solidFill>
              </a:rPr>
              <a:t> </a:t>
            </a:r>
            <a:r>
              <a:rPr spc="-16" dirty="0">
                <a:solidFill>
                  <a:schemeClr val="bg1"/>
                </a:solidFill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4126" y="1272071"/>
            <a:ext cx="10804987" cy="3975972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91684" indent="-183951">
              <a:spcBef>
                <a:spcPts val="64"/>
              </a:spcBef>
              <a:buFont typeface="Arial MT"/>
              <a:buChar char="•"/>
              <a:tabLst>
                <a:tab pos="192091" algn="l"/>
                <a:tab pos="2594850" algn="l"/>
              </a:tabLst>
            </a:pPr>
            <a:r>
              <a:rPr sz="2800" spc="-10" dirty="0">
                <a:latin typeface="Calibri"/>
                <a:cs typeface="Calibri"/>
              </a:rPr>
              <a:t>Initialization: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Random</a:t>
            </a:r>
            <a:r>
              <a:rPr sz="2800" spc="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spc="-3" dirty="0">
                <a:latin typeface="Calibri"/>
                <a:cs typeface="Calibri"/>
              </a:rPr>
              <a:t>b,</a:t>
            </a:r>
            <a:r>
              <a:rPr lang="en-US" sz="2800" spc="-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 </a:t>
            </a:r>
            <a:r>
              <a:rPr sz="2800" spc="-35" dirty="0">
                <a:latin typeface="Calibri"/>
                <a:cs typeface="Calibri"/>
              </a:rPr>
              <a:t>rate</a:t>
            </a:r>
            <a:endParaRPr sz="2800" dirty="0">
              <a:latin typeface="Calibri"/>
              <a:cs typeface="Calibri"/>
            </a:endParaRPr>
          </a:p>
          <a:p>
            <a:pPr marL="191684" indent="-183951">
              <a:spcBef>
                <a:spcPts val="67"/>
              </a:spcBef>
              <a:buFont typeface="Arial MT"/>
              <a:buChar char="•"/>
              <a:tabLst>
                <a:tab pos="192091" algn="l"/>
              </a:tabLst>
            </a:pPr>
            <a:endParaRPr lang="en-US" sz="2800" spc="-3" dirty="0">
              <a:latin typeface="Calibri"/>
              <a:cs typeface="Calibri"/>
            </a:endParaRPr>
          </a:p>
          <a:p>
            <a:pPr marL="191684" indent="-183951">
              <a:spcBef>
                <a:spcPts val="67"/>
              </a:spcBef>
              <a:buFont typeface="Arial MT"/>
              <a:buChar char="•"/>
              <a:tabLst>
                <a:tab pos="192091" algn="l"/>
              </a:tabLst>
            </a:pPr>
            <a:r>
              <a:rPr sz="2800" spc="-3" dirty="0">
                <a:latin typeface="Calibri"/>
                <a:cs typeface="Calibri"/>
              </a:rPr>
              <a:t>Loop</a:t>
            </a:r>
            <a:endParaRPr sz="2800" dirty="0">
              <a:latin typeface="Calibri"/>
              <a:cs typeface="Calibri"/>
            </a:endParaRPr>
          </a:p>
          <a:p>
            <a:pPr marL="484703" lvl="1" indent="-183951">
              <a:spcBef>
                <a:spcPts val="64"/>
              </a:spcBef>
              <a:buFont typeface="Arial MT"/>
              <a:buChar char="•"/>
              <a:tabLst>
                <a:tab pos="485110" algn="l"/>
              </a:tabLst>
            </a:pPr>
            <a:r>
              <a:rPr sz="2800" spc="-13" dirty="0">
                <a:latin typeface="Calibri"/>
                <a:cs typeface="Calibri"/>
              </a:rPr>
              <a:t>Calculate</a:t>
            </a:r>
            <a:r>
              <a:rPr sz="2800" spc="-3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new-cost</a:t>
            </a:r>
            <a:r>
              <a:rPr sz="2800" spc="3" dirty="0">
                <a:latin typeface="Calibri"/>
                <a:cs typeface="Calibri"/>
              </a:rPr>
              <a:t> </a:t>
            </a:r>
            <a:r>
              <a:rPr sz="2800" spc="-26" dirty="0">
                <a:latin typeface="Calibri"/>
                <a:cs typeface="Calibri"/>
              </a:rPr>
              <a:t>for</a:t>
            </a:r>
            <a:r>
              <a:rPr sz="2800" spc="-6" dirty="0">
                <a:latin typeface="Calibri"/>
                <a:cs typeface="Calibri"/>
              </a:rPr>
              <a:t> given</a:t>
            </a:r>
            <a:r>
              <a:rPr sz="2800" spc="-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</a:t>
            </a:r>
            <a:r>
              <a:rPr sz="2800" spc="-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</a:t>
            </a:r>
          </a:p>
          <a:p>
            <a:pPr marL="484703" lvl="1" indent="-183951">
              <a:spcBef>
                <a:spcPts val="61"/>
              </a:spcBef>
              <a:buFont typeface="Arial MT"/>
              <a:buChar char="•"/>
              <a:tabLst>
                <a:tab pos="485110" algn="l"/>
              </a:tabLst>
            </a:pPr>
            <a:endParaRPr lang="en-US" sz="2800" spc="-10" dirty="0">
              <a:latin typeface="Calibri"/>
              <a:cs typeface="Calibri"/>
            </a:endParaRPr>
          </a:p>
          <a:p>
            <a:pPr marL="484703" lvl="1" indent="-183951">
              <a:spcBef>
                <a:spcPts val="61"/>
              </a:spcBef>
              <a:buFont typeface="Arial MT"/>
              <a:buChar char="•"/>
              <a:tabLst>
                <a:tab pos="485110" algn="l"/>
              </a:tabLst>
            </a:pPr>
            <a:r>
              <a:rPr lang="en-US" sz="2800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f</a:t>
            </a:r>
            <a:r>
              <a:rPr sz="2800" spc="-3" dirty="0">
                <a:latin typeface="Calibri"/>
                <a:cs typeface="Calibri"/>
              </a:rPr>
              <a:t> </a:t>
            </a:r>
            <a:r>
              <a:rPr lang="en-US" sz="2800" spc="-3" dirty="0">
                <a:latin typeface="Calibri"/>
                <a:cs typeface="Calibri"/>
              </a:rPr>
              <a:t>(</a:t>
            </a:r>
            <a:r>
              <a:rPr sz="2800" spc="-13" dirty="0">
                <a:latin typeface="Calibri"/>
                <a:cs typeface="Calibri"/>
              </a:rPr>
              <a:t>iter</a:t>
            </a:r>
            <a:r>
              <a:rPr lang="en-US" sz="2800" spc="-13" dirty="0">
                <a:latin typeface="Calibri"/>
                <a:cs typeface="Calibri"/>
              </a:rPr>
              <a:t>ation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" dirty="0">
                <a:latin typeface="Calibri"/>
                <a:cs typeface="Calibri"/>
              </a:rPr>
              <a:t>== </a:t>
            </a:r>
            <a:r>
              <a:rPr sz="2800" spc="-13" dirty="0">
                <a:latin typeface="Calibri"/>
                <a:cs typeface="Calibri"/>
              </a:rPr>
              <a:t>max</a:t>
            </a:r>
            <a:r>
              <a:rPr lang="en-US" sz="2800" spc="-13" dirty="0">
                <a:latin typeface="Calibri"/>
                <a:cs typeface="Calibri"/>
              </a:rPr>
              <a:t>)</a:t>
            </a:r>
            <a:r>
              <a:rPr sz="2800" spc="-3" dirty="0">
                <a:latin typeface="Calibri"/>
                <a:cs typeface="Calibri"/>
              </a:rPr>
              <a:t> or </a:t>
            </a:r>
            <a:r>
              <a:rPr lang="en-US" sz="2800" spc="-3" dirty="0">
                <a:latin typeface="Calibri"/>
                <a:cs typeface="Calibri"/>
              </a:rPr>
              <a:t>((</a:t>
            </a:r>
            <a:r>
              <a:rPr sz="2800" spc="-13" dirty="0">
                <a:latin typeface="Calibri"/>
                <a:cs typeface="Calibri"/>
              </a:rPr>
              <a:t>new-cost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6" dirty="0">
                <a:latin typeface="Calibri"/>
                <a:cs typeface="Calibri"/>
              </a:rPr>
              <a:t> </a:t>
            </a:r>
            <a:r>
              <a:rPr sz="2800" spc="-3" dirty="0">
                <a:latin typeface="Calibri"/>
                <a:cs typeface="Calibri"/>
              </a:rPr>
              <a:t>old </a:t>
            </a:r>
            <a:r>
              <a:rPr sz="2800" spc="-19" dirty="0">
                <a:latin typeface="Calibri"/>
                <a:cs typeface="Calibri"/>
              </a:rPr>
              <a:t>cost</a:t>
            </a:r>
            <a:r>
              <a:rPr lang="en-US" sz="2800" spc="-19" dirty="0">
                <a:latin typeface="Calibri"/>
                <a:cs typeface="Calibri"/>
              </a:rPr>
              <a:t>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" dirty="0">
                <a:latin typeface="Calibri"/>
                <a:cs typeface="Calibri"/>
              </a:rPr>
              <a:t> </a:t>
            </a:r>
            <a:r>
              <a:rPr sz="2800" spc="-6" dirty="0">
                <a:latin typeface="Calibri"/>
                <a:cs typeface="Calibri"/>
              </a:rPr>
              <a:t>threshold</a:t>
            </a:r>
            <a:r>
              <a:rPr lang="en-US" sz="2800" spc="-6" dirty="0">
                <a:latin typeface="Calibri"/>
                <a:cs typeface="Calibri"/>
              </a:rPr>
              <a:t>) break </a:t>
            </a:r>
            <a:endParaRPr sz="2800" dirty="0">
              <a:latin typeface="Calibri"/>
              <a:cs typeface="Calibri"/>
            </a:endParaRPr>
          </a:p>
          <a:p>
            <a:pPr marL="484703" lvl="1" indent="-183951">
              <a:spcBef>
                <a:spcPts val="70"/>
              </a:spcBef>
              <a:buFont typeface="Arial MT"/>
              <a:buChar char="•"/>
              <a:tabLst>
                <a:tab pos="485110" algn="l"/>
              </a:tabLst>
            </a:pPr>
            <a:endParaRPr lang="en-US" sz="2800" spc="-13" dirty="0">
              <a:latin typeface="Calibri"/>
              <a:cs typeface="Calibri"/>
            </a:endParaRPr>
          </a:p>
          <a:p>
            <a:pPr marL="484703" lvl="1" indent="-183951">
              <a:spcBef>
                <a:spcPts val="70"/>
              </a:spcBef>
              <a:buFont typeface="Arial MT"/>
              <a:buChar char="•"/>
              <a:tabLst>
                <a:tab pos="485110" algn="l"/>
              </a:tabLst>
            </a:pPr>
            <a:r>
              <a:rPr sz="2800" spc="-13" dirty="0">
                <a:latin typeface="Calibri"/>
                <a:cs typeface="Calibri"/>
              </a:rPr>
              <a:t>Calculate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gradients</a:t>
            </a:r>
            <a:r>
              <a:rPr sz="2800" spc="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wrt</a:t>
            </a:r>
            <a:r>
              <a:rPr sz="2800" spc="6" dirty="0"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2800" spc="-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</a:p>
          <a:p>
            <a:pPr lvl="1">
              <a:spcBef>
                <a:spcPts val="13"/>
              </a:spcBef>
              <a:buFont typeface="Arial MT"/>
              <a:buChar char="•"/>
            </a:pP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4132" y="2472748"/>
            <a:ext cx="4291114" cy="7873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6619" y="4184544"/>
            <a:ext cx="4701372" cy="18852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7449" y="1455750"/>
            <a:ext cx="159752" cy="2206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86873" y="6406747"/>
            <a:ext cx="313392" cy="299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39">
              <a:lnSpc>
                <a:spcPts val="2256"/>
              </a:lnSpc>
            </a:pPr>
            <a:r>
              <a:rPr sz="2307" spc="-3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230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6230808" cy="599515"/>
          </a:xfrm>
          <a:custGeom>
            <a:avLst/>
            <a:gdLst/>
            <a:ahLst/>
            <a:cxnLst/>
            <a:rect l="l" t="t" r="r" b="b"/>
            <a:pathLst>
              <a:path w="9721215" h="935355">
                <a:moveTo>
                  <a:pt x="9720834" y="467664"/>
                </a:moveTo>
                <a:lnTo>
                  <a:pt x="9704578" y="373430"/>
                </a:lnTo>
                <a:lnTo>
                  <a:pt x="9657842" y="285673"/>
                </a:lnTo>
                <a:lnTo>
                  <a:pt x="9583928" y="206171"/>
                </a:lnTo>
                <a:lnTo>
                  <a:pt x="9486138" y="136956"/>
                </a:lnTo>
                <a:lnTo>
                  <a:pt x="9367520" y="79933"/>
                </a:lnTo>
                <a:lnTo>
                  <a:pt x="9231376" y="36753"/>
                </a:lnTo>
                <a:lnTo>
                  <a:pt x="9081008" y="9575"/>
                </a:lnTo>
                <a:lnTo>
                  <a:pt x="8919591" y="50"/>
                </a:lnTo>
                <a:lnTo>
                  <a:pt x="8794750" y="7416"/>
                </a:lnTo>
                <a:lnTo>
                  <a:pt x="8794750" y="0"/>
                </a:lnTo>
                <a:lnTo>
                  <a:pt x="0" y="0"/>
                </a:lnTo>
                <a:lnTo>
                  <a:pt x="0" y="935278"/>
                </a:lnTo>
                <a:lnTo>
                  <a:pt x="8794750" y="935278"/>
                </a:lnTo>
                <a:lnTo>
                  <a:pt x="8794750" y="928027"/>
                </a:lnTo>
                <a:lnTo>
                  <a:pt x="8919591" y="935278"/>
                </a:lnTo>
                <a:lnTo>
                  <a:pt x="9081008" y="925880"/>
                </a:lnTo>
                <a:lnTo>
                  <a:pt x="9231376" y="898575"/>
                </a:lnTo>
                <a:lnTo>
                  <a:pt x="9367520" y="855395"/>
                </a:lnTo>
                <a:lnTo>
                  <a:pt x="9486138" y="798372"/>
                </a:lnTo>
                <a:lnTo>
                  <a:pt x="9583928" y="729157"/>
                </a:lnTo>
                <a:lnTo>
                  <a:pt x="9657842" y="649655"/>
                </a:lnTo>
                <a:lnTo>
                  <a:pt x="9704578" y="561898"/>
                </a:lnTo>
                <a:lnTo>
                  <a:pt x="9720834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055" y="318642"/>
            <a:ext cx="7105620" cy="685328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9" dirty="0">
                <a:solidFill>
                  <a:schemeClr val="bg1"/>
                </a:solidFill>
              </a:rPr>
              <a:t>Review</a:t>
            </a:r>
            <a:r>
              <a:rPr spc="-29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Linear</a:t>
            </a:r>
            <a:r>
              <a:rPr spc="-42" dirty="0">
                <a:solidFill>
                  <a:schemeClr val="bg1"/>
                </a:solidFill>
              </a:rPr>
              <a:t> </a:t>
            </a:r>
            <a:r>
              <a:rPr spc="-16" dirty="0">
                <a:solidFill>
                  <a:schemeClr val="bg1"/>
                </a:solidFill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4126" y="999924"/>
            <a:ext cx="10267057" cy="869994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lvl="1">
              <a:spcBef>
                <a:spcPts val="13"/>
              </a:spcBef>
              <a:buFont typeface="Arial MT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484703" lvl="1" indent="-183951">
              <a:buFont typeface="Arial MT"/>
              <a:buChar char="•"/>
              <a:tabLst>
                <a:tab pos="485110" algn="l"/>
                <a:tab pos="2672582" algn="l"/>
              </a:tabLst>
            </a:pPr>
            <a:r>
              <a:rPr sz="2800" spc="-3" dirty="0">
                <a:latin typeface="Calibri"/>
                <a:cs typeface="Calibri"/>
              </a:rPr>
              <a:t>Do</a:t>
            </a:r>
            <a:r>
              <a:rPr sz="2800" spc="16" dirty="0">
                <a:latin typeface="Calibri"/>
                <a:cs typeface="Calibri"/>
              </a:rPr>
              <a:t> </a:t>
            </a:r>
            <a:r>
              <a:rPr sz="2800" spc="-16" dirty="0">
                <a:latin typeface="Calibri"/>
                <a:cs typeface="Calibri"/>
              </a:rPr>
              <a:t>gradient</a:t>
            </a:r>
            <a:r>
              <a:rPr lang="en-US" sz="2800" spc="-16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descent</a:t>
            </a:r>
            <a:r>
              <a:rPr lang="en-US" sz="2800" spc="-10" dirty="0">
                <a:latin typeface="Calibri"/>
                <a:cs typeface="Calibri"/>
              </a:rPr>
              <a:t> to update/ calculate cost function 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0084" y="2142434"/>
            <a:ext cx="2264238" cy="16869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0020" y="4101896"/>
            <a:ext cx="5293954" cy="467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39">
              <a:lnSpc>
                <a:spcPts val="3890"/>
              </a:lnSpc>
            </a:pPr>
            <a:r>
              <a:rPr sz="2800" spc="54" dirty="0">
                <a:latin typeface="Arial MT"/>
                <a:cs typeface="Arial MT"/>
              </a:rPr>
              <a:t>•</a:t>
            </a:r>
            <a:r>
              <a:rPr lang="en-US" sz="2800" spc="54" dirty="0">
                <a:latin typeface="Arial MT"/>
                <a:cs typeface="Arial MT"/>
              </a:rPr>
              <a:t> stop: if o</a:t>
            </a:r>
            <a:r>
              <a:rPr sz="2800" spc="54" dirty="0">
                <a:latin typeface="Calibri"/>
                <a:cs typeface="Calibri"/>
              </a:rPr>
              <a:t>ld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lang="en-US" sz="2800" spc="-13" dirty="0">
                <a:latin typeface="Calibri"/>
                <a:cs typeface="Calibri"/>
              </a:rPr>
              <a:t>c</a:t>
            </a:r>
            <a:r>
              <a:rPr sz="2800" spc="-13" dirty="0">
                <a:latin typeface="Calibri"/>
                <a:cs typeface="Calibri"/>
              </a:rPr>
              <a:t>ost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0" dirty="0">
                <a:latin typeface="Calibri"/>
                <a:cs typeface="Calibri"/>
              </a:rPr>
              <a:t> new</a:t>
            </a:r>
            <a:r>
              <a:rPr sz="2800" spc="-6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cost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86873" y="6406747"/>
            <a:ext cx="313392" cy="299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39">
              <a:lnSpc>
                <a:spcPts val="2256"/>
              </a:lnSpc>
            </a:pPr>
            <a:r>
              <a:rPr sz="2307" spc="-3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230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3388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" y="391667"/>
            <a:ext cx="11346022" cy="599515"/>
          </a:xfrm>
          <a:custGeom>
            <a:avLst/>
            <a:gdLst/>
            <a:ahLst/>
            <a:cxnLst/>
            <a:rect l="l" t="t" r="r" b="b"/>
            <a:pathLst>
              <a:path w="17701895" h="935355">
                <a:moveTo>
                  <a:pt x="17701387" y="467664"/>
                </a:moveTo>
                <a:lnTo>
                  <a:pt x="17671669" y="373430"/>
                </a:lnTo>
                <a:lnTo>
                  <a:pt x="17586833" y="285673"/>
                </a:lnTo>
                <a:lnTo>
                  <a:pt x="17452340" y="206171"/>
                </a:lnTo>
                <a:lnTo>
                  <a:pt x="17274413" y="136956"/>
                </a:lnTo>
                <a:lnTo>
                  <a:pt x="17058640" y="79933"/>
                </a:lnTo>
                <a:lnTo>
                  <a:pt x="16810990" y="36753"/>
                </a:lnTo>
                <a:lnTo>
                  <a:pt x="16537305" y="9575"/>
                </a:lnTo>
                <a:lnTo>
                  <a:pt x="16243554" y="50"/>
                </a:lnTo>
                <a:lnTo>
                  <a:pt x="16016732" y="7416"/>
                </a:lnTo>
                <a:lnTo>
                  <a:pt x="16016732" y="0"/>
                </a:lnTo>
                <a:lnTo>
                  <a:pt x="0" y="0"/>
                </a:lnTo>
                <a:lnTo>
                  <a:pt x="0" y="935278"/>
                </a:lnTo>
                <a:lnTo>
                  <a:pt x="16016732" y="935278"/>
                </a:lnTo>
                <a:lnTo>
                  <a:pt x="16016732" y="928027"/>
                </a:lnTo>
                <a:lnTo>
                  <a:pt x="16243554" y="935278"/>
                </a:lnTo>
                <a:lnTo>
                  <a:pt x="16537305" y="925880"/>
                </a:lnTo>
                <a:lnTo>
                  <a:pt x="16810990" y="898575"/>
                </a:lnTo>
                <a:lnTo>
                  <a:pt x="17058640" y="855395"/>
                </a:lnTo>
                <a:lnTo>
                  <a:pt x="17274413" y="798372"/>
                </a:lnTo>
                <a:lnTo>
                  <a:pt x="17452340" y="729157"/>
                </a:lnTo>
                <a:lnTo>
                  <a:pt x="17586833" y="649655"/>
                </a:lnTo>
                <a:lnTo>
                  <a:pt x="17671669" y="561898"/>
                </a:lnTo>
                <a:lnTo>
                  <a:pt x="17701387" y="46766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6" y="318642"/>
            <a:ext cx="9143012" cy="685328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>
              <a:lnSpc>
                <a:spcPct val="100000"/>
              </a:lnSpc>
              <a:spcBef>
                <a:spcPts val="64"/>
              </a:spcBef>
            </a:pPr>
            <a:r>
              <a:rPr spc="-16" dirty="0">
                <a:solidFill>
                  <a:schemeClr val="bg1"/>
                </a:solidFill>
              </a:rPr>
              <a:t>Gradient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descent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3" dirty="0">
                <a:solidFill>
                  <a:schemeClr val="bg1"/>
                </a:solidFill>
              </a:rPr>
              <a:t>summary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82568" y="1133096"/>
            <a:ext cx="6176677" cy="5219406"/>
            <a:chOff x="9172956" y="1767839"/>
            <a:chExt cx="9636760" cy="8143240"/>
          </a:xfrm>
        </p:grpSpPr>
        <p:sp>
          <p:nvSpPr>
            <p:cNvPr id="5" name="object 5"/>
            <p:cNvSpPr/>
            <p:nvPr/>
          </p:nvSpPr>
          <p:spPr>
            <a:xfrm>
              <a:off x="9505188" y="5346953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 sz="1154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72956" y="1767839"/>
              <a:ext cx="9636252" cy="814273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88" y="1479862"/>
            <a:ext cx="5789444" cy="468959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7111217" y="9995712"/>
            <a:ext cx="5397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>
              <a:lnSpc>
                <a:spcPts val="1875"/>
              </a:lnSpc>
            </a:pPr>
            <a:fld id="{81D60167-4931-47E6-BA6A-407CBD079E47}" type="slidenum">
              <a:rPr lang="en-IN" sz="1850" spc="10" smtClean="0"/>
              <a:pPr marL="381000">
                <a:lnSpc>
                  <a:spcPts val="1875"/>
                </a:lnSpc>
              </a:pPr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F9C9-B95A-867C-2D77-79CFE92B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6296BC-957A-2A7F-3FB2-B347521D3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242637"/>
                  </p:ext>
                </p:extLst>
              </p:nvPr>
            </p:nvGraphicFramePr>
            <p:xfrm>
              <a:off x="827314" y="1775580"/>
              <a:ext cx="9133115" cy="39738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6623">
                      <a:extLst>
                        <a:ext uri="{9D8B030D-6E8A-4147-A177-3AD203B41FA5}">
                          <a16:colId xmlns:a16="http://schemas.microsoft.com/office/drawing/2014/main" val="4031555842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1849801833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2732915711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2116663223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2595999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Number of hours studied (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100" b="1" dirty="0"/>
                            <a:t>) IDV</a:t>
                          </a:r>
                          <a:endParaRPr lang="en-IN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Marks scored  (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100" b="1" dirty="0"/>
                            <a:t>) DV</a:t>
                          </a:r>
                          <a:endParaRPr lang="en-IN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sz="2100" b="1" i="1" baseline="3000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IN" sz="2100" b="1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1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1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IN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21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57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150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2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246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659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372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009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445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248437"/>
                      </a:ext>
                    </a:extLst>
                  </a:tr>
                  <a:tr h="461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98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588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7380556"/>
                      </a:ext>
                    </a:extLst>
                  </a:tr>
                  <a:tr h="7767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acc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IN" sz="2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𝟖𝟕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IN" sz="2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IN" sz="2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21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1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21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acc>
                            </m:oMath>
                          </a14:m>
                          <a:r>
                            <a:rPr lang="en-IN" sz="2100" b="1" dirty="0"/>
                            <a:t> = 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𝟑𝟔𝟎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1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IN" sz="2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IN" sz="2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5135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6296BC-957A-2A7F-3FB2-B347521D3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242637"/>
                  </p:ext>
                </p:extLst>
              </p:nvPr>
            </p:nvGraphicFramePr>
            <p:xfrm>
              <a:off x="827314" y="1775580"/>
              <a:ext cx="9133115" cy="39738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6623">
                      <a:extLst>
                        <a:ext uri="{9D8B030D-6E8A-4147-A177-3AD203B41FA5}">
                          <a16:colId xmlns:a16="http://schemas.microsoft.com/office/drawing/2014/main" val="4031555842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1849801833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2732915711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2116663223"/>
                        </a:ext>
                      </a:extLst>
                    </a:gridCol>
                    <a:gridCol w="1826623">
                      <a:extLst>
                        <a:ext uri="{9D8B030D-6E8A-4147-A177-3AD203B41FA5}">
                          <a16:colId xmlns:a16="http://schemas.microsoft.com/office/drawing/2014/main" val="2595999110"/>
                        </a:ext>
                      </a:extLst>
                    </a:gridCol>
                  </a:tblGrid>
                  <a:tr h="1051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3" t="-3468" r="-400667" b="-278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33" t="-3468" r="-300667" b="-278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03" t="-3468" r="-201672" b="-278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468" r="-101000" b="-278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468" r="-1000" b="-278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657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150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2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246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659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372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009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89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445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248437"/>
                      </a:ext>
                    </a:extLst>
                  </a:tr>
                  <a:tr h="461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98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36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588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7380556"/>
                      </a:ext>
                    </a:extLst>
                  </a:tr>
                  <a:tr h="9771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" t="-309317" r="-400667" b="-1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33" t="-309317" r="-300667" b="-1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03" t="-309317" r="-201672" b="-1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309317" r="-101000" b="-1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309317" r="-1000" b="-1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5135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7619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74F1-2382-0710-12A9-DA336784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FFAB43-5428-1CF4-3733-FD2D9D0AD72A}"/>
                  </a:ext>
                </a:extLst>
              </p:cNvPr>
              <p:cNvSpPr txBox="1"/>
              <p:nvPr/>
            </p:nvSpPr>
            <p:spPr>
              <a:xfrm>
                <a:off x="2329147" y="2344352"/>
                <a:ext cx="4866717" cy="1273041"/>
              </a:xfrm>
              <a:prstGeom prst="rect">
                <a:avLst/>
              </a:prstGeom>
              <a:noFill/>
              <a:ln w="63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𝑠𝑡𝑎𝑛𝑑𝑎𝑟𝑑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FFAB43-5428-1CF4-3733-FD2D9D0A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147" y="2344352"/>
                <a:ext cx="4866717" cy="12730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63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A55BE5-2E33-EEFB-31EB-4683B1596870}"/>
                  </a:ext>
                </a:extLst>
              </p:cNvPr>
              <p:cNvSpPr txBox="1"/>
              <p:nvPr/>
            </p:nvSpPr>
            <p:spPr>
              <a:xfrm>
                <a:off x="3019478" y="3654615"/>
                <a:ext cx="3473414" cy="41549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𝑠𝑡𝑎𝑛𝑑𝑎𝑟𝑑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100" dirty="0"/>
                  <a:t> 4.012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A55BE5-2E33-EEFB-31EB-4683B1596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78" y="3654615"/>
                <a:ext cx="3473414" cy="415498"/>
              </a:xfrm>
              <a:prstGeom prst="rect">
                <a:avLst/>
              </a:prstGeom>
              <a:blipFill>
                <a:blip r:embed="rId3"/>
                <a:stretch>
                  <a:fillRect t="-8571" b="-2571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74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F9C9-B95A-867C-2D77-79CFE92B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Assignment: Obtain a line that best fit the sample data given in the table. Evaluate the model by finding the standard error. 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6296BC-957A-2A7F-3FB2-B347521D3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5033819"/>
                  </p:ext>
                </p:extLst>
              </p:nvPr>
            </p:nvGraphicFramePr>
            <p:xfrm>
              <a:off x="827314" y="1927978"/>
              <a:ext cx="9133116" cy="2585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83279">
                      <a:extLst>
                        <a:ext uri="{9D8B030D-6E8A-4147-A177-3AD203B41FA5}">
                          <a16:colId xmlns:a16="http://schemas.microsoft.com/office/drawing/2014/main" val="4031555842"/>
                        </a:ext>
                      </a:extLst>
                    </a:gridCol>
                    <a:gridCol w="2386693">
                      <a:extLst>
                        <a:ext uri="{9D8B030D-6E8A-4147-A177-3AD203B41FA5}">
                          <a16:colId xmlns:a16="http://schemas.microsoft.com/office/drawing/2014/main" val="1849801833"/>
                        </a:ext>
                      </a:extLst>
                    </a:gridCol>
                    <a:gridCol w="2179865">
                      <a:extLst>
                        <a:ext uri="{9D8B030D-6E8A-4147-A177-3AD203B41FA5}">
                          <a16:colId xmlns:a16="http://schemas.microsoft.com/office/drawing/2014/main" val="2732915711"/>
                        </a:ext>
                      </a:extLst>
                    </a:gridCol>
                    <a:gridCol w="2283279">
                      <a:extLst>
                        <a:ext uri="{9D8B030D-6E8A-4147-A177-3AD203B41FA5}">
                          <a16:colId xmlns:a16="http://schemas.microsoft.com/office/drawing/2014/main" val="21166632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100" b="1" dirty="0"/>
                            <a:t>) IDV</a:t>
                          </a:r>
                          <a:endParaRPr lang="en-IN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Marks scored  (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100" b="1" dirty="0"/>
                            <a:t>) DV</a:t>
                          </a:r>
                          <a:endParaRPr lang="en-IN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2100" b="1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21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57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2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659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009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248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73805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6296BC-957A-2A7F-3FB2-B347521D3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5033819"/>
                  </p:ext>
                </p:extLst>
              </p:nvPr>
            </p:nvGraphicFramePr>
            <p:xfrm>
              <a:off x="827314" y="1927978"/>
              <a:ext cx="9133116" cy="2585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83279">
                      <a:extLst>
                        <a:ext uri="{9D8B030D-6E8A-4147-A177-3AD203B41FA5}">
                          <a16:colId xmlns:a16="http://schemas.microsoft.com/office/drawing/2014/main" val="4031555842"/>
                        </a:ext>
                      </a:extLst>
                    </a:gridCol>
                    <a:gridCol w="2386693">
                      <a:extLst>
                        <a:ext uri="{9D8B030D-6E8A-4147-A177-3AD203B41FA5}">
                          <a16:colId xmlns:a16="http://schemas.microsoft.com/office/drawing/2014/main" val="1849801833"/>
                        </a:ext>
                      </a:extLst>
                    </a:gridCol>
                    <a:gridCol w="2179865">
                      <a:extLst>
                        <a:ext uri="{9D8B030D-6E8A-4147-A177-3AD203B41FA5}">
                          <a16:colId xmlns:a16="http://schemas.microsoft.com/office/drawing/2014/main" val="2732915711"/>
                        </a:ext>
                      </a:extLst>
                    </a:gridCol>
                    <a:gridCol w="2283279">
                      <a:extLst>
                        <a:ext uri="{9D8B030D-6E8A-4147-A177-3AD203B41FA5}">
                          <a16:colId xmlns:a16="http://schemas.microsoft.com/office/drawing/2014/main" val="2116663223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7" t="-5000" r="-300533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164" t="-5000" r="-188235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2100" b="1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21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57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2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659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009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248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73805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1912A5-A260-F5DE-F9F2-FC2E04ED3C4C}"/>
                  </a:ext>
                </a:extLst>
              </p:cNvPr>
              <p:cNvSpPr txBox="1"/>
              <p:nvPr/>
            </p:nvSpPr>
            <p:spPr>
              <a:xfrm>
                <a:off x="1586208" y="4920343"/>
                <a:ext cx="4866717" cy="1273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𝑠𝑡𝑎𝑛𝑑𝑎𝑟𝑑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1912A5-A260-F5DE-F9F2-FC2E04ED3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208" y="4920343"/>
                <a:ext cx="4866717" cy="1273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104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27385" y="187058"/>
            <a:ext cx="1788371" cy="323819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2051" spc="-16" dirty="0">
                <a:solidFill>
                  <a:srgbClr val="FFFFFF"/>
                </a:solidFill>
                <a:latin typeface="Calibri"/>
                <a:cs typeface="Calibri"/>
              </a:rPr>
              <a:t>Duration:</a:t>
            </a:r>
            <a:r>
              <a:rPr sz="205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spc="-6" dirty="0">
                <a:solidFill>
                  <a:srgbClr val="FFFFFF"/>
                </a:solidFill>
                <a:latin typeface="Calibri"/>
                <a:cs typeface="Calibri"/>
              </a:rPr>
              <a:t>60</a:t>
            </a:r>
            <a:r>
              <a:rPr sz="2051" spc="-4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spc="-3" dirty="0">
                <a:solidFill>
                  <a:srgbClr val="FFFFFF"/>
                </a:solidFill>
                <a:latin typeface="Calibri"/>
                <a:cs typeface="Calibri"/>
              </a:rPr>
              <a:t>min</a:t>
            </a:r>
            <a:endParaRPr sz="2051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8966" y="186244"/>
            <a:ext cx="1711040" cy="323819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2051" spc="-16" dirty="0">
                <a:solidFill>
                  <a:srgbClr val="FFFFFF"/>
                </a:solidFill>
                <a:latin typeface="Calibri"/>
                <a:cs typeface="Calibri"/>
              </a:rPr>
              <a:t>Srikanth</a:t>
            </a:r>
            <a:r>
              <a:rPr sz="2051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spc="-10" dirty="0">
                <a:solidFill>
                  <a:srgbClr val="FFFFFF"/>
                </a:solidFill>
                <a:latin typeface="Calibri"/>
                <a:cs typeface="Calibri"/>
              </a:rPr>
              <a:t>Shenoy</a:t>
            </a:r>
            <a:endParaRPr sz="2051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4833" y="186244"/>
            <a:ext cx="1086290" cy="323819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2051" spc="-3" dirty="0">
                <a:solidFill>
                  <a:srgbClr val="FFFFFF"/>
                </a:solidFill>
                <a:latin typeface="Calibri"/>
                <a:cs typeface="Calibri"/>
              </a:rPr>
              <a:t>AML</a:t>
            </a:r>
            <a:r>
              <a:rPr sz="205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spc="-3" dirty="0">
                <a:solidFill>
                  <a:srgbClr val="FFFFFF"/>
                </a:solidFill>
                <a:latin typeface="Calibri"/>
                <a:cs typeface="Calibri"/>
              </a:rPr>
              <a:t>5102</a:t>
            </a:r>
            <a:endParaRPr sz="2051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9705" y="3980488"/>
            <a:ext cx="9689927" cy="0"/>
          </a:xfrm>
          <a:custGeom>
            <a:avLst/>
            <a:gdLst/>
            <a:ahLst/>
            <a:cxnLst/>
            <a:rect l="l" t="t" r="r" b="b"/>
            <a:pathLst>
              <a:path w="15118080">
                <a:moveTo>
                  <a:pt x="0" y="0"/>
                </a:moveTo>
                <a:lnTo>
                  <a:pt x="15118080" y="0"/>
                </a:lnTo>
              </a:path>
            </a:pathLst>
          </a:custGeom>
          <a:ln w="8465">
            <a:solidFill>
              <a:srgbClr val="002D8E"/>
            </a:solidFill>
          </a:ln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11" name="object 11"/>
          <p:cNvSpPr txBox="1"/>
          <p:nvPr/>
        </p:nvSpPr>
        <p:spPr>
          <a:xfrm>
            <a:off x="1246804" y="2047444"/>
            <a:ext cx="10069660" cy="875738"/>
          </a:xfrm>
          <a:prstGeom prst="rect">
            <a:avLst/>
          </a:prstGeom>
        </p:spPr>
        <p:txBody>
          <a:bodyPr vert="horz" wrap="square" lIns="0" tIns="7733" rIns="0" bIns="0" rtlCol="0">
            <a:spAutoFit/>
          </a:bodyPr>
          <a:lstStyle/>
          <a:p>
            <a:pPr algn="ctr">
              <a:spcBef>
                <a:spcPts val="61"/>
              </a:spcBef>
            </a:pPr>
            <a:r>
              <a:rPr lang="en-US" sz="5640" spc="-6" dirty="0">
                <a:solidFill>
                  <a:srgbClr val="009FEE"/>
                </a:solidFill>
                <a:latin typeface="Calibri"/>
                <a:cs typeface="Calibri"/>
              </a:rPr>
              <a:t>Multiple </a:t>
            </a:r>
            <a:r>
              <a:rPr sz="5640" spc="-6" dirty="0">
                <a:solidFill>
                  <a:srgbClr val="009FEE"/>
                </a:solidFill>
                <a:latin typeface="Calibri"/>
                <a:cs typeface="Calibri"/>
              </a:rPr>
              <a:t>Linear</a:t>
            </a:r>
            <a:r>
              <a:rPr sz="5640" spc="-10" dirty="0">
                <a:solidFill>
                  <a:srgbClr val="009FEE"/>
                </a:solidFill>
                <a:latin typeface="Calibri"/>
                <a:cs typeface="Calibri"/>
              </a:rPr>
              <a:t> </a:t>
            </a:r>
            <a:r>
              <a:rPr sz="5640" spc="-16" dirty="0">
                <a:solidFill>
                  <a:srgbClr val="009FEE"/>
                </a:solidFill>
                <a:latin typeface="Calibri"/>
                <a:cs typeface="Calibri"/>
              </a:rPr>
              <a:t>Regression</a:t>
            </a:r>
            <a:endParaRPr sz="564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57847" y="167847"/>
            <a:ext cx="1399276" cy="323819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2051" spc="-3" dirty="0">
                <a:solidFill>
                  <a:srgbClr val="FFFFFF"/>
                </a:solidFill>
                <a:latin typeface="Calibri"/>
                <a:cs typeface="Calibri"/>
              </a:rPr>
              <a:t>M.E.</a:t>
            </a:r>
            <a:r>
              <a:rPr sz="2051" spc="-1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spc="-6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205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51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1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endParaRPr sz="2051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F2DE79-CB8A-DCE3-4A55-89E289E3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Multiple linear regression (MLR)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BA8145-6016-06D7-BD0C-52398C828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  <a:latin typeface="Roboto" panose="02000000000000000000" pitchFamily="2" charset="0"/>
              </a:rPr>
              <a:t>It is a statistical technique used to predict the relationship between one dependent variable and two or more independent variables</a:t>
            </a:r>
          </a:p>
          <a:p>
            <a:pPr algn="just"/>
            <a:endParaRPr lang="en-US" dirty="0">
              <a:latin typeface="Roboto" panose="02000000000000000000" pitchFamily="2" charset="0"/>
            </a:endParaRPr>
          </a:p>
          <a:p>
            <a:pPr algn="just"/>
            <a:r>
              <a:rPr lang="en-US" b="0" i="0" dirty="0">
                <a:effectLst/>
                <a:latin typeface="Roboto" panose="02000000000000000000" pitchFamily="2" charset="0"/>
              </a:rPr>
              <a:t>Forecasting - Economics, finance</a:t>
            </a:r>
          </a:p>
          <a:p>
            <a:pPr algn="just"/>
            <a:r>
              <a:rPr lang="en-US" b="0" i="0" dirty="0">
                <a:effectLst/>
                <a:latin typeface="Roboto" panose="02000000000000000000" pitchFamily="2" charset="0"/>
              </a:rPr>
              <a:t>In biology - patterns detection </a:t>
            </a:r>
          </a:p>
          <a:p>
            <a:pPr algn="just"/>
            <a:endParaRPr lang="en-US" b="0" i="0" dirty="0">
              <a:effectLst/>
              <a:latin typeface="Roboto" panose="02000000000000000000" pitchFamily="2" charset="0"/>
            </a:endParaRPr>
          </a:p>
          <a:p>
            <a:pPr algn="just"/>
            <a:r>
              <a:rPr lang="en-US" b="0" i="0" dirty="0">
                <a:effectLst/>
                <a:latin typeface="Roboto" panose="02000000000000000000" pitchFamily="2" charset="0"/>
              </a:rPr>
              <a:t>To understand the impact of multiple elements on a singular result.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120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4794" y="6472910"/>
            <a:ext cx="77331" cy="145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8"/>
              </a:lnSpc>
            </a:pPr>
            <a:r>
              <a:rPr sz="1186" spc="6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186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779" y="1711324"/>
            <a:ext cx="5949660" cy="3792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3933" y="1841932"/>
            <a:ext cx="4534013" cy="48189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22832" y="476299"/>
            <a:ext cx="3695994" cy="1238510"/>
            <a:chOff x="2058923" y="743114"/>
            <a:chExt cx="5766435" cy="193230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6769" y="743114"/>
              <a:ext cx="1867509" cy="6299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8923" y="1173479"/>
              <a:ext cx="5766054" cy="150190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98942" y="326846"/>
            <a:ext cx="3145726" cy="1073383"/>
          </a:xfrm>
          <a:prstGeom prst="rect">
            <a:avLst/>
          </a:prstGeom>
        </p:spPr>
        <p:txBody>
          <a:bodyPr vert="horz" wrap="square" lIns="0" tIns="8140" rIns="0" bIns="0" rtlCol="0" anchor="ctr">
            <a:spAutoFit/>
          </a:bodyPr>
          <a:lstStyle/>
          <a:p>
            <a:pPr marL="8139" marR="3256" indent="913244">
              <a:lnSpc>
                <a:spcPct val="100000"/>
              </a:lnSpc>
              <a:spcBef>
                <a:spcPts val="64"/>
              </a:spcBef>
            </a:pPr>
            <a:r>
              <a:rPr sz="3461" spc="-6" dirty="0">
                <a:solidFill>
                  <a:srgbClr val="4471C4"/>
                </a:solidFill>
              </a:rPr>
              <a:t>Simple </a:t>
            </a:r>
            <a:r>
              <a:rPr sz="3461" spc="-3" dirty="0">
                <a:solidFill>
                  <a:srgbClr val="4471C4"/>
                </a:solidFill>
              </a:rPr>
              <a:t> Linear</a:t>
            </a:r>
            <a:r>
              <a:rPr sz="3461" spc="-38" dirty="0">
                <a:solidFill>
                  <a:srgbClr val="4471C4"/>
                </a:solidFill>
              </a:rPr>
              <a:t> </a:t>
            </a:r>
            <a:r>
              <a:rPr sz="3461" spc="-13" dirty="0">
                <a:solidFill>
                  <a:srgbClr val="4471C4"/>
                </a:solidFill>
              </a:rPr>
              <a:t>Regression</a:t>
            </a:r>
            <a:endParaRPr sz="3461"/>
          </a:p>
        </p:txBody>
      </p:sp>
      <p:grpSp>
        <p:nvGrpSpPr>
          <p:cNvPr id="9" name="object 9"/>
          <p:cNvGrpSpPr/>
          <p:nvPr/>
        </p:nvGrpSpPr>
        <p:grpSpPr>
          <a:xfrm>
            <a:off x="7183674" y="548587"/>
            <a:ext cx="3695994" cy="1241766"/>
            <a:chOff x="11202923" y="855897"/>
            <a:chExt cx="5766435" cy="193738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66811" y="855897"/>
              <a:ext cx="2307304" cy="6345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02923" y="1290827"/>
              <a:ext cx="5766053" cy="150190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460600" y="403258"/>
            <a:ext cx="3144505" cy="1073383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 marR="3256" indent="761851">
              <a:spcBef>
                <a:spcPts val="64"/>
              </a:spcBef>
            </a:pPr>
            <a:r>
              <a:rPr sz="3461" spc="-3" dirty="0">
                <a:solidFill>
                  <a:srgbClr val="4471C4"/>
                </a:solidFill>
                <a:latin typeface="Calibri"/>
                <a:cs typeface="Calibri"/>
              </a:rPr>
              <a:t>Multiple </a:t>
            </a:r>
            <a:r>
              <a:rPr sz="3461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3461" spc="-3" dirty="0">
                <a:solidFill>
                  <a:srgbClr val="4471C4"/>
                </a:solidFill>
                <a:latin typeface="Calibri"/>
                <a:cs typeface="Calibri"/>
              </a:rPr>
              <a:t>Linear</a:t>
            </a:r>
            <a:r>
              <a:rPr sz="346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3461" spc="-13" dirty="0">
                <a:solidFill>
                  <a:srgbClr val="4471C4"/>
                </a:solidFill>
                <a:latin typeface="Calibri"/>
                <a:cs typeface="Calibri"/>
              </a:rPr>
              <a:t>Regression</a:t>
            </a:r>
            <a:endParaRPr sz="3461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995D-25B1-C786-3E82-ACC591A4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General Formula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2863E-144F-9C81-3095-77C242203E41}"/>
              </a:ext>
            </a:extLst>
          </p:cNvPr>
          <p:cNvSpPr txBox="1"/>
          <p:nvPr/>
        </p:nvSpPr>
        <p:spPr>
          <a:xfrm>
            <a:off x="1001486" y="18400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The equation for multiple linear regression is: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62F6D0-C2B8-8C66-6011-90617031ABBE}"/>
                  </a:ext>
                </a:extLst>
              </p:cNvPr>
              <p:cNvSpPr txBox="1"/>
              <p:nvPr/>
            </p:nvSpPr>
            <p:spPr>
              <a:xfrm>
                <a:off x="2297364" y="2604380"/>
                <a:ext cx="63546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62F6D0-C2B8-8C66-6011-90617031A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364" y="2604380"/>
                <a:ext cx="6354625" cy="369332"/>
              </a:xfrm>
              <a:prstGeom prst="rect">
                <a:avLst/>
              </a:prstGeom>
              <a:blipFill>
                <a:blip r:embed="rId2"/>
                <a:stretch>
                  <a:fillRect t="-18033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0ADF8F-A9BA-BBF9-C8D4-AD9C5D6EEAEA}"/>
                  </a:ext>
                </a:extLst>
              </p:cNvPr>
              <p:cNvSpPr txBox="1"/>
              <p:nvPr/>
            </p:nvSpPr>
            <p:spPr>
              <a:xfrm>
                <a:off x="1171471" y="3429000"/>
                <a:ext cx="5756030" cy="2954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𝑖𝑛𝑡𝑒𝑟𝑐𝑒𝑝𝑡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endParaRPr lang="en-US" sz="18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𝑐𝑜𝑒𝑓𝑓𝑖𝑐𝑖𝑒𝑛𝑡𝑠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- IDV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𝑃𝑟𝑒𝑑𝑖𝑐𝑡𝑒𝑑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y – DV</a:t>
                </a:r>
              </a:p>
              <a:p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– error term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0ADF8F-A9BA-BBF9-C8D4-AD9C5D6EE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71" y="3429000"/>
                <a:ext cx="5756030" cy="2954655"/>
              </a:xfrm>
              <a:prstGeom prst="rect">
                <a:avLst/>
              </a:prstGeom>
              <a:blipFill>
                <a:blip r:embed="rId3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625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D51A-6171-1292-0987-2F13773B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57C0C-0E39-023B-F1A5-0F6B76B46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predict the salary of the person based on the years of experience and education level.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52E64-EFA5-B9E6-64E7-E7A61AAF0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06"/>
          <a:stretch>
            <a:fillRect/>
          </a:stretch>
        </p:blipFill>
        <p:spPr>
          <a:xfrm>
            <a:off x="1057897" y="2907324"/>
            <a:ext cx="9739058" cy="283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52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A5D0-6D7C-76E2-F73D-D3B6F3C2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EA267-54FB-4D57-762F-9157E04B51A0}"/>
              </a:ext>
            </a:extLst>
          </p:cNvPr>
          <p:cNvSpPr txBox="1"/>
          <p:nvPr/>
        </p:nvSpPr>
        <p:spPr>
          <a:xfrm>
            <a:off x="838199" y="1896180"/>
            <a:ext cx="10380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Explain with example about batch, mini batch &amp; stochastic gradient descent.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Compare batch, mini batch &amp; stochastic gradient descent.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</a:t>
            </a:r>
            <a:r>
              <a:rPr lang="en-IN" sz="2400" dirty="0"/>
              <a:t>evaluation metrics for regression</a:t>
            </a:r>
          </a:p>
        </p:txBody>
      </p:sp>
    </p:spTree>
    <p:extLst>
      <p:ext uri="{BB962C8B-B14F-4D97-AF65-F5344CB8AC3E}">
        <p14:creationId xmlns:p14="http://schemas.microsoft.com/office/powerpoint/2010/main" val="3649756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B04D7CF-2999-499D-0090-C647E36E0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9201C-C461-EDEE-C24F-D4C79111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9905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3515</TotalTime>
  <Words>881</Words>
  <Application>Microsoft Office PowerPoint</Application>
  <PresentationFormat>Widescreen</PresentationFormat>
  <Paragraphs>199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MT</vt:lpstr>
      <vt:lpstr>Calibri</vt:lpstr>
      <vt:lpstr>Calibri Light</vt:lpstr>
      <vt:lpstr>Cambria Math</vt:lpstr>
      <vt:lpstr>Roboto</vt:lpstr>
      <vt:lpstr>Segoe Sans</vt:lpstr>
      <vt:lpstr>Times New Roman</vt:lpstr>
      <vt:lpstr>Office Theme</vt:lpstr>
      <vt:lpstr>PowerPoint Presentation</vt:lpstr>
      <vt:lpstr>Introduction </vt:lpstr>
      <vt:lpstr>Introduction </vt:lpstr>
      <vt:lpstr>Simple Linear Regression</vt:lpstr>
      <vt:lpstr>PowerPoint Presentation</vt:lpstr>
      <vt:lpstr>PowerPoint Presentation</vt:lpstr>
      <vt:lpstr>PowerPoint Presentation</vt:lpstr>
      <vt:lpstr>Population versus Sample</vt:lpstr>
      <vt:lpstr>Hypothesis function(s)</vt:lpstr>
      <vt:lpstr>PowerPoint Presentation</vt:lpstr>
      <vt:lpstr>Step 1. Initialization</vt:lpstr>
      <vt:lpstr>Formulate Objective function</vt:lpstr>
      <vt:lpstr>Feature space versus parameter space</vt:lpstr>
      <vt:lpstr>Step 2. Evaluate y-hat &amp; evaluate objective function</vt:lpstr>
      <vt:lpstr>Objective function plot</vt:lpstr>
      <vt:lpstr>Step 3. Calculate analytical gradients</vt:lpstr>
      <vt:lpstr>PowerPoint Presentation</vt:lpstr>
      <vt:lpstr>Change in w and b with gradient descent</vt:lpstr>
      <vt:lpstr>Review Linear Regression</vt:lpstr>
      <vt:lpstr>Review Linear Regression</vt:lpstr>
      <vt:lpstr>Gradient descent summary</vt:lpstr>
      <vt:lpstr>Example-1</vt:lpstr>
      <vt:lpstr>Example-1</vt:lpstr>
      <vt:lpstr>Assignment: Obtain a line that best fit the sample data given in the table. Evaluate the model by finding the standard error. </vt:lpstr>
      <vt:lpstr>PowerPoint Presentation</vt:lpstr>
      <vt:lpstr>Multiple linear regression (MLR)</vt:lpstr>
      <vt:lpstr>Simple  Linear Regression</vt:lpstr>
      <vt:lpstr>General Formula</vt:lpstr>
      <vt:lpstr>Example</vt:lpstr>
      <vt:lpstr>Assignment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Arockiaraj S [MAHE-SOIS]</dc:creator>
  <cp:lastModifiedBy>Dr Sameera P</cp:lastModifiedBy>
  <cp:revision>69</cp:revision>
  <dcterms:created xsi:type="dcterms:W3CDTF">2018-10-22T13:31:03Z</dcterms:created>
  <dcterms:modified xsi:type="dcterms:W3CDTF">2026-08-20T06:36:23Z</dcterms:modified>
</cp:coreProperties>
</file>