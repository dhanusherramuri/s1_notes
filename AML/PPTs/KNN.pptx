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5" d="100"/>
          <a:sy n="65" d="100"/>
        </p:scale>
        <p:origin x="834" y="7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A0FAEC-6268-4929-8338-56024568ECF8}" type="datetimeFigureOut">
              <a:rPr lang="en-IN" smtClean="0"/>
              <a:t>03-09-2026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377EDC-6971-4DE6-8DAE-BCE0DBB2B0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502462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A0FAEC-6268-4929-8338-56024568ECF8}" type="datetimeFigureOut">
              <a:rPr lang="en-IN" smtClean="0"/>
              <a:t>03-09-2026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377EDC-6971-4DE6-8DAE-BCE0DBB2B0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252802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A0FAEC-6268-4929-8338-56024568ECF8}" type="datetimeFigureOut">
              <a:rPr lang="en-IN" smtClean="0"/>
              <a:t>03-09-2026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377EDC-6971-4DE6-8DAE-BCE0DBB2B0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921499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A0FAEC-6268-4929-8338-56024568ECF8}" type="datetimeFigureOut">
              <a:rPr lang="en-IN" smtClean="0"/>
              <a:t>03-09-2026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377EDC-6971-4DE6-8DAE-BCE0DBB2B0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126692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A0FAEC-6268-4929-8338-56024568ECF8}" type="datetimeFigureOut">
              <a:rPr lang="en-IN" smtClean="0"/>
              <a:t>03-09-2026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377EDC-6971-4DE6-8DAE-BCE0DBB2B0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49344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A0FAEC-6268-4929-8338-56024568ECF8}" type="datetimeFigureOut">
              <a:rPr lang="en-IN" smtClean="0"/>
              <a:t>03-09-2026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377EDC-6971-4DE6-8DAE-BCE0DBB2B0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345836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A0FAEC-6268-4929-8338-56024568ECF8}" type="datetimeFigureOut">
              <a:rPr lang="en-IN" smtClean="0"/>
              <a:t>03-09-2026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377EDC-6971-4DE6-8DAE-BCE0DBB2B0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498271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A0FAEC-6268-4929-8338-56024568ECF8}" type="datetimeFigureOut">
              <a:rPr lang="en-IN" smtClean="0"/>
              <a:t>03-09-2026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377EDC-6971-4DE6-8DAE-BCE0DBB2B0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632454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A0FAEC-6268-4929-8338-56024568ECF8}" type="datetimeFigureOut">
              <a:rPr lang="en-IN" smtClean="0"/>
              <a:t>03-09-2026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377EDC-6971-4DE6-8DAE-BCE0DBB2B0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721918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A0FAEC-6268-4929-8338-56024568ECF8}" type="datetimeFigureOut">
              <a:rPr lang="en-IN" smtClean="0"/>
              <a:t>03-09-2026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377EDC-6971-4DE6-8DAE-BCE0DBB2B0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64783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A0FAEC-6268-4929-8338-56024568ECF8}" type="datetimeFigureOut">
              <a:rPr lang="en-IN" smtClean="0"/>
              <a:t>03-09-2026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377EDC-6971-4DE6-8DAE-BCE0DBB2B0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482511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A0FAEC-6268-4929-8338-56024568ECF8}" type="datetimeFigureOut">
              <a:rPr lang="en-IN" smtClean="0"/>
              <a:t>03-09-2026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377EDC-6971-4DE6-8DAE-BCE0DBB2B0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096777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pPr algn="ctr"/>
            <a:r>
              <a:rPr lang="en-IN" b="1" dirty="0">
                <a:solidFill>
                  <a:srgbClr val="7030A0"/>
                </a:solidFill>
              </a:rPr>
              <a:t>K-Nearest </a:t>
            </a:r>
            <a:r>
              <a:rPr lang="en-IN" b="1" dirty="0" smtClean="0">
                <a:solidFill>
                  <a:srgbClr val="7030A0"/>
                </a:solidFill>
              </a:rPr>
              <a:t>Neighbour(KNN</a:t>
            </a:r>
            <a:r>
              <a:rPr lang="en-IN" b="1" dirty="0">
                <a:solidFill>
                  <a:srgbClr val="7030A0"/>
                </a:solidFill>
              </a:rPr>
              <a:t>) </a:t>
            </a:r>
            <a:r>
              <a:rPr lang="en-IN" b="1" dirty="0" smtClean="0">
                <a:solidFill>
                  <a:srgbClr val="7030A0"/>
                </a:solidFill>
              </a:rPr>
              <a:t>Algorithm</a:t>
            </a:r>
            <a:endParaRPr lang="en-IN" dirty="0">
              <a:solidFill>
                <a:srgbClr val="7030A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25563"/>
            <a:ext cx="10515600" cy="4839263"/>
          </a:xfrm>
        </p:spPr>
        <p:txBody>
          <a:bodyPr>
            <a:normAutofit lnSpcReduction="10000"/>
          </a:bodyPr>
          <a:lstStyle/>
          <a:p>
            <a:pPr algn="just"/>
            <a:r>
              <a:rPr lang="en-US" dirty="0" smtClean="0"/>
              <a:t>K‑Nearest Neighbor (KNN) is a simple and widely used machine learning technique for classification and regression tasks.</a:t>
            </a:r>
          </a:p>
          <a:p>
            <a:pPr algn="just"/>
            <a:r>
              <a:rPr lang="en-US" dirty="0" smtClean="0"/>
              <a:t>It is one of the popular and simplest classification and regression classifiers used in machine learning today.</a:t>
            </a:r>
          </a:p>
          <a:p>
            <a:pPr algn="just"/>
            <a:r>
              <a:rPr lang="en-US" dirty="0" smtClean="0"/>
              <a:t>KNN works on a simple principle </a:t>
            </a:r>
            <a:r>
              <a:rPr lang="en-US" dirty="0" err="1" smtClean="0"/>
              <a:t>i.e</a:t>
            </a:r>
            <a:r>
              <a:rPr lang="en-US" dirty="0" smtClean="0"/>
              <a:t> Objects that are similar to each other are likely to belong to the same group.</a:t>
            </a:r>
          </a:p>
          <a:p>
            <a:pPr algn="just"/>
            <a:r>
              <a:rPr lang="en-US" dirty="0" smtClean="0"/>
              <a:t>For classification problems, a class label is assigned on the basis of a majority vote i.e. the label that is most frequently represented around a given data point</a:t>
            </a:r>
          </a:p>
          <a:p>
            <a:pPr algn="just"/>
            <a:r>
              <a:rPr lang="en-US" dirty="0" smtClean="0"/>
              <a:t>Regression problems use a similar concept as classification problem, but in this case, the average the k nearest neighbors is taken to make a prediction about a classification.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855902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pPr algn="ctr"/>
            <a:r>
              <a:rPr lang="en-IN" b="1" dirty="0" smtClean="0">
                <a:solidFill>
                  <a:srgbClr val="00B050"/>
                </a:solidFill>
              </a:rPr>
              <a:t>Basic Idea of KNN</a:t>
            </a:r>
            <a:endParaRPr lang="en-IN" b="1" dirty="0">
              <a:solidFill>
                <a:srgbClr val="00B05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25562"/>
            <a:ext cx="10515600" cy="5148979"/>
          </a:xfrm>
        </p:spPr>
        <p:txBody>
          <a:bodyPr/>
          <a:lstStyle/>
          <a:p>
            <a:pPr algn="just">
              <a:buFont typeface="Wingdings" panose="05000000000000000000" pitchFamily="2" charset="2"/>
              <a:buChar char="q"/>
            </a:pPr>
            <a:r>
              <a:rPr lang="en-US" dirty="0"/>
              <a:t>W</a:t>
            </a:r>
            <a:r>
              <a:rPr lang="en-US" dirty="0" smtClean="0"/>
              <a:t>e have students classified based on their:</a:t>
            </a:r>
          </a:p>
          <a:p>
            <a:pPr algn="just"/>
            <a:r>
              <a:rPr lang="en-US" dirty="0" smtClean="0"/>
              <a:t>Hours studied</a:t>
            </a:r>
          </a:p>
          <a:p>
            <a:pPr algn="just"/>
            <a:r>
              <a:rPr lang="en-US" dirty="0" smtClean="0"/>
              <a:t>Attendance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dirty="0"/>
              <a:t>W</a:t>
            </a:r>
            <a:r>
              <a:rPr lang="en-US" dirty="0" smtClean="0"/>
              <a:t>e want to predict whether a new student will Pass or Fail using KNN</a:t>
            </a:r>
          </a:p>
          <a:p>
            <a:pPr algn="just">
              <a:buFont typeface="Wingdings" panose="05000000000000000000" pitchFamily="2" charset="2"/>
              <a:buChar char="v"/>
            </a:pPr>
            <a:r>
              <a:rPr lang="en-US" dirty="0" smtClean="0"/>
              <a:t>How KNN algorithm do this task?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US" dirty="0" smtClean="0"/>
              <a:t>It calculates the distance between the new student and all existing students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US" dirty="0" smtClean="0"/>
              <a:t>Finds the </a:t>
            </a:r>
            <a:r>
              <a:rPr lang="en-US" b="1" dirty="0" smtClean="0"/>
              <a:t>K nearest students</a:t>
            </a:r>
            <a:r>
              <a:rPr lang="en-US" dirty="0" smtClean="0"/>
              <a:t>.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IN" dirty="0" smtClean="0"/>
              <a:t>Check their classes</a:t>
            </a:r>
            <a:endParaRPr lang="en-US" dirty="0" smtClean="0"/>
          </a:p>
          <a:p>
            <a:pPr marL="514350" indent="-514350" algn="just">
              <a:buFont typeface="+mj-lt"/>
              <a:buAutoNum type="arabicPeriod"/>
            </a:pPr>
            <a:r>
              <a:rPr lang="en-US" dirty="0" smtClean="0"/>
              <a:t>Assign the class that occurs most frequently</a:t>
            </a:r>
          </a:p>
          <a:p>
            <a:pPr algn="just">
              <a:buFont typeface="Wingdings" panose="05000000000000000000" pitchFamily="2" charset="2"/>
              <a:buChar char="Ø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804068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pPr algn="ctr"/>
            <a:r>
              <a:rPr lang="en-US" b="1" dirty="0" smtClean="0"/>
              <a:t>Continued</a:t>
            </a:r>
            <a:endParaRPr lang="en-IN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25563"/>
            <a:ext cx="10515600" cy="5104734"/>
          </a:xfrm>
        </p:spPr>
        <p:txBody>
          <a:bodyPr>
            <a:normAutofit/>
          </a:bodyPr>
          <a:lstStyle/>
          <a:p>
            <a:r>
              <a:rPr lang="en-US" b="1" dirty="0" smtClean="0"/>
              <a:t>Example</a:t>
            </a:r>
          </a:p>
          <a:p>
            <a:r>
              <a:rPr lang="en-US" dirty="0" smtClean="0"/>
              <a:t>Suppose </a:t>
            </a:r>
            <a:r>
              <a:rPr lang="en-US" b="1" dirty="0" smtClean="0"/>
              <a:t>K = 5</a:t>
            </a:r>
            <a:r>
              <a:rPr lang="en-US" dirty="0" smtClean="0"/>
              <a:t> and the nearest neighbors are</a:t>
            </a:r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r>
              <a:rPr lang="en-US" dirty="0" smtClean="0"/>
              <a:t>There are: Pass = </a:t>
            </a:r>
            <a:r>
              <a:rPr lang="en-US" b="1" dirty="0" smtClean="0"/>
              <a:t>4</a:t>
            </a:r>
            <a:r>
              <a:rPr lang="en-US" dirty="0" smtClean="0"/>
              <a:t> , Fail = </a:t>
            </a:r>
            <a:r>
              <a:rPr lang="en-US" b="1" dirty="0" smtClean="0"/>
              <a:t>1</a:t>
            </a:r>
            <a:r>
              <a:rPr lang="en-US" dirty="0" smtClean="0"/>
              <a:t> </a:t>
            </a:r>
          </a:p>
          <a:p>
            <a:r>
              <a:rPr lang="en-US" dirty="0" smtClean="0"/>
              <a:t>Therefore:</a:t>
            </a:r>
            <a:r>
              <a:rPr lang="en-US" b="1" dirty="0" smtClean="0"/>
              <a:t>✅ Prediction = PASS</a:t>
            </a:r>
          </a:p>
          <a:p>
            <a:r>
              <a:rPr lang="en-US" dirty="0" smtClean="0"/>
              <a:t>This is called </a:t>
            </a:r>
            <a:r>
              <a:rPr lang="en-US" b="1" dirty="0" smtClean="0"/>
              <a:t>majority voting</a:t>
            </a:r>
            <a:r>
              <a:rPr lang="en-US" dirty="0" smtClean="0"/>
              <a:t>.</a:t>
            </a:r>
          </a:p>
          <a:p>
            <a:endParaRPr lang="en-US" dirty="0" smtClean="0"/>
          </a:p>
          <a:p>
            <a:pPr marL="0" indent="0">
              <a:buNone/>
            </a:pPr>
            <a:endParaRPr lang="en-IN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55252502"/>
              </p:ext>
            </p:extLst>
          </p:nvPr>
        </p:nvGraphicFramePr>
        <p:xfrm>
          <a:off x="2032000" y="2430479"/>
          <a:ext cx="8128000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4128927127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379253942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Student</a:t>
                      </a:r>
                      <a:r>
                        <a:rPr lang="en-US" baseline="0" dirty="0" smtClean="0"/>
                        <a:t> Name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Result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641567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Student 1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Pass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566061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Student 2</a:t>
                      </a:r>
                      <a:endParaRPr kumimoji="0" lang="en-IN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Pass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40048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Student 3</a:t>
                      </a:r>
                      <a:endParaRPr kumimoji="0" lang="en-IN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Fail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530472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Student 4</a:t>
                      </a:r>
                      <a:endParaRPr kumimoji="0" lang="en-IN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Pass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38178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Student 5</a:t>
                      </a:r>
                      <a:endParaRPr kumimoji="0" lang="en-IN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Pass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30768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919816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704338"/>
            <a:ext cx="10515600" cy="1325563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0070C0"/>
                </a:solidFill>
              </a:rPr>
              <a:t>'K' in K Nearest </a:t>
            </a:r>
            <a:r>
              <a:rPr lang="en-US" b="1" dirty="0" err="1" smtClean="0">
                <a:solidFill>
                  <a:srgbClr val="0070C0"/>
                </a:solidFill>
              </a:rPr>
              <a:t>Neighbour</a:t>
            </a:r>
            <a:endParaRPr lang="en-IN" dirty="0">
              <a:solidFill>
                <a:srgbClr val="0070C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223831"/>
            <a:ext cx="10515600" cy="3808259"/>
          </a:xfrm>
        </p:spPr>
        <p:txBody>
          <a:bodyPr/>
          <a:lstStyle/>
          <a:p>
            <a:pPr algn="just"/>
            <a:r>
              <a:rPr lang="en-US" dirty="0" smtClean="0"/>
              <a:t>In the KNN algorithm “</a:t>
            </a:r>
            <a:r>
              <a:rPr lang="en-US" b="1" dirty="0" smtClean="0"/>
              <a:t>K”</a:t>
            </a:r>
            <a:r>
              <a:rPr lang="en-US" dirty="0" smtClean="0"/>
              <a:t> is just a number that tells the algorithm how many nearby points or neighbors to look at when it makes a decision.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b="1" dirty="0" smtClean="0"/>
              <a:t>Example: </a:t>
            </a:r>
            <a:r>
              <a:rPr lang="en-US" dirty="0" smtClean="0"/>
              <a:t>Imagine you're deciding which fruit it is based on its shape and size. You compare it to fruits you already know.</a:t>
            </a:r>
          </a:p>
          <a:p>
            <a:pPr algn="just"/>
            <a:r>
              <a:rPr lang="en-US" dirty="0" smtClean="0"/>
              <a:t>If K = 3, the algorithm looks at the 3 closest fruits to the new one.</a:t>
            </a:r>
          </a:p>
          <a:p>
            <a:pPr algn="just"/>
            <a:r>
              <a:rPr lang="en-US" dirty="0" smtClean="0"/>
              <a:t>If 2 of those 3 fruits are apples and 1 is a banana, the algorithm says the new fruit is an apple because most of its neighbors are apples.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332055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smtClean="0">
                <a:solidFill>
                  <a:srgbClr val="0070C0"/>
                </a:solidFill>
              </a:rPr>
              <a:t>Continued</a:t>
            </a:r>
            <a:endParaRPr lang="en-IN" b="1" dirty="0">
              <a:solidFill>
                <a:srgbClr val="0070C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Statistical Methods for Selecting K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 smtClean="0"/>
              <a:t>Cross-Validation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 smtClean="0"/>
              <a:t>Elbow Method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 smtClean="0"/>
              <a:t>Odd Values of K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212507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29151"/>
            <a:ext cx="10515600" cy="1325563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002060"/>
                </a:solidFill>
              </a:rPr>
              <a:t>Distance Metrics Used in KNN </a:t>
            </a:r>
            <a:r>
              <a:rPr lang="en-US" b="1" dirty="0" smtClean="0">
                <a:solidFill>
                  <a:srgbClr val="002060"/>
                </a:solidFill>
              </a:rPr>
              <a:t>Algorithm</a:t>
            </a:r>
            <a:endParaRPr lang="en-IN" dirty="0">
              <a:solidFill>
                <a:srgbClr val="00206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33896"/>
            <a:ext cx="10515600" cy="4351338"/>
          </a:xfrm>
        </p:spPr>
        <p:txBody>
          <a:bodyPr/>
          <a:lstStyle/>
          <a:p>
            <a:pPr algn="just"/>
            <a:r>
              <a:rPr lang="en-US" dirty="0" smtClean="0"/>
              <a:t>KNN uses distance metrics to identify nearest neighbor, these neighbors are used for classification and regression task. To identify nearest neighbor we use below distance metrics:</a:t>
            </a:r>
          </a:p>
          <a:p>
            <a:pPr marL="514350" indent="-514350" algn="just">
              <a:buAutoNum type="arabicPeriod"/>
            </a:pPr>
            <a:r>
              <a:rPr lang="en-US" b="1" dirty="0" smtClean="0"/>
              <a:t>Euclidean Distance</a:t>
            </a:r>
          </a:p>
          <a:p>
            <a:pPr algn="just"/>
            <a:r>
              <a:rPr lang="en-US" dirty="0" smtClean="0"/>
              <a:t>Euclidean distance is defined as the straight-line distance between two points in a plane or space</a:t>
            </a:r>
          </a:p>
          <a:p>
            <a:pPr algn="just"/>
            <a:r>
              <a:rPr lang="en-US" dirty="0" smtClean="0"/>
              <a:t>It is </a:t>
            </a:r>
            <a:r>
              <a:rPr lang="en-US" dirty="0"/>
              <a:t>like the shortest path you would walk if you were to go directly from one point to another</a:t>
            </a:r>
            <a:endParaRPr lang="en-IN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59016" y="5184825"/>
            <a:ext cx="3171825" cy="1266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91748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smtClean="0"/>
              <a:t>Continued</a:t>
            </a:r>
            <a:endParaRPr lang="en-IN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 smtClean="0"/>
              <a:t>2. Manhattan Distance</a:t>
            </a:r>
          </a:p>
          <a:p>
            <a:pPr algn="just"/>
            <a:r>
              <a:rPr lang="en-US" dirty="0"/>
              <a:t>This is the total distance you would travel if you could only move along horizontal and vertical lines like a grid or city streets. </a:t>
            </a:r>
            <a:endParaRPr lang="en-US" dirty="0" smtClean="0"/>
          </a:p>
          <a:p>
            <a:pPr algn="just"/>
            <a:r>
              <a:rPr lang="en-US" dirty="0" smtClean="0"/>
              <a:t>It’s </a:t>
            </a:r>
            <a:r>
              <a:rPr lang="en-US" dirty="0"/>
              <a:t>also called "taxicab distance" because a taxi can only drive along the grid-like streets of a city.</a:t>
            </a:r>
            <a:endParaRPr lang="en-IN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88542" y="4425438"/>
            <a:ext cx="3642852" cy="11494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60749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smtClean="0"/>
              <a:t>Continued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 smtClean="0"/>
              <a:t>3. </a:t>
            </a:r>
            <a:r>
              <a:rPr lang="en-IN" b="1" dirty="0" err="1"/>
              <a:t>Minkowski</a:t>
            </a:r>
            <a:r>
              <a:rPr lang="en-IN" b="1" dirty="0"/>
              <a:t> Distance</a:t>
            </a:r>
          </a:p>
          <a:p>
            <a:pPr algn="just"/>
            <a:r>
              <a:rPr lang="en-US" dirty="0" err="1" smtClean="0"/>
              <a:t>Minkowski</a:t>
            </a:r>
            <a:r>
              <a:rPr lang="en-US" dirty="0" smtClean="0"/>
              <a:t> distance is essentially a flexible formula that can represent either Euclidean or Manhattan distance depending on the value of p.</a:t>
            </a:r>
          </a:p>
          <a:p>
            <a:pPr algn="just"/>
            <a:endParaRPr lang="en-US" dirty="0"/>
          </a:p>
          <a:p>
            <a:pPr algn="just"/>
            <a:endParaRPr lang="en-US" dirty="0" smtClean="0"/>
          </a:p>
          <a:p>
            <a:pPr algn="just"/>
            <a:endParaRPr lang="en-US" dirty="0" smtClean="0"/>
          </a:p>
          <a:p>
            <a:pPr algn="just"/>
            <a:r>
              <a:rPr lang="en-US" dirty="0" smtClean="0"/>
              <a:t>when p=2, it becomes the same as the Euclidean distance formula and when p=1, it turns into the Manhattan distance</a:t>
            </a:r>
          </a:p>
          <a:p>
            <a:pPr marL="0" indent="0" algn="ctr">
              <a:buNone/>
            </a:pPr>
            <a:endParaRPr lang="en-IN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8512" y="3359521"/>
            <a:ext cx="3554976" cy="12835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42226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1002890"/>
          </a:xfrm>
        </p:spPr>
        <p:txBody>
          <a:bodyPr/>
          <a:lstStyle/>
          <a:p>
            <a:pPr algn="ctr"/>
            <a:r>
              <a:rPr lang="en-IN" b="1" dirty="0"/>
              <a:t>Working of KNN </a:t>
            </a:r>
            <a:r>
              <a:rPr lang="en-IN" b="1" dirty="0" smtClean="0"/>
              <a:t>algorithm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19085"/>
            <a:ext cx="10515600" cy="5532437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b="1" dirty="0" smtClean="0"/>
              <a:t>Step 1: Selecting the optimal value of K</a:t>
            </a:r>
          </a:p>
          <a:p>
            <a:r>
              <a:rPr lang="en-US" dirty="0" smtClean="0"/>
              <a:t>K is the number of nearest neighbors considered for prediction.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IN" b="1" dirty="0" smtClean="0"/>
              <a:t>Step 2: Calculating distance</a:t>
            </a:r>
          </a:p>
          <a:p>
            <a:pPr algn="just"/>
            <a:r>
              <a:rPr lang="en-US" dirty="0" smtClean="0"/>
              <a:t>Distance is calculated between data points in the dataset and target point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b="1" dirty="0" smtClean="0"/>
              <a:t>Step 3: Finding Nearest Neighbors</a:t>
            </a:r>
          </a:p>
          <a:p>
            <a:pPr algn="just"/>
            <a:r>
              <a:rPr lang="en-US" dirty="0" smtClean="0"/>
              <a:t>The k data points with the smallest distances to the target point are nearest neighbors.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b="1" dirty="0" smtClean="0"/>
              <a:t>Step 4: Make the prediction</a:t>
            </a:r>
          </a:p>
          <a:p>
            <a:pPr algn="just"/>
            <a:r>
              <a:rPr lang="en-US" dirty="0" smtClean="0"/>
              <a:t>For classification: Select the class with the majority vote</a:t>
            </a:r>
          </a:p>
          <a:p>
            <a:pPr algn="just"/>
            <a:r>
              <a:rPr lang="en-US" dirty="0" smtClean="0"/>
              <a:t>For regression: Calculate the average value of the nearest neighbors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163520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smtClean="0"/>
              <a:t>Continued</a:t>
            </a:r>
            <a:endParaRPr lang="en-IN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63678" y="1454714"/>
            <a:ext cx="11149780" cy="50640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1908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smtClean="0"/>
              <a:t>Applications, Advantage and Dis-advantage</a:t>
            </a:r>
            <a:endParaRPr lang="en-IN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25625"/>
            <a:ext cx="3630561" cy="4147472"/>
          </a:xfrm>
        </p:spPr>
        <p:txBody>
          <a:bodyPr/>
          <a:lstStyle/>
          <a:p>
            <a:pPr>
              <a:buFont typeface="Wingdings" panose="05000000000000000000" pitchFamily="2" charset="2"/>
              <a:buChar char="q"/>
            </a:pPr>
            <a:r>
              <a:rPr lang="en-US" dirty="0" smtClean="0"/>
              <a:t>Applications</a:t>
            </a:r>
          </a:p>
          <a:p>
            <a:pPr marL="514350" indent="-514350">
              <a:buAutoNum type="arabicPeriod"/>
            </a:pPr>
            <a:r>
              <a:rPr lang="en-US" dirty="0" smtClean="0"/>
              <a:t>Spam Detection</a:t>
            </a:r>
          </a:p>
          <a:p>
            <a:pPr marL="514350" indent="-514350">
              <a:buAutoNum type="arabicPeriod"/>
            </a:pPr>
            <a:r>
              <a:rPr lang="en-US" dirty="0" smtClean="0"/>
              <a:t>Speech Recognition</a:t>
            </a:r>
          </a:p>
          <a:p>
            <a:pPr marL="514350" indent="-514350">
              <a:buAutoNum type="arabicPeriod"/>
            </a:pPr>
            <a:r>
              <a:rPr lang="en-IN" dirty="0" smtClean="0"/>
              <a:t>Data </a:t>
            </a:r>
            <a:r>
              <a:rPr lang="en-IN" dirty="0" err="1" smtClean="0"/>
              <a:t>preprocessing</a:t>
            </a:r>
            <a:endParaRPr lang="en-IN" dirty="0" smtClean="0"/>
          </a:p>
          <a:p>
            <a:pPr marL="514350" indent="-514350">
              <a:buAutoNum type="arabicPeriod"/>
            </a:pPr>
            <a:r>
              <a:rPr lang="en-IN" dirty="0" smtClean="0"/>
              <a:t>Recommendation Engines</a:t>
            </a:r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4468760" y="1825625"/>
            <a:ext cx="3630561" cy="4147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q"/>
            </a:pPr>
            <a:r>
              <a:rPr lang="en-US" dirty="0" smtClean="0"/>
              <a:t>Advantages</a:t>
            </a:r>
          </a:p>
          <a:p>
            <a:pPr marL="514350" indent="-514350">
              <a:buFont typeface="Arial" panose="020B0604020202020204" pitchFamily="34" charset="0"/>
              <a:buAutoNum type="arabicPeriod"/>
            </a:pPr>
            <a:r>
              <a:rPr lang="en-US" dirty="0" smtClean="0"/>
              <a:t>Easy to implement</a:t>
            </a:r>
          </a:p>
          <a:p>
            <a:pPr marL="514350" indent="-514350">
              <a:buFont typeface="Arial" panose="020B0604020202020204" pitchFamily="34" charset="0"/>
              <a:buAutoNum type="arabicPeriod"/>
            </a:pPr>
            <a:r>
              <a:rPr lang="en-US" dirty="0" smtClean="0"/>
              <a:t>Adapts easily</a:t>
            </a:r>
          </a:p>
          <a:p>
            <a:pPr marL="514350" indent="-514350">
              <a:buFont typeface="Arial" panose="020B0604020202020204" pitchFamily="34" charset="0"/>
              <a:buAutoNum type="arabicPeriod"/>
            </a:pPr>
            <a:r>
              <a:rPr lang="en-US" dirty="0" smtClean="0"/>
              <a:t>Few parameters</a:t>
            </a:r>
          </a:p>
          <a:p>
            <a:pPr marL="514350" indent="-514350">
              <a:buFont typeface="Arial" panose="020B0604020202020204" pitchFamily="34" charset="0"/>
              <a:buAutoNum type="arabicPeriod"/>
            </a:pPr>
            <a:r>
              <a:rPr lang="en-US" dirty="0" smtClean="0"/>
              <a:t>No training step</a:t>
            </a: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8099321" y="1825625"/>
            <a:ext cx="3630561" cy="4147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q"/>
            </a:pPr>
            <a:r>
              <a:rPr lang="en-US" dirty="0" smtClean="0"/>
              <a:t>Dis-advantages</a:t>
            </a:r>
          </a:p>
          <a:p>
            <a:pPr marL="514350" indent="-514350">
              <a:buFont typeface="Arial" panose="020B0604020202020204" pitchFamily="34" charset="0"/>
              <a:buAutoNum type="arabicPeriod"/>
            </a:pPr>
            <a:r>
              <a:rPr lang="en-US" dirty="0" smtClean="0"/>
              <a:t>Slow with large data</a:t>
            </a:r>
          </a:p>
          <a:p>
            <a:pPr marL="514350" indent="-514350">
              <a:buFont typeface="Arial" panose="020B0604020202020204" pitchFamily="34" charset="0"/>
              <a:buAutoNum type="arabicPeriod"/>
            </a:pPr>
            <a:r>
              <a:rPr lang="en-US" dirty="0" smtClean="0"/>
              <a:t>Can </a:t>
            </a:r>
            <a:r>
              <a:rPr lang="en-US" dirty="0" err="1" smtClean="0"/>
              <a:t>Overfit</a:t>
            </a:r>
            <a:endParaRPr lang="en-US" dirty="0" smtClean="0"/>
          </a:p>
          <a:p>
            <a:pPr marL="514350" indent="-514350">
              <a:buFont typeface="Arial" panose="020B0604020202020204" pitchFamily="34" charset="0"/>
              <a:buAutoNum type="arabicPeriod"/>
            </a:pPr>
            <a:r>
              <a:rPr lang="en-US" dirty="0" smtClean="0"/>
              <a:t>Struggles with many features</a:t>
            </a:r>
          </a:p>
          <a:p>
            <a:pPr marL="514350" indent="-514350">
              <a:buFont typeface="Arial" panose="020B0604020202020204" pitchFamily="34" charset="0"/>
              <a:buAutoNum type="arabicPeriod"/>
            </a:pPr>
            <a:r>
              <a:rPr lang="en-US" dirty="0" smtClean="0"/>
              <a:t>Curse of Dimensionality</a:t>
            </a:r>
          </a:p>
        </p:txBody>
      </p:sp>
    </p:spTree>
    <p:extLst>
      <p:ext uri="{BB962C8B-B14F-4D97-AF65-F5344CB8AC3E}">
        <p14:creationId xmlns:p14="http://schemas.microsoft.com/office/powerpoint/2010/main" val="18907716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147</TotalTime>
  <Words>667</Words>
  <Application>Microsoft Office PowerPoint</Application>
  <PresentationFormat>Widescreen</PresentationFormat>
  <Paragraphs>92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Calibri Light</vt:lpstr>
      <vt:lpstr>Wingdings</vt:lpstr>
      <vt:lpstr>Office Theme</vt:lpstr>
      <vt:lpstr>K-Nearest Neighbour(KNN) Algorithm</vt:lpstr>
      <vt:lpstr>Basic Idea of KNN</vt:lpstr>
      <vt:lpstr>Continued</vt:lpstr>
      <vt:lpstr>'K' in K Nearest Neighbour</vt:lpstr>
      <vt:lpstr>Continued</vt:lpstr>
      <vt:lpstr>Distance Metrics Used in KNN Algorithm</vt:lpstr>
      <vt:lpstr>Continued</vt:lpstr>
      <vt:lpstr>Continued</vt:lpstr>
      <vt:lpstr>Working of KNN algorithm</vt:lpstr>
      <vt:lpstr>Continued</vt:lpstr>
      <vt:lpstr>Applications, Advantage and Dis-advantage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K-Nearest Neighbor(KNN) Algorithm</dc:title>
  <dc:creator>Dr Sameera P</dc:creator>
  <cp:lastModifiedBy>Dr Sameera P</cp:lastModifiedBy>
  <cp:revision>15</cp:revision>
  <dcterms:created xsi:type="dcterms:W3CDTF">2026-09-03T05:29:05Z</dcterms:created>
  <dcterms:modified xsi:type="dcterms:W3CDTF">2026-09-03T09:02:50Z</dcterms:modified>
</cp:coreProperties>
</file>