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6" r:id="rId2"/>
    <p:sldId id="473" r:id="rId3"/>
    <p:sldId id="646" r:id="rId4"/>
    <p:sldId id="647" r:id="rId5"/>
    <p:sldId id="483" r:id="rId6"/>
    <p:sldId id="484" r:id="rId7"/>
    <p:sldId id="651" r:id="rId8"/>
    <p:sldId id="652" r:id="rId9"/>
    <p:sldId id="423" r:id="rId10"/>
    <p:sldId id="278" r:id="rId11"/>
    <p:sldId id="632" r:id="rId12"/>
    <p:sldId id="633" r:id="rId13"/>
    <p:sldId id="431" r:id="rId14"/>
    <p:sldId id="655" r:id="rId15"/>
    <p:sldId id="658" r:id="rId16"/>
    <p:sldId id="659" r:id="rId17"/>
    <p:sldId id="661" r:id="rId18"/>
    <p:sldId id="662" r:id="rId19"/>
    <p:sldId id="663" r:id="rId20"/>
    <p:sldId id="664" r:id="rId21"/>
    <p:sldId id="665" r:id="rId22"/>
    <p:sldId id="666" r:id="rId23"/>
    <p:sldId id="667" r:id="rId24"/>
    <p:sldId id="669" r:id="rId25"/>
    <p:sldId id="670" r:id="rId26"/>
    <p:sldId id="671" r:id="rId27"/>
    <p:sldId id="672" r:id="rId28"/>
    <p:sldId id="673" r:id="rId29"/>
    <p:sldId id="674" r:id="rId30"/>
    <p:sldId id="675" r:id="rId31"/>
    <p:sldId id="676" r:id="rId32"/>
    <p:sldId id="677" r:id="rId33"/>
    <p:sldId id="678" r:id="rId34"/>
    <p:sldId id="681" r:id="rId35"/>
    <p:sldId id="682" r:id="rId36"/>
    <p:sldId id="685" r:id="rId37"/>
    <p:sldId id="684" r:id="rId38"/>
    <p:sldId id="399" r:id="rId39"/>
    <p:sldId id="440" r:id="rId40"/>
    <p:sldId id="523" r:id="rId41"/>
    <p:sldId id="515" r:id="rId42"/>
    <p:sldId id="516" r:id="rId43"/>
    <p:sldId id="518" r:id="rId44"/>
    <p:sldId id="428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BD0372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0-21T13:08:29.013"/>
    </inkml:context>
    <inkml:brush xml:id="br0">
      <inkml:brushProperty name="width" value="0.05292" units="cm"/>
      <inkml:brushProperty name="height" value="0.05292" units="cm"/>
      <inkml:brushProperty name="color" value="#FFFFFF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16505 11517 176 0,'0'0'87'0,"0"0"12"0,0 0-28 15,0 0-34 1,0 0 0-16,0 0 1 0,0 0-14 16,0 0 4-16,0 0 4 15,0 0 2-15,0 0 12 16,0 0 24-16,0 0-12 15,-1 0-14-15,1 0 0 16,0 0 1-16,-2 0-26 16,2 0-3-16,0 0-1 15,0 0-7-15,0 0 6 16,-1 0 2-16,-1 0 0 16,-2 0 1-16,0 0-8 15,1 0 2-15,-2 0-3 16,2 0 1-16,0 0 2 15,0 0-1-15,3 0 2 16,-2 0 3-16,2 0 0 16,0-3-15-16,0 3 14 0,0 0 0 15,0 0 3-15,0 0-14 16,0 0 8-16,0 0 1 16,0 0-6-16,0 0-6 15,0-3 0-15,0 3 0 16,0 0-4-16,0 0-1 15,0 0-4-15,0 0-3 16,3 0 4-16,2 0 6 16,1 0 2-16,3 0-6 15,1 0 3-15,-1 0-7 0,2 0-1 16,-1 0 5-16,1 0-1 16,-4 0-2-16,2 0-4 15,-2 0 2-15,0 0 6 16,2 0-5-16,-1 0 8 15,-2 0-3-15,2 0 0 16,-4 0-3-16,2 0 2 16,0 0-5-16,-4 0 8 15,-1 0-1-15,1 0 1 16,-1 0 3-16,1 0 0 16,1 0-3-16,1 3 3 15,1-3 2-15,1 0-2 16,-1 0-1-16,0 0 0 0,1 3-1 15,-3-3 0-15,0 0-5 16,0 0-5-16,-1 0-1 16,1 0 4-16,2 2-1 15,-2-2 4-15,3 1 4 16,-1 0-1-16,1-1 3 16,-2 2 0-16,4-2-1 15,-5 0 1-15,0 0-1 16,0 0 1-16,-2 0-2 15,2 0 2-15,-1 0-7 16,-1 0 7-16,1 3-2 16,1-3 2-16,2 3 0 0,0-2 0 15,-1-1 0-15,-1 0 0 16,-3 0 0-16,0 0 0 16,0 0 0-16,0 0 1 15,0 0 0-15,0 0 2 16,0 0 1-16,0 1 0 15,0-1 0-15,0 0 5 16,0 0-5-16,0 0 0 16,0 0 0-16,0 0 1 15,0 0 4-15,0 0-3 16,0 0 4-16,0 0-3 16,0 0-7-16,0 0 6 15,0 0-4-15,0 2-2 0,0-1 0 16,0-1-4-1,0 0-8-15,0 0-2 0,0 0-22 16,0 2-78-16,0-1-87 16,0-1-213-16</inkml:trace>
  <inkml:trace contextRef="#ctx0" brushRef="#br0" timeOffset="9535.6">4585 17522 1021 0,'0'0'69'15,"0"0"-64"-15,0 0 11 16,0 0-16-16,0 0 29 15,0 0-29-15,0 0 0 16,-8-3-25-16,8 3-48 16,0 0 6-16,0 3-100 15,0 4-61-15,0 4-63 16</inkml:trace>
  <inkml:trace contextRef="#ctx0" brushRef="#br0" timeOffset="10640.14">2097 17607 718 0,'0'0'170'15,"0"0"-91"-15,0 0-71 16,0 0-1-16,0 0 17 16,0 0 35-16,3-13-23 15,-3 13-36-15,0 0-8 16,0 0-7-1,0 0 13-15,0 0 1 16,0 0-44-16,0 0-42 16,0 0-9-16,0 0-67 0,0 7-149 15</inkml:trace>
  <inkml:trace contextRef="#ctx0" brushRef="#br0" timeOffset="11389.03">6861 14645 855 0,'0'0'57'0,"0"0"-56"16,0 0-1-16,0 0 73 15,0 0-2-15,0 0-42 16,0 0 7-16,0 0-36 15,0 0-10-15,0 0-19 16,0 0-14-16,-2 6-111 16,-4 8-11-16,-4 3 48 15,1-3-151-15</inkml:trace>
  <inkml:trace contextRef="#ctx0" brushRef="#br0" timeOffset="12015.12">4889 15969 576 0,'0'0'73'0,"0"0"-62"15,0 0 10-15,0 0 45 0,0 0 1 16,0 0-41-16,0 0-26 15,6-17-1-15,-4 15-11 16,1-1 3-16,4-2-52 16,0 1-102-16,1-1-138 15</inkml:trace>
  <inkml:trace contextRef="#ctx0" brushRef="#br0" timeOffset="13984.73">5148 17232 657 0,'0'0'177'15,"0"0"-76"-15,0 0-28 16,0 0-46-16,0 0-27 16,0 0-31-16,0 0-11 15,11 0 25-15,4 0 15 0,3 2-26 16,1-1-23-16,-2 3 26 15,-1 1-43-15,-4 5-45 16,-9 4-98-16,-3-4-152 16</inkml:trace>
  <inkml:trace contextRef="#ctx0" brushRef="#br1" timeOffset="28157.91">13140 12657 194 0,'0'0'110'0,"0"0"-93"16,0 0 53-16,0 0 11 0,0 0-40 15,0 0 23 1,0 0-5-16,-3 0-31 0,3 0 23 16,0 0 7-16,0 0-18 15,0 0-1-15,0 0 17 16,0 0-7-16,0 0 3 16,0 0-13-16,0 0-6 15,0 0-14-15,0 0-6 16,0 0-7-16,0 0-4 15,0 0 2-15,0 0-2 16,0 0 2 0,0 0-2-16,0-1-2 15,0 1 0-15,0 0 3 16,0-2-3-16,0 2 3 16,0 0 1-16,0 0 3 0,0 0-1 15,0 0 0-15,0 0-2 16,0 0-2-16,0 0-1 15,0 0 0-15,0 0 2 16,0 0 1-16,0 0 0 16,0 0-1-16,0 0 3 15,0 0-2-15,0 0 5 0,0 0 1 16,0 0 6-16,0 0-6 16,0 0-1-16,0 0-6 15,0 0 1-15,0 0-4 16,0 0-1-16,0 0 0 15,0 0-4-15,0 6-1 16,0 8 6-16,2 4 0 16,2 2-7-16,1 1 2 15,-2 1-3-15,6 0-1 16,-6-3 1-16,1-2-6 16,-1-3 11-16,2 0-1 15,1-5 1-15,0-4 3 16,1-1-4-16,-4-2 4 0,0-1 4 15,-3 1-2-15,0-2 1 16,0 0-2-16,0 0 2 16,0 2-1-16,0-2-2 15,0 0 2-15,0 0 0 16,0 0 1-16,0 1 2 16,0-1-1-16,0 0-2 15,0 0 7-15,0 0 7 16,0 0 9-16,0 0 0 15,0-1 2-15,0-6-14 16,0-2-6-16,0 3 3 16,0-3-3-16,0 4-3 0,0 0-4 15,3 4 0-15,-1-1-2 16,-1-1-2-16,5 2-12 16,3-6 2-16,0 1 1 15,3 0 2-15,0-1 0 16,0 2-1-16,-3 1-3 15,1 0 1-15,-1 0 10 16,-3 1 0-16,2 3-5 16,-1-1-1-16,-1 1 9 15,3 0-8-15,-3 0-14 16,6 0-1-16,-3 0-1 16,-2 0 4-16,3 0 4 0,-2 0-2 15,0 0 10-15,-2 0 8 16,-2 0 1-16,0 0-1 15,-2 0 2-15,1 0 1 16,0 0 3-16,1 0 2 16,2 4 7-16,2 7-1 15,-1 2 4-15,-1 1-9 16,-1 1-6-16,-1-2 0 16,-1-4-2-16,0 0 0 15,-1-4 1-15,-2-2-1 16,0 1 1-16,0-3 2 15,0 1 4-15,0 0 3 16,0 3-3-16,-14 3-7 0,-5 3-7 16,-2 2-22-1,-8-1-37-15,-3 5-123 0,-7 0-101 16</inkml:trace>
  <inkml:trace contextRef="#ctx0" brushRef="#br1" timeOffset="28986.03">13257 12654 252 0,'0'0'81'16,"0"0"6"-16,0 0 17 16,0 0-28-16,0 0-14 15,0 0 37-15,-2 0-7 16,1 0 18-16,-2 0-4 16,-3 0-28-16,4-3-14 15,-2 3-12-15,-1 0-13 16,2-2-3-16,2 0-21 15,1 2-7-15,0 0-6 16,0 0 1-16,0-1-3 16,0 1-5-16,0-1-3 15,0-1 4-15,0 2-5 16,0-3 0-16,3 0-2 16,7-2 8-16,10-1 1 0,2 1-7 15,5-1-6-15,3 0-23 16,2 1-33-16,4-1-47 15,0 1-98-15,-1-2-123 16</inkml:trace>
  <inkml:trace contextRef="#ctx0" brushRef="#br1" timeOffset="35136.44">17961 8775 674 0,'0'0'88'16,"0"0"-72"-16,0 0 9 15,0 0 6-15,0 0-15 16,0 0-6-16,0 0-6 16,0 0 1-16,6-24-2 15,-6 24 21-15,0 0 33 16,0 0 3-16,0 0-9 15,0 0-1-15,0 0-2 16,0 0-12-16,0 0-6 16,0 0-16-16,0 0-8 15,0 0-4-15,0 0-1 0,0 0-1 16,0 0 2-16,0 0-1 16,0 0 0-16,0 0 1 15,0 0 1-15,0 0 2 16,0 0 5-16,0 0-3 15,0 0-5-15,0 0-2 16,0 0-1-16,0 0-3 16,0 0-2-16,0 0 0 15,-7 3-1-15,-7 4-5 16,1 3 6-16,-3 4-1 16,0 2-2-16,0 1-8 15,3 3 8-15,-2-1 0 16,4 1-10-16,2-3-6 15,1 0 14-15,3-3 0 0,1-4-5 16,2-5 8-16,0-1 7 16,2-4 0-16,0 0 1 15,0 0 4-15,0 0 21 16,0 0 13-16,0 0-10 16,0 0-10-16,0 0-2 15,0 0 0-15,0 0-3 16,0 0-5-16,0 0-1 15,0 0-1-15,0 0-4 16,0 0-1-16,0 0-1 16,0 0-1-16,0 0-2 15,10 0 0-15,6 0 3 0,3-4 0 16,5 1-1-16,2 3-3 16,0 0-6-16,0 0-22 15,0 0-5-15,0 0 4 16,1 2-3-16,1-1 19 15,1-1 0-15,0 0 2 16,0 0 11-16,-3 0-2 16,1 0-2-16,0-1 0 15,-2-3-6-15,-2 1-37 16,-2 2 5-16,-8 1-32 16,-2 0-25-16,-5 0 12 15,-2 0 38-15,-2 0-6 16,-2 0 16-16,1 0 29 0,-1 0 13 15,0 0 1-15,0 0-4 16,0 0-50-16,-7 0-227 16</inkml:trace>
  <inkml:trace contextRef="#ctx0" brushRef="#br1" timeOffset="35850.85">18110 8797 251 0,'0'0'24'0,"0"0"54"15,0 0 11-15,0 0-39 0,0 0 13 16,0 0-12-16,-7-5-33 15,7 5 2-15,0 0 7 16,0 0 9-16,0 0 6 16,0 0-6-16,0 0-10 15,0 0-7-15,0 0-2 16,0 0-4-16,0 0 0 16,0 0 0-16,0 0 6 15,0 0 5-15,0 0 0 16,0 0 5-16,0 0-2 15,0 0 5-15,0 0-11 16,0 0-1-16,0 0 0 0,0 0-3 16,0 0-8-1,0 0-3-15,0 2-4 0,0 12 6 16,0 4 3-16,0 6-2 16,0 7 0-16,0 6-9 15,-4 6 0-15,-1 0-11 16,-1 1-49-16,0-2-49 15,-3-4-120-15,0-4-375 16</inkml:trace>
  <inkml:trace contextRef="#ctx0" brushRef="#br1" timeOffset="43195.56">19940 11869 309 0,'0'0'249'0,"0"0"-244"0,0 0 32 16,0 0 28-16,0 0-37 15,0 0-6-15,0 0 8 16,0 0-6-16,0 0 17 16,0 0 20-16,0 0-11 15,0 0-29-15,0 0-6 16,0 0 0 0,0 0-6-16,0 0-6 15,0 0 0-15,0 0 1 16,0 0-1-16,0 0 1 15,0 0 6-15,0 0 4 16,0 0 3-16,0 0-5 0,0 0-1 16,0 0 3-16,0 0-10 15,0 0 1-15,0 0-2 16,0 0 0-16,0 0 3 16,0 0-1-16,0 0 5 15,0 0 1-15,0 0 1 16,2 0 1-16,-2 0 1 15,2 0-3-15,-2 0-1 16,1 0-5-16,-1 0-3 16,0 0-1-16,0 0 0 0,0 0-1 15,0 0 0 1,0 0 0-16,0 0 0 0,0 0 0 16,2 3 0-16,-2 4 0 15,1-2 0-15,1 4 0 16,1-1 0-16,0 4 1 15,1 1-1-15,-1 1 0 16,-2 3 0-16,1 2 2 16,-2 1-2-16,0-1-1 15,0 1-1-15,0-4 1 16,-2 1-4-16,2-5-4 16,0-2 2-16,0-3 2 0,0-3 0 15,0-1-1-15,0-2 1 16,0 1-6-16,0-2 11 15,0 2 0-15,0-2 12 16,0 0 6-16,0 0-3 16,0 1-5-16,0 1 1 15,0-2 0-15,0 2 5 16,0-2-6-16,0 0 2 16,0 0-2-16,0 0 0 0,0 0 5 15,0 0-2-15,0 0 3 16,0 0-3-16,0 0-5 15,2-2-4-15,2-5-4 16,2 2-2-16,0-2 1 16,5 1-2-16,-1 1 0 15,2-1-12-15,4 1-5 16,1 0 2-16,4 1 1 16,1 1 0-16,2 2-7 15,-3 1-1-15,0 0-8 0,-2 0 15 16,-4 0-3-1,-2 0-6-15,-4 0 9 0,-1 0 7 16,-2 0 2-16,0 1 8 16,-2 1 0-16,-1 2-2 15,-1 2 2-15,2 1 1 16,-1 0 5-16,2 4 2 16,-1-2-5-16,2 1 3 15,-3-2 1-15,0 1-3 16,-1 0 3-16,-2 0 1 15,0-1 0-15,0 2 9 16,0-2-5-16,-5 3-5 16,-10-2 1-16,-3 2-3 15,-7 0-1-15,-3-1-3 16,-5 2-11-16,1-5-12 0,0 1-54 16,0-2-127-16,2-6-24 15,4 0-294-15</inkml:trace>
  <inkml:trace contextRef="#ctx0" brushRef="#br1" timeOffset="43836.06">20082 11909 261 0,'0'0'90'0,"0"0"-14"16,0 0 58-16,0 0-36 16,0 0 3-16,0 0 32 15,-9-6-9-15,9 3-45 16,-1 0 11-16,-1 0-15 16,-1 0-14-16,2 1-7 15,-1 0-14-15,2 1-14 0,0 1-14 16,0-3-10-16,0 0-2 15,14-1-14-15,10-3 2 16,9-1-5-16,7 2-39 16,3-2-2-16,6 0 6 15,1-2-34-15,-1 0 6 16,-6 1-50-16,-9 0-7 16,-5 0-4-16,-13 5 35 15,-8 1 8-15,-8 3-60 16,-2 0-27-16</inkml:trace>
  <inkml:trace contextRef="#ctx0" brushRef="#br1" timeOffset="49699.01">27712 11830 261 0,'0'0'549'16,"0"0"-538"-16,0 0 34 15,0 0 49-15,0 0-60 16,0 0-30-16,0 0 3 0,0 0-6 16,20-33-1-16,-17 28 13 15,-1 0 24-15,1-4-3 16,-2 2 22-16,-1 0-6 16,2 0-13-16,-2 1-20 15,0-2-9-15,0 0 0 16,2-2-3-16,-2-1-3 15,3-1-1-15,0 3-1 16,-2-2 0-16,1 1-3 0,-2 0 1 16,0 2 0-16,0 1 2 15,0 0-1-15,0 2 1 16,0 0 0-16,0 0 2 16,0 1 1-16,-3-2-1 15,-2 4 5-15,0-1-5 16,-1 1-1-16,-1 0-1 15,0 0-5-15,-1 2-4 16,-1 0 0-16,-3 0-7 16,2 0 5-16,-2 0 9 15,0 0 1-15,0 0 0 0,-3 4 1 16,2-2 1 0,0 3 1-16,0 2-1 0,1 0-1 15,-5 3 0-15,-1-1 0 16,3 5 0-16,-3-3 0 15,4 4-3-15,1-4-7 16,4 2 2-16,3-3 4 16,3 0-2-16,1-2 2 15,2-1 4-15,0 0 0 16,0 0 0-16,0 3 2 16,7-3 5-16,0 2-4 15,3-2-1-15,-1 3 0 16,3 0 0-16,2-3-2 15,1 0 0-15,-1-2-4 0,3 0-3 16,-1-4 0-16,-2-1 2 16,1 0 3-16,-5 0 1 15,1 0-4-15,-1 0 5 16,1 0 0-16,-1 1 0 16,3 2 0-16,2 0 0 15,5 2-1-15,-1 2 0 16,1-4 1-16,-4 2 0 15,-1-2 0-15,-3 3 0 16,-5-2-1-16,-2-2 0 16,-2 1-3-16,-3-1 3 15,0-1 2-15,0-1-1 0,0 2 12 16,0 0 2-16,0 3-2 16,1 0-3-16,-1 3 3 15,3 4-4-15,-1 0 0 16,-2-1-5-16,1 4-3 15,-1-1 1-15,0 0 4 16,0 0-3-16,-1 0-2 16,-10 2 0-16,1-1 1 15,-5-2-1-15,3-1 0 16,-1-3 0-16,1-2 0 16,-1-1 1-16,0-2-1 15,4 0 0-15,-2 0 0 16,1 0 0-16,-2-4-12 0,-4 1-1 15,-2-1 2-15,-1 0-8 16,-2 0-8-16,3 0 13 16,3 0 3-16,3 0 2 15,3 0 8-15,5 0 1 16,4 0 5-16,0-5 0 16,0-4 8-16,0-4-9 15,8 1-3-15,6-4 0 16,2 0 2-16,1 2 0 15,-1-1 1-15,-2 1-4 16,-3 4 0-16,-2 0-5 16,-2 0-20-16,-1 1 6 0,-3-1 12 15,2-2-5 1,0 0 6-16,-1 0 6 0,1-2 0 16,1 0-4-16,2 0 6 15,2 5-4-15,0-2 2 16,3 3-8-16,-4 1 1 15,1 3-35-15,0 0-50 16,-4 1 35-16,-2 1 33 16,-1-1-12-16,-1 3 20 15,-2-2 10-15,0 2 5 16,0-2-40-16,0 2-53 16,0 0-24-16,0 0-112 15,-5 0-3-15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0-21T13:24:16.292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17390 17065 35 0,'0'0'39'0,"0"0"-7"15,0 0-26-15,0 0 1 0,0 0 13 16,0 0-5-1,0 0-12-15,0 0-3 0,1-11 0 16,-1 10 0-16,0-2-2 16,3-2-6-16,0 2-22 15,-1-2 2-15,1 4-38 16</inkml:trace>
  <inkml:trace contextRef="#ctx0" brushRef="#br0" timeOffset="878.09">17390 17065 41 0,'14'-45'40'0,"-14"45"-1"16,0 0-5-16,0 0 15 16,0 0 3-16,0 0 25 15,0 0 12-15,0 0-30 16,0 0-12-16,0 0 6 15,0 0-4-15,0 0-12 16,0 0-8-16,0 0-2 0,0 0 8 16,0 0 13-16,0-1-9 0,0 0-6 31,0 1 2-31,0 0-9 16,0 0-12-16,0 0-7 0,0 0-6 0,0 0 1 15,0 0-2-15,0 0-1 0,0 0 0 16,0 0-2-16,0 0 0 15,0 0 2-15,0 0-2 32,0 0 3-32,0 0-2 15,0 0-1-15,0-2-1 16,0 2-4-16,0 0-5 0,4 0 3 16,6 0 7-16,1 0 2 15,0 0 0-15,3 0-2 0,-2 0 3 16,1 0-1-16,-4 0 1 15,-1 0-1-15,1 0 1 16,-3 0 1-16,1 0-1 16,1 0 0-16,2 0 0 15,-2 0 2-15,-1 0-3 16,-1 0 1-16,-3 0-1 16,1 0 1-16,-2 0 0 0,-1 0-1 15,1 0-1-15,-2 0 0 16,0 0 0-16,0 0 1 15,3 0 0-15,0 0 1 32,1 0 1-32,2 0 0 15,3 0-1-15,-3 0 2 0,2 0-2 16,-2 0 2-16,0 2-2 16,-2-2-6-16,-1 0-5 15,-2 1-1-15,1-1-9 16,-2 1 12-16,0-1 8 15,0 0 1-15,0 0 0 16,0 0 2-16,0 0-2 16,0 0 0-16,0 0 0 15,0 0 3-15,0 0-2 16,0 0-1-16,0 0 4 16,0 0 2-16,0 0 1 0,0 0-7 15,0 0-2-15,0 0 2 16,0 0 2-16,0 0-1 15,0 0-1-15,0 0 0 16,0 0 0-16,0 0 0 16,0 0 1-16,0 0-1 15,0 0-24-15,-5 0-121 16,-9 3-293-16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11E396-960A-4BC8-9007-D576850703A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9100C1-6427-4912-A895-4B09403A2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590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E1A865-7332-4E97-82AC-EC3098AAD70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317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EBE19-BF25-4EDE-A705-17497BF79CE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F29F-22DA-43C8-9E37-3802F5C43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602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EBE19-BF25-4EDE-A705-17497BF79CE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F29F-22DA-43C8-9E37-3802F5C43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969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EBE19-BF25-4EDE-A705-17497BF79CE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F29F-22DA-43C8-9E37-3802F5C43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243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EBE19-BF25-4EDE-A705-17497BF79CE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F29F-22DA-43C8-9E37-3802F5C43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432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EBE19-BF25-4EDE-A705-17497BF79CE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F29F-22DA-43C8-9E37-3802F5C43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164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EBE19-BF25-4EDE-A705-17497BF79CE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F29F-22DA-43C8-9E37-3802F5C43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640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EBE19-BF25-4EDE-A705-17497BF79CE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F29F-22DA-43C8-9E37-3802F5C43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388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EBE19-BF25-4EDE-A705-17497BF79CE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F29F-22DA-43C8-9E37-3802F5C43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07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EBE19-BF25-4EDE-A705-17497BF79CE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F29F-22DA-43C8-9E37-3802F5C43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89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EBE19-BF25-4EDE-A705-17497BF79CE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F29F-22DA-43C8-9E37-3802F5C43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373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EBE19-BF25-4EDE-A705-17497BF79CE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F29F-22DA-43C8-9E37-3802F5C43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463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5EBE19-BF25-4EDE-A705-17497BF79CE7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99F29F-22DA-43C8-9E37-3802F5C43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954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hyperlink" Target="http://www.cs.cmu.edu/~tom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37.xml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emf"/><Relationship Id="rId4" Type="http://schemas.openxmlformats.org/officeDocument/2006/relationships/customXml" Target="../ink/ink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9607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  <a:latin typeface="+mn-lt"/>
              </a:rPr>
              <a:t>Machine Learning Introduction</a:t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sz="3100" dirty="0">
                <a:solidFill>
                  <a:srgbClr val="0070C0"/>
                </a:solidFill>
                <a:latin typeface="+mn-lt"/>
              </a:rPr>
              <a:t>Lecture-1</a:t>
            </a:r>
          </a:p>
        </p:txBody>
      </p:sp>
    </p:spTree>
    <p:extLst>
      <p:ext uri="{BB962C8B-B14F-4D97-AF65-F5344CB8AC3E}">
        <p14:creationId xmlns:p14="http://schemas.microsoft.com/office/powerpoint/2010/main" val="1488330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/>
              <a:t>Introduction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Machine Learning (ML) is considered as the most dynamic and progressive form of </a:t>
            </a:r>
            <a:r>
              <a:rPr lang="en-US" dirty="0">
                <a:solidFill>
                  <a:srgbClr val="0070C0"/>
                </a:solidFill>
              </a:rPr>
              <a:t>human-like Artificial Intelligence</a:t>
            </a:r>
            <a:r>
              <a:rPr lang="en-US" dirty="0"/>
              <a:t>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Today ML is being used extensively in various industries like automobiles, genetics, medicine, finance etc. to automate procedures, in </a:t>
            </a:r>
            <a:r>
              <a:rPr lang="en-US" dirty="0">
                <a:solidFill>
                  <a:srgbClr val="0070C0"/>
                </a:solidFill>
              </a:rPr>
              <a:t>reducing the processing time</a:t>
            </a:r>
            <a:r>
              <a:rPr lang="en-US" dirty="0"/>
              <a:t> and to remove the possibility of </a:t>
            </a:r>
            <a:r>
              <a:rPr lang="en-US" dirty="0">
                <a:solidFill>
                  <a:srgbClr val="0070C0"/>
                </a:solidFill>
              </a:rPr>
              <a:t>human errors</a:t>
            </a:r>
            <a:r>
              <a:rPr lang="en-US" dirty="0"/>
              <a:t>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ML helps in </a:t>
            </a:r>
            <a:r>
              <a:rPr lang="en-US" dirty="0">
                <a:solidFill>
                  <a:srgbClr val="0070C0"/>
                </a:solidFill>
              </a:rPr>
              <a:t>analyzing at a large scale</a:t>
            </a:r>
            <a:r>
              <a:rPr lang="en-US" dirty="0"/>
              <a:t>, thus helping in making </a:t>
            </a:r>
            <a:r>
              <a:rPr lang="en-US" dirty="0">
                <a:solidFill>
                  <a:srgbClr val="0070C0"/>
                </a:solidFill>
              </a:rPr>
              <a:t>quicker and better decisions</a:t>
            </a:r>
            <a:r>
              <a:rPr lang="en-US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9583-AB11-4154-B5B7-94AEC9C4A0CB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B08ED-BCB7-4B16-BDC8-EAEC53C69965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Arockiaraj S</a:t>
            </a:r>
          </a:p>
        </p:txBody>
      </p:sp>
    </p:spTree>
    <p:extLst>
      <p:ext uri="{BB962C8B-B14F-4D97-AF65-F5344CB8AC3E}">
        <p14:creationId xmlns:p14="http://schemas.microsoft.com/office/powerpoint/2010/main" val="4026051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7473" y="529706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Artificial Intelligence (AI) &amp;  Machine Learning (ML)?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768" y="1910687"/>
            <a:ext cx="4558868" cy="222458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i="1" dirty="0">
                <a:solidFill>
                  <a:srgbClr val="C00000"/>
                </a:solidFill>
              </a:rPr>
              <a:t>Artificial intelligence: </a:t>
            </a:r>
            <a:endParaRPr lang="en-US" sz="2400" dirty="0">
              <a:solidFill>
                <a:srgbClr val="C00000"/>
              </a:solidFill>
            </a:endParaRPr>
          </a:p>
          <a:p>
            <a:pPr algn="just"/>
            <a:r>
              <a:rPr lang="en-US" sz="2400" dirty="0"/>
              <a:t>Artificial intelligence is the name given to the </a:t>
            </a:r>
            <a:r>
              <a:rPr lang="en-US" sz="2400" dirty="0">
                <a:solidFill>
                  <a:srgbClr val="FF0000"/>
                </a:solidFill>
              </a:rPr>
              <a:t>process</a:t>
            </a:r>
            <a:r>
              <a:rPr lang="en-US" sz="2400" dirty="0"/>
              <a:t> in which the computer makes decisions,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b="1" dirty="0"/>
              <a:t>mimicking a human</a:t>
            </a:r>
            <a:r>
              <a:rPr lang="en-US" sz="24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5579" y="4355270"/>
            <a:ext cx="44320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Machine learning: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Computer makes decisions based on </a:t>
            </a:r>
            <a:r>
              <a:rPr lang="en-US" sz="2400" dirty="0">
                <a:solidFill>
                  <a:srgbClr val="FF0000"/>
                </a:solidFill>
              </a:rPr>
              <a:t>experience</a:t>
            </a:r>
            <a:r>
              <a:rPr lang="en-US" sz="2400" dirty="0"/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78136" y="2544999"/>
            <a:ext cx="6664036" cy="331123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Computing </a:t>
            </a:r>
          </a:p>
        </p:txBody>
      </p:sp>
      <p:sp>
        <p:nvSpPr>
          <p:cNvPr id="8" name="Oval 7"/>
          <p:cNvSpPr/>
          <p:nvPr/>
        </p:nvSpPr>
        <p:spPr>
          <a:xfrm>
            <a:off x="5597236" y="2715493"/>
            <a:ext cx="5825837" cy="28174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AI</a:t>
            </a:r>
          </a:p>
        </p:txBody>
      </p:sp>
      <p:sp>
        <p:nvSpPr>
          <p:cNvPr id="9" name="Oval 8"/>
          <p:cNvSpPr/>
          <p:nvPr/>
        </p:nvSpPr>
        <p:spPr>
          <a:xfrm>
            <a:off x="7107382" y="3139200"/>
            <a:ext cx="3976254" cy="1973129"/>
          </a:xfrm>
          <a:prstGeom prst="ellipse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ML</a:t>
            </a:r>
          </a:p>
        </p:txBody>
      </p:sp>
      <p:sp>
        <p:nvSpPr>
          <p:cNvPr id="10" name="Oval 9"/>
          <p:cNvSpPr/>
          <p:nvPr/>
        </p:nvSpPr>
        <p:spPr>
          <a:xfrm>
            <a:off x="8382000" y="3732899"/>
            <a:ext cx="2433475" cy="894519"/>
          </a:xfrm>
          <a:prstGeom prst="ellipse">
            <a:avLst/>
          </a:prstGeom>
          <a:solidFill>
            <a:srgbClr val="FFC00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DL</a:t>
            </a:r>
          </a:p>
        </p:txBody>
      </p:sp>
    </p:spTree>
    <p:extLst>
      <p:ext uri="{BB962C8B-B14F-4D97-AF65-F5344CB8AC3E}">
        <p14:creationId xmlns:p14="http://schemas.microsoft.com/office/powerpoint/2010/main" val="522237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72482" cy="1325563"/>
          </a:xfrm>
        </p:spPr>
        <p:txBody>
          <a:bodyPr>
            <a:normAutofit/>
          </a:bodyPr>
          <a:lstStyle/>
          <a:p>
            <a:r>
              <a:rPr lang="en-US" dirty="0"/>
              <a:t>Programming and Machine Learning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313882" y="1691557"/>
            <a:ext cx="5518245" cy="3768391"/>
            <a:chOff x="600489" y="1691557"/>
            <a:chExt cx="5518245" cy="3768391"/>
          </a:xfrm>
        </p:grpSpPr>
        <p:sp>
          <p:nvSpPr>
            <p:cNvPr id="4" name="Rectangle 3"/>
            <p:cNvSpPr/>
            <p:nvPr/>
          </p:nvSpPr>
          <p:spPr>
            <a:xfrm>
              <a:off x="2047152" y="3630304"/>
              <a:ext cx="2511188" cy="102358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Computer 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433003" y="3026629"/>
              <a:ext cx="38475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Input  			Program 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415640" y="5090616"/>
              <a:ext cx="17878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Output </a:t>
              </a:r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1924322" y="3395961"/>
              <a:ext cx="382137" cy="2343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flipH="1">
              <a:off x="4217146" y="3395961"/>
              <a:ext cx="341194" cy="2343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4" idx="2"/>
            </p:cNvCxnSpPr>
            <p:nvPr/>
          </p:nvCxnSpPr>
          <p:spPr>
            <a:xfrm>
              <a:off x="3302746" y="4653886"/>
              <a:ext cx="0" cy="4367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1651367" y="1691557"/>
              <a:ext cx="3645087" cy="369332"/>
            </a:xfrm>
            <a:prstGeom prst="rect">
              <a:avLst/>
            </a:prstGeom>
            <a:solidFill>
              <a:srgbClr val="C0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Programming Solution 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600489" y="2115403"/>
              <a:ext cx="5518245" cy="334454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6091436" y="1815152"/>
            <a:ext cx="5950436" cy="4148921"/>
            <a:chOff x="6241564" y="1815152"/>
            <a:chExt cx="5950436" cy="4148921"/>
          </a:xfrm>
        </p:grpSpPr>
        <p:grpSp>
          <p:nvGrpSpPr>
            <p:cNvPr id="11" name="Group 10"/>
            <p:cNvGrpSpPr/>
            <p:nvPr/>
          </p:nvGrpSpPr>
          <p:grpSpPr>
            <a:xfrm>
              <a:off x="7522189" y="2470243"/>
              <a:ext cx="3847531" cy="2937395"/>
              <a:chOff x="7522189" y="2470243"/>
              <a:chExt cx="3847531" cy="2937395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8136338" y="3577994"/>
                <a:ext cx="2511188" cy="102358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Algorithm - Machine</a:t>
                </a: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7522189" y="2974319"/>
                <a:ext cx="38475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Data 			Output 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7997588" y="5038306"/>
                <a:ext cx="28387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Learn through experience </a:t>
                </a:r>
              </a:p>
            </p:txBody>
          </p:sp>
          <p:cxnSp>
            <p:nvCxnSpPr>
              <p:cNvPr id="18" name="Straight Arrow Connector 17"/>
              <p:cNvCxnSpPr/>
              <p:nvPr/>
            </p:nvCxnSpPr>
            <p:spPr>
              <a:xfrm>
                <a:off x="8013508" y="3343651"/>
                <a:ext cx="382137" cy="23434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/>
              <p:cNvCxnSpPr/>
              <p:nvPr/>
            </p:nvCxnSpPr>
            <p:spPr>
              <a:xfrm flipH="1">
                <a:off x="10306332" y="3343651"/>
                <a:ext cx="341194" cy="23434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>
                <a:stCxn id="15" idx="2"/>
              </p:cNvCxnSpPr>
              <p:nvPr/>
            </p:nvCxnSpPr>
            <p:spPr>
              <a:xfrm>
                <a:off x="9391932" y="4601576"/>
                <a:ext cx="0" cy="43673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/>
              <p:cNvSpPr txBox="1"/>
              <p:nvPr/>
            </p:nvSpPr>
            <p:spPr>
              <a:xfrm>
                <a:off x="7724633" y="2470243"/>
                <a:ext cx="3645087" cy="369332"/>
              </a:xfrm>
              <a:prstGeom prst="rect">
                <a:avLst/>
              </a:prstGeom>
              <a:solidFill>
                <a:srgbClr val="0070C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Machine Learning solution  </a:t>
                </a:r>
              </a:p>
            </p:txBody>
          </p:sp>
        </p:grpSp>
        <p:sp>
          <p:nvSpPr>
            <p:cNvPr id="13" name="Oval 12"/>
            <p:cNvSpPr/>
            <p:nvPr/>
          </p:nvSpPr>
          <p:spPr>
            <a:xfrm>
              <a:off x="6241564" y="1815152"/>
              <a:ext cx="5950436" cy="414892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Rectangle 2"/>
          <p:cNvSpPr/>
          <p:nvPr/>
        </p:nvSpPr>
        <p:spPr>
          <a:xfrm>
            <a:off x="6091436" y="1690688"/>
            <a:ext cx="5950436" cy="44365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Content Placeholder 3"/>
          <p:cNvPicPr>
            <a:picLocks noChangeAspect="1"/>
          </p:cNvPicPr>
          <p:nvPr/>
        </p:nvPicPr>
        <p:blipFill rotWithShape="1">
          <a:blip r:embed="rId2"/>
          <a:srcRect l="27799" t="20142" r="24740" b="13227"/>
          <a:stretch/>
        </p:blipFill>
        <p:spPr>
          <a:xfrm>
            <a:off x="6920294" y="1733303"/>
            <a:ext cx="4435524" cy="4351338"/>
          </a:xfrm>
          <a:prstGeom prst="rect">
            <a:avLst/>
          </a:prstGeom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D4B3E-8B1F-4A1F-BCEE-DD77B36B976D}" type="datetime1">
              <a:rPr lang="en-US" smtClean="0"/>
              <a:t>7/27/2026</a:t>
            </a:fld>
            <a:endParaRPr lang="en-US"/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B08ED-BCB7-4B16-BDC8-EAEC53C69965}" type="slidenum">
              <a:rPr lang="en-US" smtClean="0"/>
              <a:t>4</a:t>
            </a:fld>
            <a:endParaRPr 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Arockiaraj S</a:t>
            </a:r>
          </a:p>
        </p:txBody>
      </p:sp>
    </p:spTree>
    <p:extLst>
      <p:ext uri="{BB962C8B-B14F-4D97-AF65-F5344CB8AC3E}">
        <p14:creationId xmlns:p14="http://schemas.microsoft.com/office/powerpoint/2010/main" val="2358077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Machine Learning -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289146" cy="4806995"/>
          </a:xfrm>
          <a:blipFill>
            <a:blip r:embed="rId3"/>
            <a:tile tx="0" ty="0" sx="100000" sy="100000" flip="none" algn="tl"/>
          </a:blipFill>
        </p:spPr>
        <p:txBody>
          <a:bodyPr>
            <a:normAutofit/>
          </a:bodyPr>
          <a:lstStyle/>
          <a:p>
            <a:pPr algn="just"/>
            <a:r>
              <a:rPr lang="en-US" dirty="0"/>
              <a:t>1997, </a:t>
            </a:r>
            <a:r>
              <a:rPr lang="en-US" dirty="0">
                <a:hlinkClick r:id="rId4"/>
              </a:rPr>
              <a:t>Tom Mitchell</a:t>
            </a:r>
            <a:r>
              <a:rPr lang="en-US" dirty="0"/>
              <a:t> gave a definition: 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2060"/>
                </a:solidFill>
              </a:rPr>
              <a:t>                        Machine Learning Scientist,                        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2060"/>
                </a:solidFill>
              </a:rPr>
              <a:t>                        Carnegie Mellon University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2060"/>
                </a:solidFill>
              </a:rPr>
              <a:t>                        </a:t>
            </a:r>
          </a:p>
          <a:p>
            <a:pPr marL="0" indent="0" algn="just">
              <a:buNone/>
            </a:pPr>
            <a:endParaRPr lang="en-US" dirty="0">
              <a:solidFill>
                <a:srgbClr val="002060"/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002060"/>
                </a:solidFill>
              </a:rPr>
              <a:t>A computer program is said </a:t>
            </a:r>
            <a:r>
              <a:rPr lang="en-US" b="1" dirty="0">
                <a:solidFill>
                  <a:srgbClr val="002060"/>
                </a:solidFill>
              </a:rPr>
              <a:t>to learn from experience E</a:t>
            </a:r>
            <a:r>
              <a:rPr lang="en-US" dirty="0">
                <a:solidFill>
                  <a:srgbClr val="002060"/>
                </a:solidFill>
              </a:rPr>
              <a:t> with respect to some class of </a:t>
            </a:r>
            <a:r>
              <a:rPr lang="en-US" b="1" dirty="0">
                <a:solidFill>
                  <a:srgbClr val="002060"/>
                </a:solidFill>
              </a:rPr>
              <a:t>tasks </a:t>
            </a:r>
            <a:r>
              <a:rPr lang="en-US" b="1" i="1" dirty="0">
                <a:solidFill>
                  <a:srgbClr val="002060"/>
                </a:solidFill>
              </a:rPr>
              <a:t>T </a:t>
            </a:r>
            <a:r>
              <a:rPr lang="en-US" dirty="0">
                <a:solidFill>
                  <a:srgbClr val="002060"/>
                </a:solidFill>
              </a:rPr>
              <a:t>and </a:t>
            </a:r>
            <a:r>
              <a:rPr lang="en-US" b="1" dirty="0">
                <a:solidFill>
                  <a:srgbClr val="002060"/>
                </a:solidFill>
              </a:rPr>
              <a:t>performance measure P</a:t>
            </a:r>
            <a:r>
              <a:rPr lang="en-US" dirty="0">
                <a:solidFill>
                  <a:srgbClr val="002060"/>
                </a:solidFill>
              </a:rPr>
              <a:t>, if its </a:t>
            </a:r>
            <a:r>
              <a:rPr lang="en-US" dirty="0">
                <a:solidFill>
                  <a:srgbClr val="FF0000"/>
                </a:solidFill>
              </a:rPr>
              <a:t>performance</a:t>
            </a:r>
            <a:r>
              <a:rPr lang="en-US" dirty="0">
                <a:solidFill>
                  <a:srgbClr val="002060"/>
                </a:solidFill>
              </a:rPr>
              <a:t> at tasks in T, as measured by P, </a:t>
            </a:r>
            <a:r>
              <a:rPr lang="en-US" dirty="0">
                <a:solidFill>
                  <a:srgbClr val="FF0000"/>
                </a:solidFill>
              </a:rPr>
              <a:t>improves with experience E</a:t>
            </a:r>
            <a:r>
              <a:rPr lang="en-US" dirty="0">
                <a:solidFill>
                  <a:srgbClr val="002060"/>
                </a:solidFill>
              </a:rPr>
              <a:t>.</a:t>
            </a:r>
            <a:endParaRPr lang="en-US" i="1" dirty="0"/>
          </a:p>
        </p:txBody>
      </p:sp>
      <p:pic>
        <p:nvPicPr>
          <p:cNvPr id="5" name="Picture 4"/>
          <p:cNvPicPr>
            <a:picLocks/>
          </p:cNvPicPr>
          <p:nvPr/>
        </p:nvPicPr>
        <p:blipFill rotWithShape="1">
          <a:blip r:embed="rId5" cstate="print"/>
          <a:srcRect l="49752" t="40674" r="19978" b="19451"/>
          <a:stretch/>
        </p:blipFill>
        <p:spPr>
          <a:xfrm>
            <a:off x="1096365" y="2231121"/>
            <a:ext cx="1564945" cy="1522013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9554C-1109-4DA3-B46F-21F2C1CBC54B}" type="datetime1">
              <a:rPr lang="en-US" smtClean="0"/>
              <a:t>7/27/2026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B08ED-BCB7-4B16-BDC8-EAEC53C69965}" type="slidenum">
              <a:rPr lang="en-US" smtClean="0"/>
              <a:t>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Arockiaraj S</a:t>
            </a:r>
          </a:p>
        </p:txBody>
      </p:sp>
    </p:spTree>
    <p:extLst>
      <p:ext uri="{BB962C8B-B14F-4D97-AF65-F5344CB8AC3E}">
        <p14:creationId xmlns:p14="http://schemas.microsoft.com/office/powerpoint/2010/main" val="315541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19751" y="0"/>
            <a:ext cx="9152498" cy="6845253"/>
          </a:xfrm>
          <a:prstGeom prst="rect">
            <a:avLst/>
          </a:prstGeom>
        </p:spPr>
      </p:pic>
      <p:sp>
        <p:nvSpPr>
          <p:cNvPr id="7" name="TextBox 2"/>
          <p:cNvSpPr txBox="1"/>
          <p:nvPr/>
        </p:nvSpPr>
        <p:spPr>
          <a:xfrm>
            <a:off x="2093376" y="535383"/>
            <a:ext cx="6778843" cy="117981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4617"/>
              </a:lnSpc>
            </a:pPr>
            <a:r>
              <a:rPr lang="en-CA" sz="4027" dirty="0">
                <a:solidFill>
                  <a:srgbClr val="C00000"/>
                </a:solidFill>
                <a:latin typeface="+mj-lt"/>
                <a:cs typeface="Arial Bold"/>
              </a:rPr>
              <a:t>What Machine Learning does???</a:t>
            </a:r>
          </a:p>
          <a:p>
            <a:pPr>
              <a:lnSpc>
                <a:spcPts val="4617"/>
              </a:lnSpc>
            </a:pPr>
            <a:endParaRPr lang="en-CA" sz="4017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093376" y="3097573"/>
            <a:ext cx="828036" cy="56635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248"/>
              </a:lnSpc>
            </a:pPr>
            <a:r>
              <a:rPr lang="en-CA" sz="1807">
                <a:solidFill>
                  <a:srgbClr val="000000"/>
                </a:solidFill>
                <a:latin typeface="Arial"/>
                <a:cs typeface="Arial"/>
              </a:rPr>
              <a:t>Training</a:t>
            </a:r>
          </a:p>
          <a:p>
            <a:pPr>
              <a:lnSpc>
                <a:spcPts val="2248"/>
              </a:lnSpc>
            </a:pPr>
            <a:endParaRPr lang="en-CA" sz="1807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505224" y="3059331"/>
            <a:ext cx="1840652" cy="5406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078"/>
              </a:lnSpc>
            </a:pPr>
            <a:r>
              <a:rPr lang="en-CA" sz="1807">
                <a:solidFill>
                  <a:srgbClr val="000000"/>
                </a:solidFill>
                <a:latin typeface="Arial"/>
                <a:cs typeface="Arial"/>
              </a:rPr>
              <a:t>Decision Function</a:t>
            </a:r>
          </a:p>
          <a:p>
            <a:pPr>
              <a:lnSpc>
                <a:spcPts val="2078"/>
              </a:lnSpc>
            </a:pPr>
            <a:endParaRPr lang="en-CA" sz="1807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029639" y="3378011"/>
            <a:ext cx="1016864" cy="56635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193"/>
              </a:lnSpc>
            </a:pPr>
            <a:r>
              <a:rPr lang="en-CA" sz="1807">
                <a:solidFill>
                  <a:srgbClr val="000000"/>
                </a:solidFill>
                <a:latin typeface="Arial"/>
                <a:cs typeface="Arial"/>
              </a:rPr>
              <a:t>Examples</a:t>
            </a:r>
          </a:p>
          <a:p>
            <a:pPr>
              <a:lnSpc>
                <a:spcPts val="2193"/>
              </a:lnSpc>
            </a:pPr>
            <a:endParaRPr lang="en-CA" sz="1807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785662" y="3339770"/>
            <a:ext cx="1274298" cy="5406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078"/>
              </a:lnSpc>
            </a:pPr>
            <a:r>
              <a:rPr lang="en-CA" sz="1807">
                <a:solidFill>
                  <a:srgbClr val="000000"/>
                </a:solidFill>
                <a:latin typeface="Arial"/>
                <a:cs typeface="Arial"/>
              </a:rPr>
              <a:t>/ Hypothesis</a:t>
            </a:r>
          </a:p>
          <a:p>
            <a:pPr>
              <a:lnSpc>
                <a:spcPts val="2078"/>
              </a:lnSpc>
            </a:pPr>
            <a:endParaRPr lang="en-CA" sz="1807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" name="Oval 7"/>
          <p:cNvSpPr/>
          <p:nvPr/>
        </p:nvSpPr>
        <p:spPr>
          <a:xfrm>
            <a:off x="4700791" y="5396248"/>
            <a:ext cx="2292440" cy="9144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New Query?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5847008" y="4494727"/>
            <a:ext cx="0" cy="90152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13CA5-6DC6-4B9E-A7C2-9877AABEACEF}" type="datetime1">
              <a:rPr lang="en-US" smtClean="0"/>
              <a:t>7/27/2026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B08ED-BCB7-4B16-BDC8-EAEC53C69965}" type="slidenum">
              <a:rPr lang="en-US" smtClean="0"/>
              <a:t>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Arockiaraj S</a:t>
            </a:r>
          </a:p>
        </p:txBody>
      </p:sp>
    </p:spTree>
    <p:extLst>
      <p:ext uri="{BB962C8B-B14F-4D97-AF65-F5344CB8AC3E}">
        <p14:creationId xmlns:p14="http://schemas.microsoft.com/office/powerpoint/2010/main" val="287430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– History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704" y="1825625"/>
            <a:ext cx="5667103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1950s</a:t>
            </a:r>
          </a:p>
          <a:p>
            <a:pPr lvl="1"/>
            <a:r>
              <a:rPr lang="en-US" dirty="0"/>
              <a:t>Arthur Samuel (IBM)</a:t>
            </a:r>
          </a:p>
          <a:p>
            <a:pPr lvl="1"/>
            <a:r>
              <a:rPr lang="en-US" dirty="0"/>
              <a:t>Program – playing Checkers game</a:t>
            </a:r>
          </a:p>
          <a:p>
            <a:endParaRPr lang="en-US" dirty="0"/>
          </a:p>
          <a:p>
            <a:r>
              <a:rPr lang="en-US" dirty="0"/>
              <a:t>1960s</a:t>
            </a:r>
          </a:p>
          <a:p>
            <a:pPr lvl="1"/>
            <a:r>
              <a:rPr lang="en-US" dirty="0"/>
              <a:t>Rosenblatt</a:t>
            </a:r>
          </a:p>
          <a:p>
            <a:pPr lvl="1"/>
            <a:r>
              <a:rPr lang="en-US" dirty="0"/>
              <a:t>Perceptron  - Neural Network Model  </a:t>
            </a:r>
          </a:p>
          <a:p>
            <a:pPr lvl="1"/>
            <a:r>
              <a:rPr lang="en-US" dirty="0"/>
              <a:t>Pattern Recognition </a:t>
            </a:r>
          </a:p>
          <a:p>
            <a:pPr lvl="1"/>
            <a:r>
              <a:rPr lang="en-US" dirty="0"/>
              <a:t>Later </a:t>
            </a:r>
            <a:r>
              <a:rPr lang="en-US" i="1" dirty="0">
                <a:solidFill>
                  <a:srgbClr val="FF0000"/>
                </a:solidFill>
              </a:rPr>
              <a:t>delta learning </a:t>
            </a:r>
            <a:r>
              <a:rPr lang="en-US" dirty="0"/>
              <a:t>rule </a:t>
            </a:r>
          </a:p>
          <a:p>
            <a:pPr lvl="2"/>
            <a:r>
              <a:rPr lang="en-US" dirty="0"/>
              <a:t>Rule for perceptron learning</a:t>
            </a:r>
          </a:p>
          <a:p>
            <a:pPr lvl="2"/>
            <a:r>
              <a:rPr lang="en-US" dirty="0"/>
              <a:t>Good classifier </a:t>
            </a:r>
          </a:p>
        </p:txBody>
      </p:sp>
      <p:pic>
        <p:nvPicPr>
          <p:cNvPr id="1026" name="Picture 2" descr="1,490 Checkers Board Stock Photos, Pictures &amp;amp; Royalty-Free Images - i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8427" y="1462648"/>
            <a:ext cx="3779295" cy="251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File:Neural network.svg - Wikimedia Comm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5709" y="3865414"/>
            <a:ext cx="3982013" cy="2654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1765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– History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704" y="1825625"/>
            <a:ext cx="5667103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1950s</a:t>
            </a:r>
          </a:p>
          <a:p>
            <a:pPr lvl="1"/>
            <a:r>
              <a:rPr lang="en-US" dirty="0"/>
              <a:t>Arthur Samuel (IBM)</a:t>
            </a:r>
          </a:p>
          <a:p>
            <a:pPr lvl="1"/>
            <a:r>
              <a:rPr lang="en-US" dirty="0"/>
              <a:t>Program – playing Checkers game</a:t>
            </a:r>
          </a:p>
          <a:p>
            <a:endParaRPr lang="en-US" dirty="0"/>
          </a:p>
          <a:p>
            <a:r>
              <a:rPr lang="en-US" dirty="0"/>
              <a:t>1960s</a:t>
            </a:r>
          </a:p>
          <a:p>
            <a:pPr lvl="1"/>
            <a:r>
              <a:rPr lang="en-US" dirty="0"/>
              <a:t>Rosenblatt</a:t>
            </a:r>
          </a:p>
          <a:p>
            <a:pPr lvl="1"/>
            <a:r>
              <a:rPr lang="en-US" dirty="0"/>
              <a:t>Perceptron  - Neural Network Model  </a:t>
            </a:r>
          </a:p>
          <a:p>
            <a:pPr lvl="1"/>
            <a:r>
              <a:rPr lang="en-US" dirty="0"/>
              <a:t>Pattern Recognition </a:t>
            </a:r>
          </a:p>
          <a:p>
            <a:pPr lvl="1"/>
            <a:r>
              <a:rPr lang="en-US" dirty="0"/>
              <a:t>Later </a:t>
            </a:r>
            <a:r>
              <a:rPr lang="en-US" i="1" dirty="0">
                <a:solidFill>
                  <a:srgbClr val="FF0000"/>
                </a:solidFill>
              </a:rPr>
              <a:t>delta learning </a:t>
            </a:r>
            <a:r>
              <a:rPr lang="en-US" dirty="0"/>
              <a:t>rule </a:t>
            </a:r>
          </a:p>
          <a:p>
            <a:pPr lvl="2"/>
            <a:r>
              <a:rPr lang="en-US" dirty="0"/>
              <a:t>Rule for perceptron learning</a:t>
            </a:r>
          </a:p>
          <a:p>
            <a:pPr lvl="2"/>
            <a:r>
              <a:rPr lang="en-US" dirty="0"/>
              <a:t>Good classifier 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398628" y="1825625"/>
            <a:ext cx="5667103" cy="477989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1969</a:t>
            </a:r>
          </a:p>
          <a:p>
            <a:pPr lvl="1"/>
            <a:r>
              <a:rPr lang="en-US" dirty="0" err="1"/>
              <a:t>Minsky</a:t>
            </a:r>
            <a:r>
              <a:rPr lang="en-US" dirty="0"/>
              <a:t> and </a:t>
            </a:r>
            <a:r>
              <a:rPr lang="en-US" dirty="0" err="1"/>
              <a:t>Papert</a:t>
            </a:r>
            <a:endParaRPr lang="en-US" dirty="0"/>
          </a:p>
          <a:p>
            <a:pPr lvl="1"/>
            <a:r>
              <a:rPr lang="en-US" dirty="0"/>
              <a:t>Limitation of perceptron model </a:t>
            </a:r>
          </a:p>
          <a:p>
            <a:pPr lvl="1"/>
            <a:r>
              <a:rPr lang="en-US" dirty="0"/>
              <a:t>Problem could not be represented </a:t>
            </a:r>
          </a:p>
          <a:p>
            <a:pPr lvl="1"/>
            <a:r>
              <a:rPr lang="en-US" dirty="0"/>
              <a:t>Inseparable data distribution  </a:t>
            </a:r>
          </a:p>
          <a:p>
            <a:endParaRPr lang="en-US" dirty="0"/>
          </a:p>
          <a:p>
            <a:r>
              <a:rPr lang="en-US" dirty="0"/>
              <a:t>1970s</a:t>
            </a:r>
          </a:p>
          <a:p>
            <a:pPr lvl="1"/>
            <a:r>
              <a:rPr lang="en-US" dirty="0"/>
              <a:t>Symbolic concept (AI)</a:t>
            </a:r>
          </a:p>
          <a:p>
            <a:endParaRPr lang="en-US" dirty="0"/>
          </a:p>
          <a:p>
            <a:r>
              <a:rPr lang="en-US" dirty="0"/>
              <a:t>1986</a:t>
            </a:r>
          </a:p>
          <a:p>
            <a:pPr lvl="1"/>
            <a:r>
              <a:rPr lang="en-US" dirty="0"/>
              <a:t>Quinlan – Decision Tree</a:t>
            </a:r>
          </a:p>
          <a:p>
            <a:pPr lvl="1"/>
            <a:r>
              <a:rPr lang="en-US" dirty="0"/>
              <a:t>ID3 Algorithm</a:t>
            </a:r>
          </a:p>
          <a:p>
            <a:pPr lvl="1"/>
            <a:r>
              <a:rPr lang="en-US" dirty="0"/>
              <a:t>Improved: Regression </a:t>
            </a:r>
          </a:p>
          <a:p>
            <a:pPr lvl="1"/>
            <a:r>
              <a:rPr lang="en-US" dirty="0"/>
              <a:t>Still popular in ML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5977719" y="1825625"/>
            <a:ext cx="13648" cy="43513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3247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– History 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398628" y="1825625"/>
            <a:ext cx="5667103" cy="47798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</a:pPr>
            <a:r>
              <a:rPr lang="en-US" sz="2400" dirty="0"/>
              <a:t>1997 – </a:t>
            </a:r>
            <a:r>
              <a:rPr lang="en-US" sz="2400" dirty="0">
                <a:hlinkClick r:id="rId2" action="ppaction://hlinksldjump"/>
              </a:rPr>
              <a:t>Deep Blue beats Garry Kasparov</a:t>
            </a:r>
            <a:endParaRPr lang="en-US" sz="2400" dirty="0"/>
          </a:p>
          <a:p>
            <a:pPr marL="285750" indent="-285750">
              <a:lnSpc>
                <a:spcPct val="150000"/>
              </a:lnSpc>
            </a:pPr>
            <a:r>
              <a:rPr lang="en-US" sz="2400" dirty="0"/>
              <a:t>2009 – Google builds  self driving car</a:t>
            </a:r>
          </a:p>
          <a:p>
            <a:pPr marL="285750" indent="-285750">
              <a:lnSpc>
                <a:spcPct val="150000"/>
              </a:lnSpc>
            </a:pPr>
            <a:r>
              <a:rPr lang="en-US" sz="2400" dirty="0"/>
              <a:t>2011 – </a:t>
            </a:r>
            <a:r>
              <a:rPr lang="en-US" sz="2400" dirty="0">
                <a:hlinkClick r:id="rId3" action="ppaction://hlinksldjump"/>
              </a:rPr>
              <a:t>Watson wins Jeopardy</a:t>
            </a:r>
            <a:endParaRPr lang="en-US" sz="2400" dirty="0"/>
          </a:p>
          <a:p>
            <a:pPr marL="285750" indent="-285750">
              <a:lnSpc>
                <a:spcPct val="150000"/>
              </a:lnSpc>
            </a:pPr>
            <a:r>
              <a:rPr lang="en-US" sz="2400" dirty="0"/>
              <a:t>2015 - machine translation systems driven by NN - better than statistical machine translation systems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5977719" y="1825625"/>
            <a:ext cx="13648" cy="43513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825625"/>
            <a:ext cx="5139519" cy="4351338"/>
          </a:xfrm>
        </p:spPr>
        <p:txBody>
          <a:bodyPr>
            <a:normAutofit/>
          </a:bodyPr>
          <a:lstStyle/>
          <a:p>
            <a:r>
              <a:rPr lang="en-US" sz="2400" dirty="0"/>
              <a:t>1990s: Machine learning involved statistics to a large extent</a:t>
            </a:r>
          </a:p>
          <a:p>
            <a:pPr marL="285750" indent="-285750">
              <a:lnSpc>
                <a:spcPct val="150000"/>
              </a:lnSpc>
            </a:pPr>
            <a:r>
              <a:rPr lang="en-US" sz="2400" dirty="0"/>
              <a:t>1994 – Self driving car road test</a:t>
            </a:r>
          </a:p>
          <a:p>
            <a:pPr marL="285750" indent="-285750">
              <a:lnSpc>
                <a:spcPct val="150000"/>
              </a:lnSpc>
            </a:pPr>
            <a:r>
              <a:rPr lang="en-US" sz="2400" dirty="0"/>
              <a:t>In 1995 –Support Vector Machines (SVMs)</a:t>
            </a:r>
          </a:p>
          <a:p>
            <a:pPr marL="285750" indent="-285750">
              <a:lnSpc>
                <a:spcPct val="150000"/>
              </a:lnSpc>
            </a:pPr>
            <a:r>
              <a:rPr lang="en-US" sz="2400" dirty="0"/>
              <a:t>In 1997, ensembles or boosting - algorithm for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673621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status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617191" cy="4351338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rgbClr val="002060"/>
                </a:solidFill>
              </a:rPr>
              <a:t>Today, </a:t>
            </a:r>
          </a:p>
          <a:p>
            <a:pPr lvl="1" algn="just"/>
            <a:r>
              <a:rPr lang="en-US" dirty="0">
                <a:solidFill>
                  <a:srgbClr val="C00000"/>
                </a:solidFill>
              </a:rPr>
              <a:t>Algorithms </a:t>
            </a:r>
            <a:r>
              <a:rPr lang="en-US" dirty="0"/>
              <a:t>– developed for learning tasks</a:t>
            </a:r>
          </a:p>
          <a:p>
            <a:pPr lvl="1" algn="just"/>
            <a:endParaRPr lang="en-US" dirty="0"/>
          </a:p>
          <a:p>
            <a:pPr lvl="1" algn="just"/>
            <a:r>
              <a:rPr lang="en-US" dirty="0">
                <a:solidFill>
                  <a:srgbClr val="C00000"/>
                </a:solidFill>
              </a:rPr>
              <a:t>Theoretical understanding </a:t>
            </a:r>
            <a:r>
              <a:rPr lang="en-US" dirty="0"/>
              <a:t>- emerged </a:t>
            </a:r>
          </a:p>
          <a:p>
            <a:pPr lvl="1" algn="just"/>
            <a:endParaRPr lang="en-US" dirty="0"/>
          </a:p>
          <a:p>
            <a:pPr lvl="1" algn="just"/>
            <a:r>
              <a:rPr lang="en-US" dirty="0">
                <a:solidFill>
                  <a:srgbClr val="C00000"/>
                </a:solidFill>
              </a:rPr>
              <a:t>Practical computer programs</a:t>
            </a:r>
            <a:r>
              <a:rPr lang="en-US" dirty="0">
                <a:solidFill>
                  <a:srgbClr val="002060"/>
                </a:solidFill>
              </a:rPr>
              <a:t> -</a:t>
            </a:r>
            <a:r>
              <a:rPr lang="en-US" dirty="0"/>
              <a:t>developed</a:t>
            </a:r>
          </a:p>
          <a:p>
            <a:pPr lvl="1" algn="just"/>
            <a:endParaRPr lang="en-US" dirty="0"/>
          </a:p>
          <a:p>
            <a:pPr lvl="1" algn="just"/>
            <a:r>
              <a:rPr lang="en-US" dirty="0">
                <a:solidFill>
                  <a:srgbClr val="C00000"/>
                </a:solidFill>
              </a:rPr>
              <a:t>Commercial applications </a:t>
            </a:r>
            <a:r>
              <a:rPr lang="en-US" dirty="0"/>
              <a:t>- appear.</a:t>
            </a:r>
          </a:p>
          <a:p>
            <a:pPr lvl="1" algn="just"/>
            <a:endParaRPr lang="en-US" dirty="0"/>
          </a:p>
          <a:p>
            <a:pPr lvl="1" algn="just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6889" t="21408" r="38112" b="5457"/>
          <a:stretch/>
        </p:blipFill>
        <p:spPr>
          <a:xfrm>
            <a:off x="6703174" y="1988249"/>
            <a:ext cx="4406103" cy="4026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77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063836" cy="1915102"/>
          </a:xfrm>
          <a:solidFill>
            <a:srgbClr val="FFFFCC"/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/>
              <a:t>What is data?</a:t>
            </a:r>
          </a:p>
          <a:p>
            <a:r>
              <a:rPr lang="en-US" sz="2400" dirty="0"/>
              <a:t>Data is simply a </a:t>
            </a:r>
            <a:r>
              <a:rPr lang="en-US" sz="2400" dirty="0">
                <a:solidFill>
                  <a:srgbClr val="FF0000"/>
                </a:solidFill>
              </a:rPr>
              <a:t>table with information</a:t>
            </a:r>
          </a:p>
          <a:p>
            <a:r>
              <a:rPr lang="en-US" sz="2400" dirty="0"/>
              <a:t>Each row is a </a:t>
            </a:r>
            <a:r>
              <a:rPr lang="en-US" sz="2400" dirty="0">
                <a:solidFill>
                  <a:srgbClr val="FF0000"/>
                </a:solidFill>
              </a:rPr>
              <a:t>data point</a:t>
            </a:r>
          </a:p>
          <a:p>
            <a:r>
              <a:rPr lang="en-US" sz="2400" dirty="0"/>
              <a:t>Each row represented by certain </a:t>
            </a:r>
            <a:r>
              <a:rPr lang="en-US" sz="2400" dirty="0">
                <a:solidFill>
                  <a:srgbClr val="FF0000"/>
                </a:solidFill>
              </a:rPr>
              <a:t>features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915888" y="1825625"/>
            <a:ext cx="6189026" cy="20397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b="1" dirty="0"/>
              <a:t>What are features?</a:t>
            </a:r>
          </a:p>
          <a:p>
            <a:r>
              <a:rPr lang="en-US" sz="2200" dirty="0"/>
              <a:t>Features are simply the </a:t>
            </a:r>
            <a:r>
              <a:rPr lang="en-US" sz="2200" dirty="0">
                <a:solidFill>
                  <a:srgbClr val="FF0000"/>
                </a:solidFill>
              </a:rPr>
              <a:t>columns</a:t>
            </a:r>
            <a:r>
              <a:rPr lang="en-US" sz="2200" dirty="0"/>
              <a:t> of the table.</a:t>
            </a:r>
          </a:p>
          <a:p>
            <a:r>
              <a:rPr lang="en-US" sz="2200" dirty="0"/>
              <a:t>Features may be size, name, type, weight, etc.</a:t>
            </a:r>
          </a:p>
          <a:p>
            <a:r>
              <a:rPr lang="en-US" sz="2200" dirty="0"/>
              <a:t>Some features are special, and we call them </a:t>
            </a:r>
            <a:r>
              <a:rPr lang="en-US" sz="2200" i="1" dirty="0"/>
              <a:t>labels</a:t>
            </a:r>
            <a:r>
              <a:rPr lang="en-US" sz="2200" dirty="0"/>
              <a:t>.</a:t>
            </a: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/>
        </p:nvGraphicFramePr>
        <p:xfrm>
          <a:off x="1343891" y="3975869"/>
          <a:ext cx="9490364" cy="2424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9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2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9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06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80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498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COLOR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SHAPE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FRUIT 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986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Big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effectLst/>
                        </a:rPr>
                        <a:t>Rounded shape with a depression at the top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</a:rPr>
                        <a:t>Apple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986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Small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effectLst/>
                        </a:rPr>
                        <a:t>Heart-shaped to nearly globular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</a:rPr>
                        <a:t>Cherry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986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Big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Green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effectLst/>
                        </a:rPr>
                        <a:t>Long curving cylinder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</a:rPr>
                        <a:t>Banana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986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Small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Green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effectLst/>
                        </a:rPr>
                        <a:t>Round to oval, Bunch shape Cylindrical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</a:rPr>
                        <a:t>Grape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8307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What is the difference between labelled and </a:t>
            </a:r>
            <a:r>
              <a:rPr lang="en-US" sz="3200" dirty="0" err="1"/>
              <a:t>unlabelled</a:t>
            </a:r>
            <a:r>
              <a:rPr lang="en-US" sz="3200" dirty="0"/>
              <a:t> 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Labels?</a:t>
            </a:r>
          </a:p>
          <a:p>
            <a:r>
              <a:rPr lang="en-US" sz="2200" dirty="0"/>
              <a:t>If we are trying to predict a feature based on the others, that feature is the label.</a:t>
            </a:r>
          </a:p>
          <a:p>
            <a:r>
              <a:rPr lang="en-US" sz="2200" b="1" dirty="0"/>
              <a:t>Labeled data: </a:t>
            </a:r>
            <a:r>
              <a:rPr lang="en-US" sz="2200" dirty="0"/>
              <a:t>Data that comes with a label.</a:t>
            </a:r>
          </a:p>
          <a:p>
            <a:r>
              <a:rPr lang="en-US" sz="2200" b="1" dirty="0"/>
              <a:t>Unlabeled data: </a:t>
            </a:r>
            <a:r>
              <a:rPr lang="en-US" sz="2200" dirty="0"/>
              <a:t>Data that comes without a label</a:t>
            </a:r>
          </a:p>
          <a:p>
            <a:endParaRPr lang="en-US" sz="2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3952" t="35028" r="25000" b="18889"/>
          <a:stretch/>
        </p:blipFill>
        <p:spPr>
          <a:xfrm>
            <a:off x="635689" y="3782291"/>
            <a:ext cx="7679517" cy="2695869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8659087" y="2830286"/>
            <a:ext cx="3422073" cy="37506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set of algorithms in which we use a </a:t>
            </a:r>
            <a:r>
              <a:rPr lang="en-US" b="1" dirty="0"/>
              <a:t>labeled dataset </a:t>
            </a:r>
            <a:r>
              <a:rPr lang="en-US" dirty="0"/>
              <a:t>is called </a:t>
            </a:r>
            <a:r>
              <a:rPr lang="en-US" i="1" dirty="0">
                <a:solidFill>
                  <a:srgbClr val="FF0000"/>
                </a:solidFill>
              </a:rPr>
              <a:t>supervised learning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The set of algorithms in which we use an </a:t>
            </a:r>
            <a:r>
              <a:rPr lang="en-US" b="1" dirty="0"/>
              <a:t>unlabeled dataset</a:t>
            </a:r>
            <a:r>
              <a:rPr lang="en-US" dirty="0"/>
              <a:t>, is called </a:t>
            </a:r>
            <a:r>
              <a:rPr lang="en-US" i="1" dirty="0">
                <a:solidFill>
                  <a:srgbClr val="FF0000"/>
                </a:solidFill>
              </a:rPr>
              <a:t>unsupervised learning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9869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Supervised Learning</a:t>
            </a:r>
          </a:p>
          <a:p>
            <a:r>
              <a:rPr lang="en-US" sz="3200" dirty="0"/>
              <a:t>Unsupervised Learning</a:t>
            </a:r>
          </a:p>
          <a:p>
            <a:r>
              <a:rPr lang="en-US" sz="3200" dirty="0"/>
              <a:t>Reinforcement Learning</a:t>
            </a:r>
          </a:p>
          <a:p>
            <a:r>
              <a:rPr lang="en-US" sz="3200" dirty="0"/>
              <a:t>Deep Learning 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0445852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E1AE4E-76FE-BC94-F667-71E02ED1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/>
              <a:t>Supervised Learning</a:t>
            </a:r>
            <a:endParaRPr lang="en-IN" sz="4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01EBB-8174-82D5-766D-29A8D5293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6" y="2203079"/>
            <a:ext cx="5431540" cy="403588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A branch of machine learning that works with </a:t>
            </a:r>
            <a:r>
              <a:rPr lang="en-US" sz="2000" b="1" dirty="0">
                <a:solidFill>
                  <a:srgbClr val="C00000"/>
                </a:solidFill>
              </a:rPr>
              <a:t>labeled data</a:t>
            </a:r>
            <a:r>
              <a:rPr lang="en-US" sz="2000" dirty="0"/>
              <a:t>. </a:t>
            </a:r>
          </a:p>
          <a:p>
            <a:r>
              <a:rPr lang="en-US" sz="2000" dirty="0"/>
              <a:t>Some of the most common </a:t>
            </a:r>
            <a:r>
              <a:rPr lang="en-US" sz="2000" b="1" dirty="0">
                <a:solidFill>
                  <a:srgbClr val="C00000"/>
                </a:solidFill>
              </a:rPr>
              <a:t>applications</a:t>
            </a:r>
            <a:r>
              <a:rPr lang="en-US" sz="2000" dirty="0"/>
              <a:t>: </a:t>
            </a:r>
          </a:p>
          <a:p>
            <a:pPr lvl="1"/>
            <a:r>
              <a:rPr lang="en-US" sz="2000" dirty="0"/>
              <a:t>image recognition </a:t>
            </a:r>
          </a:p>
          <a:p>
            <a:pPr lvl="1"/>
            <a:r>
              <a:rPr lang="en-US" sz="2000" dirty="0"/>
              <a:t>various forms of text processing</a:t>
            </a:r>
          </a:p>
          <a:p>
            <a:pPr lvl="1"/>
            <a:r>
              <a:rPr lang="en-US" sz="2000" dirty="0"/>
              <a:t>recommendation systems. </a:t>
            </a:r>
          </a:p>
          <a:p>
            <a:endParaRPr lang="en-US" sz="2000" dirty="0"/>
          </a:p>
          <a:p>
            <a:r>
              <a:rPr lang="en-US" sz="2000" dirty="0"/>
              <a:t>Goal of a supervised learning model: </a:t>
            </a:r>
            <a:r>
              <a:rPr lang="en-US" sz="2000" b="1" dirty="0">
                <a:solidFill>
                  <a:srgbClr val="C00000"/>
                </a:solidFill>
              </a:rPr>
              <a:t>predict the labels</a:t>
            </a:r>
            <a:r>
              <a:rPr lang="en-US" sz="2000" dirty="0"/>
              <a:t>.</a:t>
            </a:r>
            <a:endParaRPr lang="en-IN" sz="2000" dirty="0"/>
          </a:p>
        </p:txBody>
      </p:sp>
      <p:pic>
        <p:nvPicPr>
          <p:cNvPr id="5" name="Picture 4" descr="A cartoon of a factory&#10;&#10;Description automatically generated">
            <a:extLst>
              <a:ext uri="{FF2B5EF4-FFF2-40B4-BE49-F238E27FC236}">
                <a16:creationId xmlns:a16="http://schemas.microsoft.com/office/drawing/2014/main" id="{93191579-E469-5173-4EF6-BD48B8DCD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984778"/>
            <a:ext cx="5431540" cy="290439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608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8125D-BB5C-2875-E58B-F20B4BBBE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labeled datasets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86DC1-CA7D-ED08-049D-0E399D998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7184570" cy="4237718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Numbers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states</a:t>
            </a:r>
            <a:r>
              <a:rPr lang="en-US" dirty="0"/>
              <a:t> are the two types of data used in supervised learning models. </a:t>
            </a:r>
          </a:p>
          <a:p>
            <a:endParaRPr lang="en-US" dirty="0"/>
          </a:p>
          <a:p>
            <a:r>
              <a:rPr lang="en-US" dirty="0"/>
              <a:t>In this dataset, the labels are </a:t>
            </a:r>
            <a:r>
              <a:rPr lang="en-US" dirty="0">
                <a:solidFill>
                  <a:srgbClr val="C00000"/>
                </a:solidFill>
              </a:rPr>
              <a:t>numbers</a:t>
            </a:r>
            <a:r>
              <a:rPr lang="en-US" dirty="0"/>
              <a:t>.</a:t>
            </a:r>
          </a:p>
          <a:p>
            <a:r>
              <a:rPr lang="en-US" dirty="0"/>
              <a:t>We call this type - </a:t>
            </a:r>
            <a:r>
              <a:rPr lang="en-US" dirty="0">
                <a:solidFill>
                  <a:srgbClr val="C00000"/>
                </a:solidFill>
              </a:rPr>
              <a:t>numerical data</a:t>
            </a:r>
            <a:endParaRPr lang="en-US" dirty="0"/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numerical data </a:t>
            </a:r>
            <a:r>
              <a:rPr lang="en-US" dirty="0"/>
              <a:t>- is any type of data that uses numbers such as 4, 2.35, or –199. </a:t>
            </a:r>
          </a:p>
          <a:p>
            <a:r>
              <a:rPr lang="en-US" dirty="0"/>
              <a:t>Example: prices, sizes, or weights.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587CD2-7940-8F1F-9F32-C9155063BD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898" r="33662"/>
          <a:stretch/>
        </p:blipFill>
        <p:spPr>
          <a:xfrm>
            <a:off x="8447315" y="258083"/>
            <a:ext cx="3298371" cy="44862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907882-2C2A-867C-F12F-26C0A55813AD}"/>
              </a:ext>
            </a:extLst>
          </p:cNvPr>
          <p:cNvSpPr txBox="1"/>
          <p:nvPr/>
        </p:nvSpPr>
        <p:spPr>
          <a:xfrm>
            <a:off x="8447315" y="5010835"/>
            <a:ext cx="3298371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/>
              <a:t>In this example, each data point in the dataset is labeled with the </a:t>
            </a:r>
            <a:r>
              <a:rPr lang="en-US" sz="2000" dirty="0">
                <a:solidFill>
                  <a:srgbClr val="C00000"/>
                </a:solidFill>
              </a:rPr>
              <a:t>weight of the animal</a:t>
            </a:r>
            <a:r>
              <a:rPr lang="en-US" sz="2000" dirty="0"/>
              <a:t>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743502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8125D-BB5C-2875-E58B-F20B4BBBE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labeled datasets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86DC1-CA7D-ED08-049D-0E399D998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596742" cy="423771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 this dataset, </a:t>
            </a:r>
            <a:r>
              <a:rPr lang="en-IN" dirty="0"/>
              <a:t>the labels are </a:t>
            </a:r>
            <a:r>
              <a:rPr lang="en-IN" dirty="0">
                <a:solidFill>
                  <a:srgbClr val="C00000"/>
                </a:solidFill>
              </a:rPr>
              <a:t>states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US" dirty="0"/>
              <a:t>We call this type - </a:t>
            </a:r>
            <a:r>
              <a:rPr lang="en-US" dirty="0">
                <a:solidFill>
                  <a:srgbClr val="C00000"/>
                </a:solidFill>
              </a:rPr>
              <a:t>categorical data</a:t>
            </a:r>
            <a:r>
              <a:rPr lang="en-US" dirty="0"/>
              <a:t>.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categorical data</a:t>
            </a:r>
            <a:r>
              <a:rPr lang="en-US" dirty="0"/>
              <a:t> - is any type of data that uses categories, or states, such as male/female or cat/dog/bird. </a:t>
            </a:r>
          </a:p>
          <a:p>
            <a:endParaRPr lang="en-US" dirty="0"/>
          </a:p>
          <a:p>
            <a:r>
              <a:rPr lang="en-US" dirty="0"/>
              <a:t>For this type of data, we have a </a:t>
            </a:r>
            <a:r>
              <a:rPr lang="en-US" dirty="0">
                <a:solidFill>
                  <a:srgbClr val="FF0000"/>
                </a:solidFill>
              </a:rPr>
              <a:t>finite set of categories</a:t>
            </a:r>
            <a:r>
              <a:rPr lang="en-US" dirty="0"/>
              <a:t> to associate to each of the data points.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587CD2-7940-8F1F-9F32-C9155063BD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42" r="66867"/>
          <a:stretch/>
        </p:blipFill>
        <p:spPr>
          <a:xfrm>
            <a:off x="8011885" y="1270455"/>
            <a:ext cx="3156858" cy="44862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7091A1-BA65-7066-B6ED-A769882D8F24}"/>
              </a:ext>
            </a:extLst>
          </p:cNvPr>
          <p:cNvSpPr txBox="1"/>
          <p:nvPr/>
        </p:nvSpPr>
        <p:spPr>
          <a:xfrm>
            <a:off x="7717971" y="5765801"/>
            <a:ext cx="3744686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each data point in the dataset is labeled with the </a:t>
            </a:r>
            <a:r>
              <a:rPr lang="en-US" dirty="0">
                <a:solidFill>
                  <a:srgbClr val="C00000"/>
                </a:solidFill>
              </a:rPr>
              <a:t>type of animal </a:t>
            </a:r>
            <a:r>
              <a:rPr lang="en-US" dirty="0"/>
              <a:t>(dog or cat)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57098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53492-351F-57C2-5EA1-ECEB2329E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supervised learning models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32D5E-9A6A-A9B2-7B3F-3B61AA491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regression models </a:t>
            </a:r>
            <a:r>
              <a:rPr lang="en-US" dirty="0"/>
              <a:t>are the types of models that </a:t>
            </a:r>
            <a:r>
              <a:rPr lang="en-US" b="1" dirty="0">
                <a:solidFill>
                  <a:srgbClr val="00B050"/>
                </a:solidFill>
              </a:rPr>
              <a:t>predict numerical data</a:t>
            </a:r>
            <a:r>
              <a:rPr lang="en-US" dirty="0"/>
              <a:t>. </a:t>
            </a:r>
          </a:p>
          <a:p>
            <a:r>
              <a:rPr lang="en-US" dirty="0"/>
              <a:t>The </a:t>
            </a:r>
            <a:r>
              <a:rPr lang="en-US" b="1" dirty="0"/>
              <a:t>output </a:t>
            </a:r>
            <a:r>
              <a:rPr lang="en-US" dirty="0"/>
              <a:t>of a regression model is a </a:t>
            </a:r>
            <a:r>
              <a:rPr lang="en-US" b="1" dirty="0"/>
              <a:t>number</a:t>
            </a:r>
            <a:r>
              <a:rPr lang="en-US" dirty="0"/>
              <a:t>, such as the </a:t>
            </a:r>
            <a:r>
              <a:rPr lang="en-US" b="1" dirty="0"/>
              <a:t>weight of the animal</a:t>
            </a:r>
            <a:r>
              <a:rPr lang="en-US" dirty="0"/>
              <a:t>. 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classification models</a:t>
            </a:r>
            <a:r>
              <a:rPr lang="en-US" dirty="0"/>
              <a:t> are the types of models that </a:t>
            </a:r>
            <a:r>
              <a:rPr lang="en-US" dirty="0">
                <a:solidFill>
                  <a:srgbClr val="00B050"/>
                </a:solidFill>
              </a:rPr>
              <a:t>predict </a:t>
            </a:r>
            <a:r>
              <a:rPr lang="en-US" b="1" dirty="0">
                <a:solidFill>
                  <a:srgbClr val="00B050"/>
                </a:solidFill>
              </a:rPr>
              <a:t>categorical data</a:t>
            </a:r>
            <a:r>
              <a:rPr lang="en-US" dirty="0"/>
              <a:t>. </a:t>
            </a:r>
          </a:p>
          <a:p>
            <a:r>
              <a:rPr lang="en-US" dirty="0"/>
              <a:t>The </a:t>
            </a:r>
            <a:r>
              <a:rPr lang="en-US" b="1" dirty="0"/>
              <a:t>output</a:t>
            </a:r>
            <a:r>
              <a:rPr lang="en-US" dirty="0"/>
              <a:t> of a classification model is a </a:t>
            </a:r>
            <a:r>
              <a:rPr lang="en-US" b="1" dirty="0"/>
              <a:t>category</a:t>
            </a:r>
            <a:r>
              <a:rPr lang="en-US" dirty="0"/>
              <a:t>, or a state, such as the type of animal (</a:t>
            </a:r>
            <a:r>
              <a:rPr lang="en-US" b="1" dirty="0"/>
              <a:t>cat or dog</a:t>
            </a:r>
            <a:r>
              <a:rPr lang="en-US" dirty="0"/>
              <a:t>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8272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64C97A-8D06-82FB-A2C5-BF5390268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 dirty="0"/>
              <a:t>Example of regression model</a:t>
            </a:r>
            <a:endParaRPr lang="en-IN" sz="38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CC190-4376-59B5-851B-F9C4C5E73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5" y="2807208"/>
            <a:ext cx="3984607" cy="3680678"/>
          </a:xfrm>
        </p:spPr>
        <p:txBody>
          <a:bodyPr anchor="t">
            <a:normAutofit/>
          </a:bodyPr>
          <a:lstStyle/>
          <a:p>
            <a:r>
              <a:rPr lang="en-US" sz="2100" b="1" dirty="0"/>
              <a:t>Model 1</a:t>
            </a:r>
            <a:r>
              <a:rPr lang="en-US" sz="2100" dirty="0"/>
              <a:t>: </a:t>
            </a:r>
            <a:r>
              <a:rPr lang="en-US" sz="2100" dirty="0">
                <a:solidFill>
                  <a:srgbClr val="C00000"/>
                </a:solidFill>
              </a:rPr>
              <a:t>housing prices </a:t>
            </a:r>
            <a:r>
              <a:rPr lang="en-US" sz="2100" dirty="0"/>
              <a:t>model. </a:t>
            </a:r>
          </a:p>
          <a:p>
            <a:r>
              <a:rPr lang="en-US" sz="2100" dirty="0"/>
              <a:t>Each </a:t>
            </a:r>
            <a:r>
              <a:rPr lang="en-US" sz="2100" b="1" dirty="0"/>
              <a:t>data point</a:t>
            </a:r>
            <a:r>
              <a:rPr lang="en-US" sz="2100" dirty="0"/>
              <a:t> is a </a:t>
            </a:r>
            <a:r>
              <a:rPr lang="en-US" sz="2100" b="1" dirty="0"/>
              <a:t>house</a:t>
            </a:r>
            <a:r>
              <a:rPr lang="en-US" sz="2100" dirty="0"/>
              <a:t>. </a:t>
            </a:r>
          </a:p>
          <a:p>
            <a:r>
              <a:rPr lang="en-US" sz="2100" dirty="0"/>
              <a:t>The </a:t>
            </a:r>
            <a:r>
              <a:rPr lang="en-US" sz="2100" b="1" dirty="0"/>
              <a:t>label </a:t>
            </a:r>
            <a:r>
              <a:rPr lang="en-US" sz="2100" dirty="0"/>
              <a:t>of each house is its </a:t>
            </a:r>
            <a:r>
              <a:rPr lang="en-US" sz="2100" b="1" dirty="0"/>
              <a:t>price</a:t>
            </a:r>
            <a:r>
              <a:rPr lang="en-US" sz="2100" dirty="0"/>
              <a:t>. </a:t>
            </a:r>
          </a:p>
          <a:p>
            <a:r>
              <a:rPr lang="en-US" sz="2100" dirty="0"/>
              <a:t>Goal: when a </a:t>
            </a:r>
            <a:r>
              <a:rPr lang="en-US" sz="2100" dirty="0">
                <a:solidFill>
                  <a:srgbClr val="FF0000"/>
                </a:solidFill>
              </a:rPr>
              <a:t>new house </a:t>
            </a:r>
            <a:r>
              <a:rPr lang="en-US" sz="2100" dirty="0"/>
              <a:t>(data point) comes on the market, we would like to </a:t>
            </a:r>
            <a:r>
              <a:rPr lang="en-US" sz="2100" dirty="0">
                <a:solidFill>
                  <a:srgbClr val="FF0000"/>
                </a:solidFill>
              </a:rPr>
              <a:t>predict its label </a:t>
            </a:r>
            <a:r>
              <a:rPr lang="en-US" sz="2100" dirty="0"/>
              <a:t>(price). </a:t>
            </a:r>
            <a:endParaRPr lang="en-IN" sz="2100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9AB042AF-4D69-0307-2D59-1F17E08016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58" t="22491" r="48809" b="26100"/>
          <a:stretch/>
        </p:blipFill>
        <p:spPr>
          <a:xfrm>
            <a:off x="5100610" y="1389081"/>
            <a:ext cx="6903720" cy="4079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2686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B95770-53C2-35A6-5AD3-C813FFBEF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 dirty="0"/>
              <a:t>Example of classification model</a:t>
            </a:r>
            <a:endParaRPr lang="en-IN" sz="38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74702-7CE4-E61F-4873-D0B8A1331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5" y="2807208"/>
            <a:ext cx="4692179" cy="3410712"/>
          </a:xfrm>
        </p:spPr>
        <p:txBody>
          <a:bodyPr anchor="t">
            <a:normAutofit/>
          </a:bodyPr>
          <a:lstStyle/>
          <a:p>
            <a:r>
              <a:rPr lang="en-US" sz="2100" b="1" dirty="0"/>
              <a:t>Model 2</a:t>
            </a:r>
            <a:r>
              <a:rPr lang="en-US" sz="2100" dirty="0"/>
              <a:t>: email spam–detection model. </a:t>
            </a:r>
          </a:p>
          <a:p>
            <a:r>
              <a:rPr lang="en-US" sz="2100" dirty="0"/>
              <a:t>Each </a:t>
            </a:r>
            <a:r>
              <a:rPr lang="en-US" sz="2100" b="1" dirty="0"/>
              <a:t>data point </a:t>
            </a:r>
            <a:r>
              <a:rPr lang="en-US" sz="2100" dirty="0"/>
              <a:t>is an </a:t>
            </a:r>
            <a:r>
              <a:rPr lang="en-US" sz="2100" b="1" dirty="0"/>
              <a:t>email</a:t>
            </a:r>
            <a:r>
              <a:rPr lang="en-US" sz="2100" dirty="0"/>
              <a:t>. </a:t>
            </a:r>
          </a:p>
          <a:p>
            <a:r>
              <a:rPr lang="en-US" sz="2100" dirty="0"/>
              <a:t>The label of each email is either </a:t>
            </a:r>
            <a:r>
              <a:rPr lang="en-US" sz="2100" b="1" dirty="0">
                <a:solidFill>
                  <a:srgbClr val="FF0000"/>
                </a:solidFill>
              </a:rPr>
              <a:t>spam or ham</a:t>
            </a:r>
            <a:r>
              <a:rPr lang="en-US" sz="2100" dirty="0"/>
              <a:t>. </a:t>
            </a:r>
          </a:p>
          <a:p>
            <a:r>
              <a:rPr lang="en-US" sz="2100" dirty="0"/>
              <a:t>Goal: when a </a:t>
            </a:r>
            <a:r>
              <a:rPr lang="en-US" sz="2100" b="1" dirty="0">
                <a:solidFill>
                  <a:srgbClr val="FF0000"/>
                </a:solidFill>
              </a:rPr>
              <a:t>new</a:t>
            </a:r>
            <a:r>
              <a:rPr lang="en-US" sz="2100" dirty="0"/>
              <a:t> email (data point) comes into our inbox, we would like to </a:t>
            </a:r>
            <a:r>
              <a:rPr lang="en-US" sz="2100" dirty="0">
                <a:solidFill>
                  <a:srgbClr val="FF0000"/>
                </a:solidFill>
              </a:rPr>
              <a:t>predict its label (</a:t>
            </a:r>
            <a:r>
              <a:rPr lang="en-US" sz="2100" dirty="0"/>
              <a:t>whether it is </a:t>
            </a:r>
            <a:r>
              <a:rPr lang="en-US" sz="2100" b="1" dirty="0"/>
              <a:t>spam</a:t>
            </a:r>
            <a:r>
              <a:rPr lang="en-US" sz="2100" dirty="0"/>
              <a:t> or </a:t>
            </a:r>
            <a:r>
              <a:rPr lang="en-US" sz="2100" b="1" dirty="0"/>
              <a:t>ham)</a:t>
            </a:r>
            <a:r>
              <a:rPr lang="en-US" sz="2100" dirty="0"/>
              <a:t>.</a:t>
            </a:r>
            <a:endParaRPr lang="en-IN" sz="21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F14688-C5ED-1793-6FF0-1876ABD628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58" t="22491" r="39046" b="18530"/>
          <a:stretch/>
        </p:blipFill>
        <p:spPr>
          <a:xfrm>
            <a:off x="5616591" y="1499056"/>
            <a:ext cx="6387302" cy="3895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1168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3C7F6-5038-113A-C599-46FDB7557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Examples of supervised learning models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53413-9A4C-C358-C955-F301309A5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Difference between models 1 and 2.</a:t>
            </a:r>
          </a:p>
          <a:p>
            <a:endParaRPr lang="en-US" dirty="0"/>
          </a:p>
          <a:p>
            <a:r>
              <a:rPr lang="en-US" b="1" dirty="0"/>
              <a:t>Housing prices model</a:t>
            </a:r>
            <a:r>
              <a:rPr lang="en-US" dirty="0"/>
              <a:t>, can return a </a:t>
            </a:r>
            <a:r>
              <a:rPr lang="en-US" dirty="0">
                <a:solidFill>
                  <a:srgbClr val="FF0000"/>
                </a:solidFill>
              </a:rPr>
              <a:t>number</a:t>
            </a:r>
            <a:r>
              <a:rPr lang="en-US" dirty="0"/>
              <a:t> from many possibilities, such as $100, $250,000, or $3,125,672.33. </a:t>
            </a:r>
          </a:p>
          <a:p>
            <a:r>
              <a:rPr lang="en-US" dirty="0"/>
              <a:t>Thus, it is a regression model. 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spam detection model</a:t>
            </a:r>
            <a:r>
              <a:rPr lang="en-US" dirty="0"/>
              <a:t>, can return only two things: </a:t>
            </a:r>
            <a:r>
              <a:rPr lang="en-US" dirty="0">
                <a:solidFill>
                  <a:srgbClr val="FF0000"/>
                </a:solidFill>
              </a:rPr>
              <a:t>spam or ham</a:t>
            </a:r>
            <a:r>
              <a:rPr lang="en-US" dirty="0"/>
              <a:t>. Thus, it is a classification model.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69409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DF26B-9356-4720-FBCB-6A870E440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Regression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0757D-4D0A-5F69-5698-8FCD02EBB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Predict numbers based on the features</a:t>
            </a:r>
          </a:p>
          <a:p>
            <a:r>
              <a:rPr lang="en-US" dirty="0"/>
              <a:t>In the housing example, the </a:t>
            </a:r>
            <a:r>
              <a:rPr lang="en-US" dirty="0">
                <a:solidFill>
                  <a:srgbClr val="C00000"/>
                </a:solidFill>
              </a:rPr>
              <a:t>features</a:t>
            </a:r>
            <a:r>
              <a:rPr lang="en-US" dirty="0"/>
              <a:t> can be anything that describes a house, such as the </a:t>
            </a:r>
            <a:r>
              <a:rPr lang="en-US" b="1" dirty="0"/>
              <a:t>size</a:t>
            </a:r>
            <a:r>
              <a:rPr lang="en-US" dirty="0"/>
              <a:t>, </a:t>
            </a:r>
            <a:r>
              <a:rPr lang="en-US" b="1" dirty="0"/>
              <a:t>the number of rooms</a:t>
            </a:r>
            <a:r>
              <a:rPr lang="en-US" dirty="0"/>
              <a:t>, the </a:t>
            </a:r>
            <a:r>
              <a:rPr lang="en-US" b="1" dirty="0"/>
              <a:t>distance to the closest school</a:t>
            </a:r>
            <a:r>
              <a:rPr lang="en-US" dirty="0"/>
              <a:t>, or the </a:t>
            </a:r>
            <a:r>
              <a:rPr lang="en-US" b="1" dirty="0"/>
              <a:t>crime rate in the neighborhood</a:t>
            </a:r>
            <a:r>
              <a:rPr lang="en-US" dirty="0"/>
              <a:t>.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7E262C-679E-FD0C-FDAD-C91FC659D2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813876"/>
              </p:ext>
            </p:extLst>
          </p:nvPr>
        </p:nvGraphicFramePr>
        <p:xfrm>
          <a:off x="838201" y="4257523"/>
          <a:ext cx="9851572" cy="16425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7495">
                  <a:extLst>
                    <a:ext uri="{9D8B030D-6E8A-4147-A177-3AD203B41FA5}">
                      <a16:colId xmlns:a16="http://schemas.microsoft.com/office/drawing/2014/main" val="706654020"/>
                    </a:ext>
                  </a:extLst>
                </a:gridCol>
                <a:gridCol w="1647047">
                  <a:extLst>
                    <a:ext uri="{9D8B030D-6E8A-4147-A177-3AD203B41FA5}">
                      <a16:colId xmlns:a16="http://schemas.microsoft.com/office/drawing/2014/main" val="4056785653"/>
                    </a:ext>
                  </a:extLst>
                </a:gridCol>
                <a:gridCol w="2119279">
                  <a:extLst>
                    <a:ext uri="{9D8B030D-6E8A-4147-A177-3AD203B41FA5}">
                      <a16:colId xmlns:a16="http://schemas.microsoft.com/office/drawing/2014/main" val="1557568759"/>
                    </a:ext>
                  </a:extLst>
                </a:gridCol>
                <a:gridCol w="3236505">
                  <a:extLst>
                    <a:ext uri="{9D8B030D-6E8A-4147-A177-3AD203B41FA5}">
                      <a16:colId xmlns:a16="http://schemas.microsoft.com/office/drawing/2014/main" val="3788619419"/>
                    </a:ext>
                  </a:extLst>
                </a:gridCol>
                <a:gridCol w="1451246">
                  <a:extLst>
                    <a:ext uri="{9D8B030D-6E8A-4147-A177-3AD203B41FA5}">
                      <a16:colId xmlns:a16="http://schemas.microsoft.com/office/drawing/2014/main" val="3427719270"/>
                    </a:ext>
                  </a:extLst>
                </a:gridCol>
              </a:tblGrid>
              <a:tr h="547511">
                <a:tc>
                  <a:txBody>
                    <a:bodyPr/>
                    <a:lstStyle/>
                    <a:p>
                      <a:r>
                        <a:rPr lang="en-US" b="1" dirty="0"/>
                        <a:t>House size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No. of rooms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Distance to school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Crime rate in the neighborhood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Price 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303959"/>
                  </a:ext>
                </a:extLst>
              </a:tr>
              <a:tr h="54751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IDV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IDV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IDV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IDV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DV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2501667"/>
                  </a:ext>
                </a:extLst>
              </a:tr>
              <a:tr h="547511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634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30712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508B3-EAA4-BD03-3CCA-DFACD3DAC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applications of regression model: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35ECA-987B-7220-264A-5158F842B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Stock market</a:t>
            </a:r>
            <a:r>
              <a:rPr lang="en-US" dirty="0"/>
              <a:t>: predicting the price of a certain stock based on other stock prices and other market signals</a:t>
            </a:r>
          </a:p>
          <a:p>
            <a:endParaRPr lang="en-US" b="1" dirty="0"/>
          </a:p>
          <a:p>
            <a:r>
              <a:rPr lang="en-US" b="1" dirty="0">
                <a:solidFill>
                  <a:srgbClr val="C00000"/>
                </a:solidFill>
              </a:rPr>
              <a:t>Medicine</a:t>
            </a:r>
            <a:r>
              <a:rPr lang="en-US" dirty="0"/>
              <a:t>: predicting the expected life span of a patient or the expected recovery time, based on symptoms and the medical history of the patient</a:t>
            </a:r>
          </a:p>
          <a:p>
            <a:endParaRPr lang="en-US" b="1" dirty="0"/>
          </a:p>
          <a:p>
            <a:r>
              <a:rPr lang="en-US" b="1" dirty="0">
                <a:solidFill>
                  <a:srgbClr val="C00000"/>
                </a:solidFill>
              </a:rPr>
              <a:t>Sales</a:t>
            </a:r>
            <a:r>
              <a:rPr lang="en-US" dirty="0"/>
              <a:t>: predicting the expected amount of money a customer will spend, based on the client’s demographics and past purchase behavior </a:t>
            </a:r>
          </a:p>
          <a:p>
            <a:endParaRPr lang="en-US" b="1" dirty="0"/>
          </a:p>
          <a:p>
            <a:r>
              <a:rPr lang="en-US" b="1" dirty="0">
                <a:solidFill>
                  <a:srgbClr val="C00000"/>
                </a:solidFill>
              </a:rPr>
              <a:t>Video recommendations</a:t>
            </a:r>
            <a:r>
              <a:rPr lang="en-US" dirty="0"/>
              <a:t>: predicting the expected amount of time a user will watch a video, based on the user’s demographics and other videos they have watched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44602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2A842D-F7DA-CAC6-0E56-6DF9B6FC3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 dirty="0"/>
              <a:t>Linear regression</a:t>
            </a:r>
            <a:endParaRPr lang="en-IN" sz="5400" dirty="0"/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9DAE7-16E3-C837-AC5C-21BA3EB21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5" y="2807208"/>
            <a:ext cx="3766893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The most common method used for regression is </a:t>
            </a:r>
            <a:r>
              <a:rPr lang="en-US" sz="2200" b="1" dirty="0"/>
              <a:t>linear regression</a:t>
            </a:r>
            <a:r>
              <a:rPr lang="en-US" sz="2200" dirty="0"/>
              <a:t>, which uses linear functions (lines or similar objects) to make our predictions based on the features.</a:t>
            </a:r>
            <a:endParaRPr lang="en-IN" sz="2200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EBCE0245-FC89-4762-3932-F1B5326FDD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58" t="22491" r="48809" b="26100"/>
          <a:stretch/>
        </p:blipFill>
        <p:spPr>
          <a:xfrm>
            <a:off x="4654296" y="1389081"/>
            <a:ext cx="6903720" cy="4079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2286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CF85BA-FA22-BBB1-BB78-CC02848F1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IN" sz="4800" dirty="0"/>
              <a:t>Unsupervised learning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A3E78-89B6-A56A-D9DD-62743FFE9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400" dirty="0"/>
              <a:t>Machine learning algorithms that works with </a:t>
            </a:r>
            <a:r>
              <a:rPr lang="en-US" sz="2400" dirty="0">
                <a:solidFill>
                  <a:srgbClr val="BD0372"/>
                </a:solidFill>
              </a:rPr>
              <a:t>unlabeled data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MLA must </a:t>
            </a:r>
            <a:r>
              <a:rPr lang="en-US" sz="2400" dirty="0">
                <a:solidFill>
                  <a:srgbClr val="BD0372"/>
                </a:solidFill>
              </a:rPr>
              <a:t>extract as much information </a:t>
            </a:r>
            <a:r>
              <a:rPr lang="en-US" sz="2400" dirty="0"/>
              <a:t>as possible from a dataset (has no labels, or targets) to predict.</a:t>
            </a:r>
          </a:p>
          <a:p>
            <a:r>
              <a:rPr lang="en-US" sz="2400" dirty="0"/>
              <a:t>Determine - two pictures are </a:t>
            </a:r>
            <a:r>
              <a:rPr lang="en-US" sz="2400" b="1" dirty="0">
                <a:solidFill>
                  <a:srgbClr val="BD0372"/>
                </a:solidFill>
              </a:rPr>
              <a:t>similar or different</a:t>
            </a:r>
            <a:endParaRPr lang="en-IN" sz="2400" b="1" dirty="0">
              <a:solidFill>
                <a:srgbClr val="BD037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F51AD5-D28B-8CC9-039A-1D25C953A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6143" y="2471057"/>
            <a:ext cx="5777219" cy="376790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3683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BC2B6-D7AD-FF96-9E2B-ADDB6E402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/>
              <a:t>Unsupervised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81E5F-05D2-FC92-F03E-FD1201716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Even if the labels are there, we can still use </a:t>
            </a:r>
            <a:r>
              <a:rPr lang="en-US" dirty="0">
                <a:solidFill>
                  <a:srgbClr val="C00000"/>
                </a:solidFill>
              </a:rPr>
              <a:t>unsupervised learning </a:t>
            </a:r>
            <a:r>
              <a:rPr lang="en-US" dirty="0"/>
              <a:t>techniques on our data </a:t>
            </a:r>
            <a:r>
              <a:rPr lang="en-US" b="1" dirty="0"/>
              <a:t>to preprocess </a:t>
            </a:r>
            <a:r>
              <a:rPr lang="en-US" dirty="0"/>
              <a:t>it and apply supervised learning methods more effectively.</a:t>
            </a:r>
          </a:p>
          <a:p>
            <a:pPr algn="just"/>
            <a:endParaRPr lang="en-US" dirty="0"/>
          </a:p>
          <a:p>
            <a:pPr algn="just"/>
            <a:r>
              <a:rPr lang="en-US" b="1" dirty="0">
                <a:solidFill>
                  <a:srgbClr val="BD0372"/>
                </a:solidFill>
              </a:rPr>
              <a:t>clustering algorithms </a:t>
            </a:r>
            <a:r>
              <a:rPr lang="en-US" dirty="0"/>
              <a:t>The algorithms that group data into clusters based on </a:t>
            </a:r>
            <a:r>
              <a:rPr lang="en-US" dirty="0">
                <a:solidFill>
                  <a:srgbClr val="00B050"/>
                </a:solidFill>
              </a:rPr>
              <a:t>similarity</a:t>
            </a:r>
            <a:r>
              <a:rPr lang="en-US" dirty="0"/>
              <a:t>.</a:t>
            </a:r>
          </a:p>
          <a:p>
            <a:pPr algn="just"/>
            <a:endParaRPr lang="en-IN" b="1" dirty="0">
              <a:solidFill>
                <a:srgbClr val="BD0372"/>
              </a:solidFill>
            </a:endParaRPr>
          </a:p>
          <a:p>
            <a:pPr algn="just"/>
            <a:r>
              <a:rPr lang="en-IN" b="1" dirty="0">
                <a:solidFill>
                  <a:srgbClr val="BD0372"/>
                </a:solidFill>
              </a:rPr>
              <a:t>dimensionality reduction algorithms </a:t>
            </a:r>
            <a:r>
              <a:rPr lang="en-US" dirty="0"/>
              <a:t>The algorithms that simplify our data and describe it with </a:t>
            </a:r>
            <a:r>
              <a:rPr lang="en-US" dirty="0">
                <a:solidFill>
                  <a:srgbClr val="00B050"/>
                </a:solidFill>
              </a:rPr>
              <a:t>fewer features</a:t>
            </a:r>
          </a:p>
          <a:p>
            <a:pPr algn="just"/>
            <a:endParaRPr lang="en-US" b="1" dirty="0">
              <a:solidFill>
                <a:srgbClr val="BD0372"/>
              </a:solidFill>
            </a:endParaRPr>
          </a:p>
          <a:p>
            <a:pPr algn="just"/>
            <a:r>
              <a:rPr lang="en-US" b="1" dirty="0">
                <a:solidFill>
                  <a:srgbClr val="BD0372"/>
                </a:solidFill>
              </a:rPr>
              <a:t>generative algorithms</a:t>
            </a:r>
            <a:r>
              <a:rPr lang="en-US" dirty="0"/>
              <a:t> The algorithms that can generate </a:t>
            </a:r>
            <a:r>
              <a:rPr lang="en-US" dirty="0">
                <a:solidFill>
                  <a:srgbClr val="00B050"/>
                </a:solidFill>
              </a:rPr>
              <a:t>new data </a:t>
            </a:r>
            <a:r>
              <a:rPr lang="en-US" dirty="0"/>
              <a:t>points that resemble the existing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79434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98E01-3F9D-3AC0-5C1B-510B7282A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371" y="5725886"/>
            <a:ext cx="11136086" cy="896031"/>
          </a:xfrm>
          <a:solidFill>
            <a:srgbClr val="FFFFCC"/>
          </a:solidFill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Clustering is an unsupervised machine learning - group the elements in our dataset into clusters where all the data points are similar. 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F9EDF-6BF2-DA19-C796-9E0B21962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4548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Consider the two datasets used in “Supervised learning”—the </a:t>
            </a:r>
            <a:r>
              <a:rPr lang="en-US" dirty="0">
                <a:solidFill>
                  <a:srgbClr val="BD0372"/>
                </a:solidFill>
              </a:rPr>
              <a:t>housing dataset </a:t>
            </a:r>
            <a:r>
              <a:rPr lang="en-US" dirty="0"/>
              <a:t>and the </a:t>
            </a:r>
            <a:r>
              <a:rPr lang="en-US" dirty="0">
                <a:solidFill>
                  <a:srgbClr val="BD0372"/>
                </a:solidFill>
              </a:rPr>
              <a:t>email dataset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Imagine that they have no labels</a:t>
            </a:r>
          </a:p>
          <a:p>
            <a:pPr lvl="1"/>
            <a:r>
              <a:rPr lang="en-US" dirty="0"/>
              <a:t>House price prediction – </a:t>
            </a:r>
            <a:r>
              <a:rPr lang="en-US" b="1" dirty="0"/>
              <a:t>price is not available</a:t>
            </a:r>
          </a:p>
          <a:p>
            <a:pPr lvl="1"/>
            <a:r>
              <a:rPr lang="en-US" dirty="0"/>
              <a:t>Email classification – </a:t>
            </a:r>
            <a:r>
              <a:rPr lang="en-US" b="1" dirty="0"/>
              <a:t>spam or ham is not available</a:t>
            </a:r>
            <a:r>
              <a:rPr lang="en-US" dirty="0"/>
              <a:t>.</a:t>
            </a:r>
          </a:p>
          <a:p>
            <a:endParaRPr lang="en-US" b="1" dirty="0">
              <a:solidFill>
                <a:srgbClr val="BD0372"/>
              </a:solidFill>
            </a:endParaRPr>
          </a:p>
          <a:p>
            <a:r>
              <a:rPr lang="en-US" b="1" dirty="0">
                <a:solidFill>
                  <a:srgbClr val="BD0372"/>
                </a:solidFill>
              </a:rPr>
              <a:t>housing dataset - </a:t>
            </a:r>
            <a:r>
              <a:rPr lang="en-US" dirty="0"/>
              <a:t>What can we do with this dataset? </a:t>
            </a:r>
          </a:p>
          <a:p>
            <a:pPr lvl="1"/>
            <a:r>
              <a:rPr lang="en-US" dirty="0"/>
              <a:t>Here is an idea: we could somehow group the houses by similarity. </a:t>
            </a:r>
          </a:p>
          <a:p>
            <a:pPr lvl="1"/>
            <a:r>
              <a:rPr lang="en-US" dirty="0"/>
              <a:t>For example, we could group them by </a:t>
            </a:r>
            <a:r>
              <a:rPr lang="en-US" b="1" dirty="0"/>
              <a:t>location, size, or a combination </a:t>
            </a:r>
            <a:r>
              <a:rPr lang="en-US" dirty="0"/>
              <a:t>of these factors. </a:t>
            </a:r>
          </a:p>
          <a:p>
            <a:pPr lvl="1"/>
            <a:r>
              <a:rPr lang="en-US" dirty="0"/>
              <a:t>This process is called </a:t>
            </a:r>
            <a:r>
              <a:rPr lang="en-US" b="1" dirty="0"/>
              <a:t>clustering</a:t>
            </a:r>
            <a:r>
              <a:rPr lang="en-US" dirty="0"/>
              <a:t>.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76EE89-FED4-F4DF-4685-148A0D2A532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IN" dirty="0"/>
              <a:t>Clustering </a:t>
            </a:r>
          </a:p>
        </p:txBody>
      </p:sp>
    </p:spTree>
    <p:extLst>
      <p:ext uri="{BB962C8B-B14F-4D97-AF65-F5344CB8AC3E}">
        <p14:creationId xmlns:p14="http://schemas.microsoft.com/office/powerpoint/2010/main" val="33002917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E9184-C078-B70E-CED9-DAC81612D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90C91-100C-698C-6A18-8950F1369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</a:t>
            </a:r>
            <a:r>
              <a:rPr lang="en-US" dirty="0">
                <a:solidFill>
                  <a:srgbClr val="BD0372"/>
                </a:solidFill>
              </a:rPr>
              <a:t>email dataset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The dataset is </a:t>
            </a:r>
            <a:r>
              <a:rPr lang="en-US" dirty="0">
                <a:solidFill>
                  <a:srgbClr val="BD0372"/>
                </a:solidFill>
              </a:rPr>
              <a:t>unlabeled</a:t>
            </a:r>
            <a:r>
              <a:rPr lang="en-US" dirty="0"/>
              <a:t>, we don’t know whether each email is spam or ham.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We can apply some clustering to this dataset. </a:t>
            </a:r>
          </a:p>
          <a:p>
            <a:pPr lvl="1"/>
            <a:r>
              <a:rPr lang="en-US" dirty="0"/>
              <a:t>Group the emails – based on the </a:t>
            </a:r>
            <a:r>
              <a:rPr lang="en-US" dirty="0">
                <a:solidFill>
                  <a:srgbClr val="BD0372"/>
                </a:solidFill>
              </a:rPr>
              <a:t>number of words in the message</a:t>
            </a:r>
            <a:r>
              <a:rPr lang="en-US" dirty="0"/>
              <a:t>, the </a:t>
            </a:r>
            <a:r>
              <a:rPr lang="en-US" dirty="0">
                <a:solidFill>
                  <a:srgbClr val="BD0372"/>
                </a:solidFill>
              </a:rPr>
              <a:t>sender,</a:t>
            </a:r>
            <a:r>
              <a:rPr lang="en-US" dirty="0"/>
              <a:t> the </a:t>
            </a:r>
            <a:r>
              <a:rPr lang="en-US" dirty="0">
                <a:solidFill>
                  <a:srgbClr val="BD0372"/>
                </a:solidFill>
              </a:rPr>
              <a:t>number and size of the attachments</a:t>
            </a:r>
            <a:r>
              <a:rPr lang="en-US" dirty="0"/>
              <a:t>, or the </a:t>
            </a:r>
            <a:r>
              <a:rPr lang="en-US" dirty="0">
                <a:solidFill>
                  <a:srgbClr val="BD0372"/>
                </a:solidFill>
              </a:rPr>
              <a:t>types of links inside </a:t>
            </a:r>
            <a:r>
              <a:rPr lang="en-US" dirty="0"/>
              <a:t>the email. </a:t>
            </a:r>
          </a:p>
          <a:p>
            <a:pPr lvl="1"/>
            <a:r>
              <a:rPr lang="en-US" dirty="0"/>
              <a:t>After clustering the dataset, a human (or a combination of a human and a supervised learning algorithm) could label these clusters by categories such as “</a:t>
            </a:r>
            <a:r>
              <a:rPr lang="en-US" b="1" dirty="0"/>
              <a:t>Personal</a:t>
            </a:r>
            <a:r>
              <a:rPr lang="en-US" dirty="0"/>
              <a:t>,” “</a:t>
            </a:r>
            <a:r>
              <a:rPr lang="en-US" b="1" dirty="0"/>
              <a:t>Social</a:t>
            </a:r>
            <a:r>
              <a:rPr lang="en-US" dirty="0"/>
              <a:t>,” and “</a:t>
            </a:r>
            <a:r>
              <a:rPr lang="en-US" b="1" dirty="0"/>
              <a:t>Promotions</a:t>
            </a:r>
            <a:r>
              <a:rPr lang="en-US" dirty="0"/>
              <a:t>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88906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9DA82B-84BB-64B3-1158-84CC5E4E6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dirty="0"/>
              <a:t>cluster the emails into three categories based on size and number of recipients</a:t>
            </a:r>
            <a:endParaRPr lang="en-US" sz="6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table with numbers and letters&#10;&#10;Description automatically generated">
            <a:extLst>
              <a:ext uri="{FF2B5EF4-FFF2-40B4-BE49-F238E27FC236}">
                <a16:creationId xmlns:a16="http://schemas.microsoft.com/office/drawing/2014/main" id="{516282A0-B1B1-F07C-EBF9-AB6FE52F1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648895"/>
            <a:ext cx="5614416" cy="3593225"/>
          </a:xfrm>
          <a:prstGeom prst="rect">
            <a:avLst/>
          </a:prstGeom>
        </p:spPr>
      </p:pic>
      <p:pic>
        <p:nvPicPr>
          <p:cNvPr id="7" name="Picture 6" descr="A group of black envelopes&#10;&#10;Description automatically generated">
            <a:extLst>
              <a:ext uri="{FF2B5EF4-FFF2-40B4-BE49-F238E27FC236}">
                <a16:creationId xmlns:a16="http://schemas.microsoft.com/office/drawing/2014/main" id="{259961B7-3926-1A56-8D7E-60837B425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999796"/>
            <a:ext cx="5614416" cy="28914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A6E6990-CBBC-B0D2-453E-F17824BF28BC}"/>
              </a:ext>
            </a:extLst>
          </p:cNvPr>
          <p:cNvSpPr txBox="1"/>
          <p:nvPr/>
        </p:nvSpPr>
        <p:spPr>
          <a:xfrm>
            <a:off x="7311282" y="4445507"/>
            <a:ext cx="1132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Personal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DD1DF8-DB2B-2D27-0A38-2C9DAB0D95B7}"/>
              </a:ext>
            </a:extLst>
          </p:cNvPr>
          <p:cNvSpPr txBox="1"/>
          <p:nvPr/>
        </p:nvSpPr>
        <p:spPr>
          <a:xfrm>
            <a:off x="8980716" y="2951564"/>
            <a:ext cx="8926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Social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F90F30-8A3D-0AC3-5CFE-0A455F1A8FD4}"/>
              </a:ext>
            </a:extLst>
          </p:cNvPr>
          <p:cNvSpPr txBox="1"/>
          <p:nvPr/>
        </p:nvSpPr>
        <p:spPr>
          <a:xfrm>
            <a:off x="10291572" y="4260841"/>
            <a:ext cx="1371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Promotions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2223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15" grpId="0"/>
      <p:bldP spid="1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D5E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number of mails&#10;&#10;Description automatically generated">
            <a:extLst>
              <a:ext uri="{FF2B5EF4-FFF2-40B4-BE49-F238E27FC236}">
                <a16:creationId xmlns:a16="http://schemas.microsoft.com/office/drawing/2014/main" id="{C5CEE64B-2D81-128F-6671-0A37CEB09C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9207" y="643467"/>
            <a:ext cx="10713586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2423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7C346-2C9C-B2C5-4B9E-DD6CA7CC5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applications of clustering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9095D-63D2-854E-AE41-4B0AFA55D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b="1" dirty="0">
                <a:solidFill>
                  <a:srgbClr val="BD0372"/>
                </a:solidFill>
              </a:rPr>
              <a:t>Market segmentation</a:t>
            </a:r>
            <a:r>
              <a:rPr lang="en-US" dirty="0"/>
              <a:t>: dividing customers into groups based on demographics and previous purchasing behavior to create different marketing strategies for the groups </a:t>
            </a:r>
          </a:p>
          <a:p>
            <a:pPr algn="just"/>
            <a:endParaRPr lang="en-US" b="1" dirty="0">
              <a:solidFill>
                <a:srgbClr val="BD0372"/>
              </a:solidFill>
            </a:endParaRPr>
          </a:p>
          <a:p>
            <a:pPr algn="just"/>
            <a:r>
              <a:rPr lang="en-US" b="1" dirty="0">
                <a:solidFill>
                  <a:srgbClr val="BD0372"/>
                </a:solidFill>
              </a:rPr>
              <a:t>Genetics</a:t>
            </a:r>
            <a:r>
              <a:rPr lang="en-US" dirty="0"/>
              <a:t>: clustering species into groups based on gene similarity </a:t>
            </a:r>
          </a:p>
          <a:p>
            <a:pPr algn="just"/>
            <a:endParaRPr lang="en-US" b="1" dirty="0">
              <a:solidFill>
                <a:srgbClr val="BD0372"/>
              </a:solidFill>
            </a:endParaRPr>
          </a:p>
          <a:p>
            <a:pPr algn="just"/>
            <a:r>
              <a:rPr lang="en-US" b="1" dirty="0">
                <a:solidFill>
                  <a:srgbClr val="BD0372"/>
                </a:solidFill>
              </a:rPr>
              <a:t>Medical imaging</a:t>
            </a:r>
            <a:r>
              <a:rPr lang="en-US" dirty="0"/>
              <a:t>: splitting an image into different parts to study different types of tissue </a:t>
            </a:r>
          </a:p>
          <a:p>
            <a:pPr algn="just"/>
            <a:endParaRPr lang="en-US" b="1" dirty="0">
              <a:solidFill>
                <a:srgbClr val="BD0372"/>
              </a:solidFill>
            </a:endParaRPr>
          </a:p>
          <a:p>
            <a:pPr algn="just"/>
            <a:r>
              <a:rPr lang="en-US" b="1" dirty="0">
                <a:solidFill>
                  <a:srgbClr val="BD0372"/>
                </a:solidFill>
              </a:rPr>
              <a:t>Video recommendations</a:t>
            </a:r>
            <a:r>
              <a:rPr lang="en-US" dirty="0"/>
              <a:t>: dividing users into groups based on demographics and previous videos watched and using this to recommend to a user the videos that other users in their group have watched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02873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B8E5C-0C56-27F1-8F48-1D7E2FAD4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 clustering algorithms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A5DD0-F1EC-9E1A-8857-CCFC1B0A3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2229"/>
            <a:ext cx="10515600" cy="5094514"/>
          </a:xfrm>
        </p:spPr>
        <p:txBody>
          <a:bodyPr>
            <a:normAutofit fontScale="92500"/>
          </a:bodyPr>
          <a:lstStyle/>
          <a:p>
            <a:r>
              <a:rPr lang="en-US" sz="2400" b="1" dirty="0">
                <a:solidFill>
                  <a:srgbClr val="BD0372"/>
                </a:solidFill>
              </a:rPr>
              <a:t>K-means clustering</a:t>
            </a:r>
            <a:r>
              <a:rPr lang="en-US" sz="2400" dirty="0"/>
              <a:t>: this algorithm groups points by picking some </a:t>
            </a:r>
            <a:r>
              <a:rPr lang="en-US" sz="2400" b="1" dirty="0"/>
              <a:t>random centers </a:t>
            </a:r>
            <a:r>
              <a:rPr lang="en-US" sz="2400" dirty="0"/>
              <a:t>of mass and moving them closer and closer to the points until they are at the right spots. </a:t>
            </a:r>
          </a:p>
          <a:p>
            <a:endParaRPr lang="en-US" sz="2400" b="1" dirty="0">
              <a:solidFill>
                <a:srgbClr val="BD0372"/>
              </a:solidFill>
            </a:endParaRPr>
          </a:p>
          <a:p>
            <a:r>
              <a:rPr lang="en-US" sz="2400" b="1" dirty="0">
                <a:solidFill>
                  <a:srgbClr val="BD0372"/>
                </a:solidFill>
              </a:rPr>
              <a:t>Hierarchical clustering</a:t>
            </a:r>
            <a:r>
              <a:rPr lang="en-US" sz="2400" dirty="0"/>
              <a:t>: this algorithm starts by </a:t>
            </a:r>
            <a:r>
              <a:rPr lang="en-US" sz="2400" b="1" dirty="0"/>
              <a:t>grouping the closest points together </a:t>
            </a:r>
            <a:r>
              <a:rPr lang="en-US" sz="2400" dirty="0"/>
              <a:t>and continuing in this fashion, until we have some well-defined groups. </a:t>
            </a:r>
          </a:p>
          <a:p>
            <a:endParaRPr lang="en-US" sz="2400" b="1" dirty="0">
              <a:solidFill>
                <a:srgbClr val="BD0372"/>
              </a:solidFill>
            </a:endParaRPr>
          </a:p>
          <a:p>
            <a:r>
              <a:rPr lang="en-US" sz="2400" b="1" dirty="0">
                <a:solidFill>
                  <a:srgbClr val="BD0372"/>
                </a:solidFill>
              </a:rPr>
              <a:t>Density-based spatial clustering (DBSCAN):</a:t>
            </a:r>
            <a:r>
              <a:rPr lang="en-US" sz="2400" dirty="0"/>
              <a:t> this algorithm starts </a:t>
            </a:r>
            <a:r>
              <a:rPr lang="en-US" sz="2400" b="1" dirty="0"/>
              <a:t>grouping points together in places with high density</a:t>
            </a:r>
            <a:r>
              <a:rPr lang="en-US" sz="2400" dirty="0"/>
              <a:t>, while labeling the isolated points as noise. </a:t>
            </a:r>
          </a:p>
          <a:p>
            <a:endParaRPr lang="en-US" sz="2400" b="1" dirty="0">
              <a:solidFill>
                <a:srgbClr val="BD0372"/>
              </a:solidFill>
            </a:endParaRPr>
          </a:p>
          <a:p>
            <a:r>
              <a:rPr lang="en-US" sz="2400" b="1" dirty="0">
                <a:solidFill>
                  <a:srgbClr val="BD0372"/>
                </a:solidFill>
              </a:rPr>
              <a:t>Gaussian mixture models</a:t>
            </a:r>
            <a:r>
              <a:rPr lang="en-US" sz="2400" dirty="0"/>
              <a:t>: this algorithm does not assign a point to one cluster but instead assigns fractions of the point to each of the existing clusters. </a:t>
            </a:r>
          </a:p>
          <a:p>
            <a:r>
              <a:rPr lang="en-US" sz="2400" dirty="0"/>
              <a:t>For example, if there are three clusters, A, B, and C, then the algorithm could determine that 60% of a particular point belongs to group A, 25% to group B, and 15% to group C.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976575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6F9C7-BF0E-2B6B-E6F4-0AC105A50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Dimensionality reduction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4B16C-485D-25F4-F240-F92507653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892675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Simplifies data without losing too much information</a:t>
            </a:r>
            <a:endParaRPr lang="en-US" dirty="0"/>
          </a:p>
          <a:p>
            <a:endParaRPr lang="en-US" dirty="0"/>
          </a:p>
          <a:p>
            <a:r>
              <a:rPr lang="en-US" dirty="0"/>
              <a:t>Example: housing dataset</a:t>
            </a:r>
          </a:p>
          <a:p>
            <a:pPr marL="0" indent="0">
              <a:buNone/>
            </a:pPr>
            <a:r>
              <a:rPr lang="en-US" dirty="0"/>
              <a:t>   </a:t>
            </a:r>
          </a:p>
          <a:p>
            <a:pPr marL="0" indent="0">
              <a:buNone/>
            </a:pPr>
            <a:r>
              <a:rPr lang="en-US" dirty="0"/>
              <a:t>   Imagine the features are the following: </a:t>
            </a:r>
          </a:p>
          <a:p>
            <a:pPr lvl="1"/>
            <a:r>
              <a:rPr lang="en-US" dirty="0"/>
              <a:t>C1: Size </a:t>
            </a:r>
          </a:p>
          <a:p>
            <a:pPr lvl="1"/>
            <a:r>
              <a:rPr lang="en-US" dirty="0"/>
              <a:t>C2: Number of bedrooms </a:t>
            </a:r>
          </a:p>
          <a:p>
            <a:pPr lvl="1"/>
            <a:r>
              <a:rPr lang="en-US" dirty="0"/>
              <a:t>C3: Number of bathrooms</a:t>
            </a:r>
          </a:p>
          <a:p>
            <a:pPr lvl="1"/>
            <a:r>
              <a:rPr lang="en-US" dirty="0"/>
              <a:t>C4: Crime rate in the neighborhood </a:t>
            </a:r>
          </a:p>
          <a:p>
            <a:pPr lvl="1"/>
            <a:r>
              <a:rPr lang="en-US" dirty="0"/>
              <a:t>C5: Distance to the closest school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This dataset has </a:t>
            </a:r>
            <a:r>
              <a:rPr lang="en-US" dirty="0">
                <a:solidFill>
                  <a:srgbClr val="BD0372"/>
                </a:solidFill>
              </a:rPr>
              <a:t>five columns </a:t>
            </a:r>
            <a:r>
              <a:rPr lang="en-US" dirty="0"/>
              <a:t>of data. </a:t>
            </a:r>
          </a:p>
          <a:p>
            <a:pPr marL="457200" lvl="1" indent="0">
              <a:buNone/>
            </a:pPr>
            <a:r>
              <a:rPr lang="en-US" dirty="0"/>
              <a:t>What if we wanted to turn the dataset into a simpler one with </a:t>
            </a:r>
            <a:r>
              <a:rPr lang="en-US" b="1" dirty="0"/>
              <a:t>fewer columns</a:t>
            </a:r>
            <a:r>
              <a:rPr lang="en-US" dirty="0"/>
              <a:t>, without losing a lot of information?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3508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2323BA-0350-51BE-316A-16B583CFF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IN" sz="4200" dirty="0"/>
              <a:t>Dimensionality reduction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B4D1E-202B-E257-B8D4-EE1400789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5" y="2807208"/>
            <a:ext cx="3897521" cy="3410712"/>
          </a:xfrm>
        </p:spPr>
        <p:txBody>
          <a:bodyPr anchor="t">
            <a:normAutofit/>
          </a:bodyPr>
          <a:lstStyle/>
          <a:p>
            <a:r>
              <a:rPr lang="en-US" sz="2400" dirty="0"/>
              <a:t>first three features are </a:t>
            </a:r>
            <a:r>
              <a:rPr lang="en-US" sz="2400" b="1" dirty="0"/>
              <a:t>similar</a:t>
            </a:r>
            <a:r>
              <a:rPr lang="en-US" sz="2400" dirty="0"/>
              <a:t>, because they are all related to the </a:t>
            </a:r>
            <a:r>
              <a:rPr lang="en-US" sz="2400" b="1" dirty="0"/>
              <a:t>size</a:t>
            </a:r>
            <a:r>
              <a:rPr lang="en-US" sz="2400" dirty="0"/>
              <a:t> of the house. </a:t>
            </a:r>
          </a:p>
          <a:p>
            <a:r>
              <a:rPr lang="en-US" sz="2400" dirty="0"/>
              <a:t>fourth and fifth features are similar to each other, because they are </a:t>
            </a:r>
            <a:r>
              <a:rPr lang="en-US" sz="2400" b="1" dirty="0"/>
              <a:t>related to the quality of the neighborhood</a:t>
            </a:r>
            <a:r>
              <a:rPr lang="en-US" sz="2400" dirty="0"/>
              <a:t>.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0C158A-E025-80F8-20CE-DD813D6CD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5" y="1694688"/>
            <a:ext cx="7189361" cy="398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0642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D4D24F-0D2C-1793-90A2-9D3E496FC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2300" dirty="0"/>
              <a:t>Clustering &amp; dimensionality reduction </a:t>
            </a:r>
            <a:endParaRPr lang="en-IN" sz="2300" dirty="0"/>
          </a:p>
        </p:txBody>
      </p:sp>
      <p:sp>
        <p:nvSpPr>
          <p:cNvPr id="5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7A881-00AB-C8B1-3BDD-0816E4BF3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272143"/>
            <a:ext cx="7287334" cy="169381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If we have a table full of data, each row corresponds to a data point, and each column corresponds to a feature. </a:t>
            </a:r>
          </a:p>
          <a:p>
            <a:r>
              <a:rPr lang="en-US" sz="2000" dirty="0"/>
              <a:t>we can use </a:t>
            </a:r>
            <a:r>
              <a:rPr lang="en-US" sz="2000" b="1" dirty="0"/>
              <a:t>clustering</a:t>
            </a:r>
            <a:r>
              <a:rPr lang="en-US" sz="2000" dirty="0"/>
              <a:t> to </a:t>
            </a:r>
            <a:r>
              <a:rPr lang="en-US" sz="2000" dirty="0">
                <a:solidFill>
                  <a:srgbClr val="BD0372"/>
                </a:solidFill>
              </a:rPr>
              <a:t>reduce the number of rows </a:t>
            </a:r>
            <a:r>
              <a:rPr lang="en-US" sz="2000" dirty="0"/>
              <a:t>in our dataset and </a:t>
            </a:r>
            <a:r>
              <a:rPr lang="en-US" sz="2000" b="1" dirty="0"/>
              <a:t>dimensionality reduction </a:t>
            </a:r>
            <a:r>
              <a:rPr lang="en-US" sz="2000" dirty="0">
                <a:solidFill>
                  <a:srgbClr val="BD0372"/>
                </a:solidFill>
              </a:rPr>
              <a:t>to reduce the number of columns</a:t>
            </a:r>
            <a:endParaRPr lang="en-IN" sz="2000" dirty="0">
              <a:solidFill>
                <a:srgbClr val="BD0372"/>
              </a:solidFill>
            </a:endParaRPr>
          </a:p>
        </p:txBody>
      </p:sp>
      <p:pic>
        <p:nvPicPr>
          <p:cNvPr id="5" name="Picture 4" descr="A diagram of a clustering data&#10;&#10;Description automatically generated">
            <a:extLst>
              <a:ext uri="{FF2B5EF4-FFF2-40B4-BE49-F238E27FC236}">
                <a16:creationId xmlns:a16="http://schemas.microsoft.com/office/drawing/2014/main" id="{9DE14613-5523-2DD9-E3CE-3A0875372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27" y="2596393"/>
            <a:ext cx="6893448" cy="415275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5E9894-850C-8585-7161-476EB5C1999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348" t="4127" r="1773" b="2699"/>
          <a:stretch/>
        </p:blipFill>
        <p:spPr>
          <a:xfrm>
            <a:off x="7061781" y="1883229"/>
            <a:ext cx="4879848" cy="488768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3710882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F9E20-D935-62F9-D27A-DE5BAF74C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71" y="206830"/>
            <a:ext cx="11375572" cy="597013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BD0372"/>
                </a:solidFill>
              </a:rPr>
              <a:t>Other ways of simplifying our data: Matrix factorization and singular value decomposition</a:t>
            </a:r>
            <a:endParaRPr lang="en-US" dirty="0">
              <a:solidFill>
                <a:srgbClr val="BD0372"/>
              </a:solidFill>
            </a:endParaRPr>
          </a:p>
          <a:p>
            <a:endParaRPr lang="en-US" dirty="0"/>
          </a:p>
          <a:p>
            <a:r>
              <a:rPr lang="en-US" dirty="0"/>
              <a:t>How can we reduce both the rows and the columns at the same time? 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matrix factorization </a:t>
            </a:r>
            <a:r>
              <a:rPr lang="en-US" dirty="0"/>
              <a:t>and </a:t>
            </a:r>
            <a:r>
              <a:rPr lang="en-US" b="1" dirty="0"/>
              <a:t>singular value decomposition (SVD)</a:t>
            </a:r>
            <a:r>
              <a:rPr lang="en-US" dirty="0"/>
              <a:t>.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These two algorithms express a </a:t>
            </a:r>
            <a:r>
              <a:rPr lang="en-US" b="1" dirty="0"/>
              <a:t>big matrix of data </a:t>
            </a:r>
            <a:r>
              <a:rPr lang="en-US" dirty="0"/>
              <a:t>into a product of </a:t>
            </a:r>
            <a:r>
              <a:rPr lang="en-US" b="1" dirty="0">
                <a:solidFill>
                  <a:srgbClr val="C00000"/>
                </a:solidFill>
              </a:rPr>
              <a:t>smaller matrices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Netflix use matrix factorization extensively to generate recommendations.</a:t>
            </a:r>
          </a:p>
          <a:p>
            <a:pPr lvl="1"/>
            <a:endParaRPr lang="en-US" dirty="0"/>
          </a:p>
          <a:p>
            <a:pPr lvl="2"/>
            <a:r>
              <a:rPr lang="en-US" dirty="0"/>
              <a:t>a large table where each row corresponds to a </a:t>
            </a:r>
            <a:r>
              <a:rPr lang="en-US" b="1" dirty="0"/>
              <a:t>user</a:t>
            </a:r>
            <a:r>
              <a:rPr lang="en-US" dirty="0"/>
              <a:t>, each column to a </a:t>
            </a:r>
            <a:r>
              <a:rPr lang="en-US" b="1" dirty="0"/>
              <a:t>movie</a:t>
            </a:r>
            <a:r>
              <a:rPr lang="en-US" dirty="0"/>
              <a:t>, and each </a:t>
            </a:r>
            <a:r>
              <a:rPr lang="en-US" b="1" dirty="0"/>
              <a:t>entry in the matrix is the rating </a:t>
            </a:r>
            <a:r>
              <a:rPr lang="en-US" dirty="0"/>
              <a:t>that the user gave the movie.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With matrix factorization, one can extract certain features, such as </a:t>
            </a:r>
            <a:r>
              <a:rPr lang="en-US" dirty="0">
                <a:solidFill>
                  <a:srgbClr val="C00000"/>
                </a:solidFill>
              </a:rPr>
              <a:t>type of movie</a:t>
            </a:r>
            <a:r>
              <a:rPr lang="en-US" dirty="0"/>
              <a:t>, actors appearing in the movie, and others, and be able to predict the rating that a user gives a movie, based on these features.</a:t>
            </a:r>
          </a:p>
          <a:p>
            <a:pPr lvl="2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78035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CE304-FEE5-576C-4989-8E46D1990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5205B-872E-1978-D1FB-449EF58D3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Two common types of unsupervised learning algorithms are clustering and dimensionality reduction.</a:t>
            </a:r>
          </a:p>
          <a:p>
            <a:pPr lvl="1" algn="just"/>
            <a:endParaRPr lang="en-US" b="1" dirty="0"/>
          </a:p>
          <a:p>
            <a:pPr lvl="1" algn="just"/>
            <a:r>
              <a:rPr lang="en-US" b="1" dirty="0"/>
              <a:t>Clustering</a:t>
            </a:r>
            <a:r>
              <a:rPr lang="en-US" dirty="0"/>
              <a:t> is used to group data into </a:t>
            </a:r>
            <a:r>
              <a:rPr lang="en-US" b="1" dirty="0"/>
              <a:t>similar clusters </a:t>
            </a:r>
            <a:r>
              <a:rPr lang="en-US" dirty="0"/>
              <a:t>to extract information or make it easier to handle.</a:t>
            </a:r>
          </a:p>
          <a:p>
            <a:pPr lvl="1" algn="just"/>
            <a:endParaRPr lang="en-US" b="1" dirty="0"/>
          </a:p>
          <a:p>
            <a:pPr lvl="1" algn="just"/>
            <a:r>
              <a:rPr lang="en-US" b="1" dirty="0"/>
              <a:t>Dimensionality reduction </a:t>
            </a:r>
            <a:r>
              <a:rPr lang="en-US" dirty="0"/>
              <a:t>is a way to </a:t>
            </a:r>
            <a:r>
              <a:rPr lang="en-US" b="1" dirty="0"/>
              <a:t>simplify our data</a:t>
            </a:r>
            <a:r>
              <a:rPr lang="en-US" dirty="0"/>
              <a:t>, by joining certain similar features and losing as little information as possible. </a:t>
            </a:r>
          </a:p>
          <a:p>
            <a:pPr lvl="1" algn="just"/>
            <a:endParaRPr lang="en-US" b="1" dirty="0"/>
          </a:p>
          <a:p>
            <a:pPr lvl="1" algn="just"/>
            <a:r>
              <a:rPr lang="en-US" b="1" dirty="0"/>
              <a:t>Matrix factorization </a:t>
            </a:r>
            <a:r>
              <a:rPr lang="en-US" dirty="0"/>
              <a:t>and </a:t>
            </a:r>
            <a:r>
              <a:rPr lang="en-US" b="1" dirty="0"/>
              <a:t>singular value decomposition </a:t>
            </a:r>
            <a:r>
              <a:rPr lang="en-US" dirty="0"/>
              <a:t>are other algorithms that can simplify our data by </a:t>
            </a:r>
            <a:r>
              <a:rPr lang="en-US" dirty="0">
                <a:solidFill>
                  <a:srgbClr val="C00000"/>
                </a:solidFill>
              </a:rPr>
              <a:t>reducing both the number of rows and columns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04004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224BD-C624-03F4-C5BF-D88A97FDC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A0C42-1CD3-0315-56C4-4E3DD1C58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Generative machine learning </a:t>
            </a:r>
            <a:r>
              <a:rPr lang="en-US" dirty="0"/>
              <a:t>is an innovative type of unsupervised learning, consisting of </a:t>
            </a:r>
            <a:r>
              <a:rPr lang="en-US" b="1" dirty="0"/>
              <a:t>generating data </a:t>
            </a:r>
            <a:r>
              <a:rPr lang="en-US" dirty="0"/>
              <a:t>that is similar to our dataset. </a:t>
            </a:r>
          </a:p>
          <a:p>
            <a:pPr lvl="1"/>
            <a:r>
              <a:rPr lang="en-US" dirty="0"/>
              <a:t>Generative models can paint realistic faces, compose music, and write poetry.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852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113433" y="1618896"/>
            <a:ext cx="89768" cy="5899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9"/>
              </a:lnSpc>
            </a:pPr>
            <a:r>
              <a:rPr lang="en-CA" sz="2004" dirty="0">
                <a:solidFill>
                  <a:srgbClr val="000000"/>
                </a:solidFill>
                <a:latin typeface="Arial"/>
                <a:cs typeface="Arial"/>
              </a:rPr>
              <a:t>•</a:t>
            </a:r>
          </a:p>
          <a:p>
            <a:pPr>
              <a:lnSpc>
                <a:spcPts val="2309"/>
              </a:lnSpc>
            </a:pPr>
            <a:endParaRPr lang="en-CA" sz="2004" dirty="0">
              <a:solidFill>
                <a:srgbClr val="000000"/>
              </a:solidFill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113433" y="1950324"/>
            <a:ext cx="3491447" cy="59209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9"/>
              </a:lnSpc>
            </a:pPr>
            <a:r>
              <a:rPr lang="en-CA" sz="2004" dirty="0">
                <a:solidFill>
                  <a:srgbClr val="000000"/>
                </a:solidFill>
                <a:latin typeface="Arial"/>
                <a:cs typeface="Arial"/>
              </a:rPr>
              <a:t>•  Robotics (Robot locomotion)</a:t>
            </a:r>
          </a:p>
          <a:p>
            <a:pPr>
              <a:lnSpc>
                <a:spcPts val="2309"/>
              </a:lnSpc>
            </a:pPr>
            <a:endParaRPr lang="en-CA" sz="2004" dirty="0">
              <a:solidFill>
                <a:srgbClr val="000000"/>
              </a:solidFill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13433" y="2281751"/>
            <a:ext cx="4680471" cy="59209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9"/>
              </a:lnSpc>
            </a:pPr>
            <a:r>
              <a:rPr lang="en-CA" sz="2004" dirty="0">
                <a:solidFill>
                  <a:srgbClr val="000000"/>
                </a:solidFill>
                <a:latin typeface="Arial"/>
                <a:cs typeface="Arial"/>
              </a:rPr>
              <a:t>•  Search Engines (Information Retrieval)</a:t>
            </a:r>
          </a:p>
          <a:p>
            <a:pPr>
              <a:lnSpc>
                <a:spcPts val="2309"/>
              </a:lnSpc>
            </a:pPr>
            <a:endParaRPr lang="en-CA" sz="2004" dirty="0">
              <a:solidFill>
                <a:srgbClr val="000000"/>
              </a:solidFill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27081" y="2625926"/>
            <a:ext cx="5785828" cy="59209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9"/>
              </a:lnSpc>
            </a:pPr>
            <a:r>
              <a:rPr lang="en-CA" sz="2004" dirty="0">
                <a:solidFill>
                  <a:srgbClr val="000000"/>
                </a:solidFill>
                <a:latin typeface="Arial"/>
                <a:cs typeface="Arial"/>
              </a:rPr>
              <a:t>•  Learning to Classify new astronomical structures</a:t>
            </a:r>
          </a:p>
          <a:p>
            <a:pPr>
              <a:lnSpc>
                <a:spcPts val="2309"/>
              </a:lnSpc>
            </a:pPr>
            <a:endParaRPr lang="en-CA" sz="2004" dirty="0">
              <a:solidFill>
                <a:srgbClr val="000000"/>
              </a:solidFill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13433" y="2957354"/>
            <a:ext cx="2329777" cy="59209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9"/>
              </a:lnSpc>
            </a:pPr>
            <a:r>
              <a:rPr lang="en-CA" sz="2004">
                <a:solidFill>
                  <a:srgbClr val="000000"/>
                </a:solidFill>
                <a:latin typeface="Arial"/>
                <a:cs typeface="Arial"/>
              </a:rPr>
              <a:t>•  Medical Diagnosis</a:t>
            </a:r>
          </a:p>
          <a:p>
            <a:pPr>
              <a:lnSpc>
                <a:spcPts val="2309"/>
              </a:lnSpc>
            </a:pPr>
            <a:endParaRPr lang="en-CA" sz="2004">
              <a:solidFill>
                <a:srgbClr val="000000"/>
              </a:solidFill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13433" y="3288781"/>
            <a:ext cx="4881591" cy="59209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9"/>
              </a:lnSpc>
            </a:pPr>
            <a:r>
              <a:rPr lang="en-CA" sz="2004">
                <a:solidFill>
                  <a:srgbClr val="000000"/>
                </a:solidFill>
                <a:latin typeface="Arial"/>
                <a:cs typeface="Arial"/>
              </a:rPr>
              <a:t>•  Learning to drive an autonomous vehicle</a:t>
            </a:r>
          </a:p>
          <a:p>
            <a:pPr>
              <a:lnSpc>
                <a:spcPts val="2309"/>
              </a:lnSpc>
            </a:pPr>
            <a:endParaRPr lang="en-CA" sz="2004">
              <a:solidFill>
                <a:srgbClr val="000000"/>
              </a:solidFill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13433" y="3632956"/>
            <a:ext cx="4513139" cy="59209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9"/>
              </a:lnSpc>
            </a:pPr>
            <a:r>
              <a:rPr lang="en-CA" sz="2004" dirty="0">
                <a:solidFill>
                  <a:srgbClr val="000000"/>
                </a:solidFill>
                <a:latin typeface="Arial"/>
                <a:cs typeface="Arial"/>
              </a:rPr>
              <a:t>•  Computational Biology/Bioinformatics</a:t>
            </a:r>
          </a:p>
          <a:p>
            <a:pPr>
              <a:lnSpc>
                <a:spcPts val="2309"/>
              </a:lnSpc>
            </a:pPr>
            <a:endParaRPr lang="en-CA" sz="2004" dirty="0">
              <a:solidFill>
                <a:srgbClr val="000000"/>
              </a:solidFill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13433" y="3964383"/>
            <a:ext cx="5554331" cy="59209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9"/>
              </a:lnSpc>
            </a:pPr>
            <a:r>
              <a:rPr lang="en-CA" sz="2004">
                <a:solidFill>
                  <a:srgbClr val="000000"/>
                </a:solidFill>
                <a:latin typeface="Arial"/>
                <a:cs typeface="Arial"/>
              </a:rPr>
              <a:t>•  Computer Vision (Object Detection algorithms)</a:t>
            </a:r>
          </a:p>
          <a:p>
            <a:pPr>
              <a:lnSpc>
                <a:spcPts val="2309"/>
              </a:lnSpc>
            </a:pPr>
            <a:endParaRPr lang="en-CA" sz="2004">
              <a:solidFill>
                <a:srgbClr val="000000"/>
              </a:solidFill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13433" y="4308558"/>
            <a:ext cx="3261366" cy="59209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9"/>
              </a:lnSpc>
            </a:pPr>
            <a:r>
              <a:rPr lang="en-CA" sz="2004">
                <a:solidFill>
                  <a:srgbClr val="000000"/>
                </a:solidFill>
                <a:latin typeface="Arial"/>
                <a:cs typeface="Arial"/>
              </a:rPr>
              <a:t>•  Detecting credit card fraud</a:t>
            </a:r>
          </a:p>
          <a:p>
            <a:pPr>
              <a:lnSpc>
                <a:spcPts val="2309"/>
              </a:lnSpc>
            </a:pPr>
            <a:endParaRPr lang="en-CA" sz="2004">
              <a:solidFill>
                <a:srgbClr val="000000"/>
              </a:solidFill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13433" y="4639986"/>
            <a:ext cx="2744889" cy="59209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9"/>
              </a:lnSpc>
            </a:pPr>
            <a:r>
              <a:rPr lang="en-CA" sz="2004">
                <a:solidFill>
                  <a:srgbClr val="000000"/>
                </a:solidFill>
                <a:latin typeface="Arial"/>
                <a:cs typeface="Arial"/>
              </a:rPr>
              <a:t>•  Stock Market analysis</a:t>
            </a:r>
          </a:p>
          <a:p>
            <a:pPr>
              <a:lnSpc>
                <a:spcPts val="2309"/>
              </a:lnSpc>
            </a:pPr>
            <a:endParaRPr lang="en-CA" sz="2004">
              <a:solidFill>
                <a:srgbClr val="000000"/>
              </a:solidFill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13433" y="4971413"/>
            <a:ext cx="1827781" cy="59209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9"/>
              </a:lnSpc>
            </a:pPr>
            <a:r>
              <a:rPr lang="en-CA" sz="2004">
                <a:solidFill>
                  <a:srgbClr val="000000"/>
                </a:solidFill>
                <a:latin typeface="Arial"/>
                <a:cs typeface="Arial"/>
              </a:rPr>
              <a:t>•  Game playing</a:t>
            </a:r>
          </a:p>
          <a:p>
            <a:pPr>
              <a:lnSpc>
                <a:spcPts val="2309"/>
              </a:lnSpc>
            </a:pPr>
            <a:endParaRPr lang="en-CA" sz="2004">
              <a:solidFill>
                <a:srgbClr val="000000"/>
              </a:solidFill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113433" y="5302841"/>
            <a:ext cx="90102" cy="59209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9"/>
              </a:lnSpc>
            </a:pPr>
            <a:r>
              <a:rPr lang="en-CA" sz="2004">
                <a:solidFill>
                  <a:srgbClr val="000000"/>
                </a:solidFill>
                <a:latin typeface="Arial"/>
                <a:cs typeface="Arial"/>
              </a:rPr>
              <a:t>•</a:t>
            </a:r>
          </a:p>
          <a:p>
            <a:pPr>
              <a:lnSpc>
                <a:spcPts val="2309"/>
              </a:lnSpc>
            </a:pPr>
            <a:endParaRPr lang="en-CA" sz="2004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457608" y="5302841"/>
            <a:ext cx="1689410" cy="59209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9"/>
              </a:lnSpc>
            </a:pPr>
            <a:r>
              <a:rPr lang="en-CA" sz="2004">
                <a:solidFill>
                  <a:srgbClr val="000000"/>
                </a:solidFill>
                <a:latin typeface="Arial"/>
                <a:cs typeface="Arial"/>
              </a:rPr>
              <a:t>………………..</a:t>
            </a:r>
          </a:p>
          <a:p>
            <a:pPr>
              <a:lnSpc>
                <a:spcPts val="2309"/>
              </a:lnSpc>
            </a:pPr>
            <a:endParaRPr lang="en-CA" sz="2004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113433" y="5634268"/>
            <a:ext cx="90102" cy="59209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9"/>
              </a:lnSpc>
            </a:pPr>
            <a:r>
              <a:rPr lang="en-CA" sz="2004">
                <a:solidFill>
                  <a:srgbClr val="000000"/>
                </a:solidFill>
                <a:latin typeface="Arial"/>
                <a:cs typeface="Arial"/>
              </a:rPr>
              <a:t>•</a:t>
            </a:r>
          </a:p>
          <a:p>
            <a:pPr>
              <a:lnSpc>
                <a:spcPts val="2309"/>
              </a:lnSpc>
            </a:pPr>
            <a:endParaRPr lang="en-CA" sz="2004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457608" y="5634268"/>
            <a:ext cx="1874441" cy="59209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9"/>
              </a:lnSpc>
            </a:pPr>
            <a:r>
              <a:rPr lang="en-CA" sz="2004">
                <a:solidFill>
                  <a:srgbClr val="000000"/>
                </a:solidFill>
                <a:latin typeface="Arial"/>
                <a:cs typeface="Arial"/>
              </a:rPr>
              <a:t>………………….</a:t>
            </a:r>
          </a:p>
          <a:p>
            <a:pPr>
              <a:lnSpc>
                <a:spcPts val="2309"/>
              </a:lnSpc>
            </a:pPr>
            <a:endParaRPr lang="en-CA" sz="2004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72489" y="1540047"/>
            <a:ext cx="51978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   Speech and Hand Writing Recognition</a:t>
            </a: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838200" y="651730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C00000"/>
                </a:solidFill>
              </a:rPr>
              <a:t>Applications of Machine Learning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46961" y="4187230"/>
            <a:ext cx="4312692" cy="2308324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3600" i="1" dirty="0">
                <a:solidFill>
                  <a:schemeClr val="bg1"/>
                </a:solidFill>
                <a:latin typeface="Proxima Nova"/>
              </a:rPr>
              <a:t>ML solves problems that cannot be solved by numerical means alone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9494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9093" y="3783215"/>
            <a:ext cx="3901546" cy="1995748"/>
          </a:xfrm>
        </p:spPr>
        <p:txBody>
          <a:bodyPr>
            <a:normAutofit/>
          </a:bodyPr>
          <a:lstStyle/>
          <a:p>
            <a:r>
              <a:rPr lang="en-US" dirty="0"/>
              <a:t>Reinforcement Learning</a:t>
            </a:r>
          </a:p>
          <a:p>
            <a:pPr lvl="1"/>
            <a:r>
              <a:rPr lang="en-US" dirty="0"/>
              <a:t>Rewards (+</a:t>
            </a:r>
            <a:r>
              <a:rPr lang="en-US" dirty="0" err="1"/>
              <a:t>ve</a:t>
            </a:r>
            <a:r>
              <a:rPr lang="en-US" dirty="0"/>
              <a:t> or –</a:t>
            </a:r>
            <a:r>
              <a:rPr lang="en-US" dirty="0" err="1"/>
              <a:t>ve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Wake-up, brushed teeth, had bath, had breakfast, reach college 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4266365" y="2866033"/>
            <a:ext cx="7629098" cy="3652127"/>
            <a:chOff x="4266365" y="2524836"/>
            <a:chExt cx="7629098" cy="3652127"/>
          </a:xfrm>
        </p:grpSpPr>
        <p:sp>
          <p:nvSpPr>
            <p:cNvPr id="4" name="Oval 3"/>
            <p:cNvSpPr/>
            <p:nvPr/>
          </p:nvSpPr>
          <p:spPr>
            <a:xfrm>
              <a:off x="4266365" y="2524836"/>
              <a:ext cx="1064525" cy="100993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Wake-up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7951261" y="2784143"/>
              <a:ext cx="1160060" cy="11600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had bath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10598926" y="4694829"/>
              <a:ext cx="1296537" cy="132383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had breakfast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7391702" y="5104263"/>
              <a:ext cx="1091821" cy="107270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Attend offline class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4976050" y="4694829"/>
              <a:ext cx="1038364" cy="109182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brush teeth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>
              <a:off x="5330890" y="3002507"/>
              <a:ext cx="2620371" cy="19106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4976050" y="3534770"/>
              <a:ext cx="354840" cy="116005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 flipV="1">
              <a:off x="5862349" y="3821374"/>
              <a:ext cx="2252686" cy="10333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5174994" y="3386869"/>
              <a:ext cx="2376601" cy="18744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>
              <a:off x="6014414" y="5459104"/>
              <a:ext cx="1377288" cy="1815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flipH="1">
              <a:off x="8323630" y="3944203"/>
              <a:ext cx="207661" cy="13171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>
              <a:off x="8941434" y="3774316"/>
              <a:ext cx="1916801" cy="10160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H="1" flipV="1">
              <a:off x="8483523" y="5786651"/>
              <a:ext cx="2305276" cy="381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/>
            <p:cNvSpPr/>
            <p:nvPr/>
          </p:nvSpPr>
          <p:spPr>
            <a:xfrm>
              <a:off x="6299882" y="2741335"/>
              <a:ext cx="326409" cy="261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 flipH="1">
              <a:off x="4565906" y="4049294"/>
              <a:ext cx="407876" cy="38932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8129767" y="4408226"/>
              <a:ext cx="218365" cy="21836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9" name="Oval 28"/>
            <p:cNvSpPr/>
            <p:nvPr/>
          </p:nvSpPr>
          <p:spPr>
            <a:xfrm>
              <a:off x="7018975" y="3774316"/>
              <a:ext cx="372727" cy="3361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9708328" y="3671247"/>
              <a:ext cx="463638" cy="4392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9193207" y="5100648"/>
              <a:ext cx="667604" cy="65323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sp>
          <p:nvSpPr>
            <p:cNvPr id="32" name="Oval 31"/>
            <p:cNvSpPr/>
            <p:nvPr/>
          </p:nvSpPr>
          <p:spPr>
            <a:xfrm>
              <a:off x="5862349" y="3562063"/>
              <a:ext cx="518526" cy="487232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10</a:t>
              </a:r>
            </a:p>
          </p:txBody>
        </p:sp>
        <p:sp>
          <p:nvSpPr>
            <p:cNvPr id="33" name="Oval 32"/>
            <p:cNvSpPr/>
            <p:nvPr/>
          </p:nvSpPr>
          <p:spPr>
            <a:xfrm>
              <a:off x="6197568" y="5562104"/>
              <a:ext cx="428723" cy="456558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p:sp>
        <p:nvSpPr>
          <p:cNvPr id="34" name="Content Placeholder 2"/>
          <p:cNvSpPr txBox="1">
            <a:spLocks/>
          </p:cNvSpPr>
          <p:nvPr/>
        </p:nvSpPr>
        <p:spPr>
          <a:xfrm>
            <a:off x="1937982" y="1335844"/>
            <a:ext cx="8147714" cy="1380062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ctr">
              <a:buFont typeface="Arial" panose="020B0604020202020204" pitchFamily="34" charset="0"/>
              <a:buNone/>
            </a:pPr>
            <a:endParaRPr lang="en-US" sz="3200" dirty="0">
              <a:solidFill>
                <a:schemeClr val="bg1"/>
              </a:solidFill>
            </a:endParaRPr>
          </a:p>
          <a:p>
            <a:pPr marL="457200" lvl="1" indent="0" algn="ctr">
              <a:buNone/>
            </a:pPr>
            <a:r>
              <a:rPr lang="en-US" sz="3200" dirty="0">
                <a:solidFill>
                  <a:schemeClr val="bg1"/>
                </a:solidFill>
              </a:rPr>
              <a:t>Reward based learning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/>
              <p14:cNvContentPartPr/>
              <p14:nvPr/>
            </p14:nvContentPartPr>
            <p14:xfrm>
              <a:off x="754920" y="3150360"/>
              <a:ext cx="9260280" cy="318852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5200" y="3138840"/>
                <a:ext cx="9281520" cy="320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/>
              <p14:cNvContentPartPr/>
              <p14:nvPr/>
            </p14:nvContentPartPr>
            <p14:xfrm>
              <a:off x="6260400" y="6125760"/>
              <a:ext cx="86760" cy="1800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56440" y="6116760"/>
                <a:ext cx="99000" cy="3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76064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Supervised Learning</a:t>
            </a:r>
          </a:p>
          <a:p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Unsupervised Learning</a:t>
            </a:r>
          </a:p>
          <a:p>
            <a:r>
              <a:rPr lang="en-US" sz="3200" dirty="0">
                <a:solidFill>
                  <a:schemeClr val="bg1">
                    <a:lumMod val="75000"/>
                  </a:schemeClr>
                </a:solidFill>
              </a:rPr>
              <a:t>Reinforcement Learning</a:t>
            </a:r>
          </a:p>
          <a:p>
            <a:r>
              <a:rPr lang="en-US" sz="3200" dirty="0"/>
              <a:t>Deep Learning 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3472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Deep Learning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63044"/>
            <a:ext cx="10515600" cy="239950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/>
              <a:t>In the past few years, </a:t>
            </a:r>
            <a:r>
              <a:rPr lang="en-US" sz="3200" i="1" dirty="0"/>
              <a:t>Deep Learning </a:t>
            </a:r>
            <a:r>
              <a:rPr lang="en-US" sz="3200" dirty="0"/>
              <a:t>has generated much excitement in Machine Learning</a:t>
            </a:r>
          </a:p>
          <a:p>
            <a:pPr marL="457200" lvl="1" indent="0" algn="ctr">
              <a:buNone/>
            </a:pPr>
            <a:endParaRPr lang="en-US" sz="2800" dirty="0"/>
          </a:p>
          <a:p>
            <a:pPr marL="457200" lvl="1" indent="0" algn="ctr">
              <a:buNone/>
            </a:pPr>
            <a:r>
              <a:rPr lang="en-US" sz="2800" dirty="0"/>
              <a:t>Many breakthrough results in </a:t>
            </a:r>
            <a:r>
              <a:rPr lang="en-US" sz="2800" i="1" dirty="0">
                <a:solidFill>
                  <a:srgbClr val="0000FF"/>
                </a:solidFill>
              </a:rPr>
              <a:t>speech recognition, computer vision and text processing</a:t>
            </a:r>
            <a:r>
              <a:rPr lang="en-US" sz="2800" dirty="0"/>
              <a:t>. </a:t>
            </a:r>
            <a:endParaRPr lang="en-US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ADE02-2531-45DF-8252-D64BA5ECC2C8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B08ED-BCB7-4B16-BDC8-EAEC53C69965}" type="slidenum">
              <a:rPr lang="en-US" smtClean="0"/>
              <a:t>41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Arockiaraj S</a:t>
            </a:r>
          </a:p>
        </p:txBody>
      </p:sp>
    </p:spTree>
    <p:extLst>
      <p:ext uri="{BB962C8B-B14F-4D97-AF65-F5344CB8AC3E}">
        <p14:creationId xmlns:p14="http://schemas.microsoft.com/office/powerpoint/2010/main" val="30606354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Deep Learning</a:t>
            </a:r>
          </a:p>
        </p:txBody>
      </p:sp>
      <p:pic>
        <p:nvPicPr>
          <p:cNvPr id="5" name="Picture 2" descr="Image result for deep neural network diagram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45"/>
          <a:stretch/>
        </p:blipFill>
        <p:spPr bwMode="auto">
          <a:xfrm>
            <a:off x="1385454" y="1582238"/>
            <a:ext cx="8631381" cy="4029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4762B-46DF-4525-AA75-3A09B19A20A0}" type="datetime1">
              <a:rPr lang="en-US" smtClean="0"/>
              <a:t>7/27/2026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B08ED-BCB7-4B16-BDC8-EAEC53C69965}" type="slidenum">
              <a:rPr lang="en-US" smtClean="0"/>
              <a:t>42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Arockiaraj S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200" y="5833316"/>
            <a:ext cx="10536070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0" i="1" dirty="0">
                <a:effectLst/>
                <a:latin typeface="Helvetica Neue"/>
              </a:rPr>
              <a:t>“very </a:t>
            </a:r>
            <a:r>
              <a:rPr lang="en-US" sz="2000" b="0" i="1" u="sng" dirty="0">
                <a:effectLst/>
                <a:latin typeface="Helvetica Neue"/>
              </a:rPr>
              <a:t>large</a:t>
            </a:r>
            <a:r>
              <a:rPr lang="en-US" sz="2000" b="0" i="1" dirty="0">
                <a:effectLst/>
                <a:latin typeface="Helvetica Neue"/>
              </a:rPr>
              <a:t> neural networks and </a:t>
            </a:r>
            <a:r>
              <a:rPr lang="en-US" sz="2000" b="0" i="1" u="sng" dirty="0">
                <a:effectLst/>
                <a:latin typeface="Helvetica Neue"/>
              </a:rPr>
              <a:t>huge</a:t>
            </a:r>
            <a:r>
              <a:rPr lang="en-US" sz="2000" b="0" i="1" dirty="0">
                <a:effectLst/>
                <a:latin typeface="Helvetica Neue"/>
              </a:rPr>
              <a:t> amounts of data that we have access to”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085463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277" y="365125"/>
            <a:ext cx="3944203" cy="63222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762630" y="3461097"/>
            <a:ext cx="2697707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1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Tahoma" panose="020B0604030504040204" pitchFamily="34" charset="0"/>
              </a:rPr>
              <a:t>Low level representation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2F9F7-1E7C-4042-940E-5A9202E15FDF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B08ED-BCB7-4B16-BDC8-EAEC53C69965}" type="slidenum">
              <a:rPr lang="en-US" smtClean="0"/>
              <a:t>43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Arockiaraj S</a:t>
            </a:r>
          </a:p>
        </p:txBody>
      </p:sp>
    </p:spTree>
    <p:extLst>
      <p:ext uri="{BB962C8B-B14F-4D97-AF65-F5344CB8AC3E}">
        <p14:creationId xmlns:p14="http://schemas.microsoft.com/office/powerpoint/2010/main" val="26574225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8971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596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6532</TotalTime>
  <Words>2531</Words>
  <Application>Microsoft Office PowerPoint</Application>
  <PresentationFormat>Widescreen</PresentationFormat>
  <Paragraphs>385</Paragraphs>
  <Slides>44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Arial</vt:lpstr>
      <vt:lpstr>Calibri</vt:lpstr>
      <vt:lpstr>Calibri Light</vt:lpstr>
      <vt:lpstr>Helvetica Neue</vt:lpstr>
      <vt:lpstr>Proxima Nova</vt:lpstr>
      <vt:lpstr>Tahoma</vt:lpstr>
      <vt:lpstr>Office Theme</vt:lpstr>
      <vt:lpstr>Machine Learning Introduction  Lecture-1</vt:lpstr>
      <vt:lpstr>Introduction </vt:lpstr>
      <vt:lpstr>Artificial Intelligence (AI) &amp;  Machine Learning (ML)?</vt:lpstr>
      <vt:lpstr>Programming and Machine Learning</vt:lpstr>
      <vt:lpstr>Machine Learning - Definition</vt:lpstr>
      <vt:lpstr>PowerPoint Presentation</vt:lpstr>
      <vt:lpstr>Introduction – History </vt:lpstr>
      <vt:lpstr>Introduction – History </vt:lpstr>
      <vt:lpstr>Introduction – History </vt:lpstr>
      <vt:lpstr>Current status  </vt:lpstr>
      <vt:lpstr>Data and Features</vt:lpstr>
      <vt:lpstr>What is the difference between labelled and unlabelled data?</vt:lpstr>
      <vt:lpstr>Types of Machine Learning</vt:lpstr>
      <vt:lpstr>Supervised Learning</vt:lpstr>
      <vt:lpstr>Types of labeled datasets</vt:lpstr>
      <vt:lpstr>Types of labeled datasets</vt:lpstr>
      <vt:lpstr>Types of supervised learning models</vt:lpstr>
      <vt:lpstr>Example of regression model</vt:lpstr>
      <vt:lpstr>Example of classification model</vt:lpstr>
      <vt:lpstr>Examples of supervised learning models</vt:lpstr>
      <vt:lpstr>Regression models</vt:lpstr>
      <vt:lpstr>Other applications of regression model:</vt:lpstr>
      <vt:lpstr>Linear regression</vt:lpstr>
      <vt:lpstr>Unsupervised learning</vt:lpstr>
      <vt:lpstr>Unsupervised learning</vt:lpstr>
      <vt:lpstr>Clustering is an unsupervised machine learning - group the elements in our dataset into clusters where all the data points are similar. </vt:lpstr>
      <vt:lpstr>Clustering </vt:lpstr>
      <vt:lpstr>cluster the emails into three categories based on size and number of recipients</vt:lpstr>
      <vt:lpstr>PowerPoint Presentation</vt:lpstr>
      <vt:lpstr>Other applications of clustering</vt:lpstr>
      <vt:lpstr>Popular clustering algorithms </vt:lpstr>
      <vt:lpstr>Dimensionality reduction</vt:lpstr>
      <vt:lpstr>Dimensionality reduction</vt:lpstr>
      <vt:lpstr>Clustering &amp; dimensionality reduction </vt:lpstr>
      <vt:lpstr>PowerPoint Presentation</vt:lpstr>
      <vt:lpstr>PowerPoint Presentation</vt:lpstr>
      <vt:lpstr>PowerPoint Presentation</vt:lpstr>
      <vt:lpstr>PowerPoint Presentation</vt:lpstr>
      <vt:lpstr>Reinforcement Learning</vt:lpstr>
      <vt:lpstr>Types of Machine Learning</vt:lpstr>
      <vt:lpstr>Deep Learning </vt:lpstr>
      <vt:lpstr>Deep Learning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BDA 602: Machine Learning</dc:title>
  <dc:creator>Araj</dc:creator>
  <cp:lastModifiedBy>Arockiaraj S [MAHE-MSIS]</cp:lastModifiedBy>
  <cp:revision>290</cp:revision>
  <dcterms:created xsi:type="dcterms:W3CDTF">2017-01-05T04:25:07Z</dcterms:created>
  <dcterms:modified xsi:type="dcterms:W3CDTF">2026-07-27T10:37:19Z</dcterms:modified>
</cp:coreProperties>
</file>