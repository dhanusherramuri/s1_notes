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5" r:id="rId2"/>
    <p:sldId id="257" r:id="rId3"/>
    <p:sldId id="357" r:id="rId4"/>
    <p:sldId id="358" r:id="rId5"/>
    <p:sldId id="359" r:id="rId6"/>
    <p:sldId id="360" r:id="rId7"/>
    <p:sldId id="302" r:id="rId8"/>
    <p:sldId id="323" r:id="rId9"/>
    <p:sldId id="365" r:id="rId10"/>
    <p:sldId id="259" r:id="rId11"/>
    <p:sldId id="261" r:id="rId12"/>
    <p:sldId id="278" r:id="rId13"/>
    <p:sldId id="276" r:id="rId14"/>
    <p:sldId id="364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48FF1-7658-48DC-86B8-72BDEED2D62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64762-AD1F-4977-8C13-9B04330C7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64762-AD1F-4977-8C13-9B04330C76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0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2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5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7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2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4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7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3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C0B0B-0B7D-4DA9-9022-3B6B494815E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18E19-4AC3-463C-9A2F-2A7F96F0E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6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Approach</a:t>
            </a:r>
          </a:p>
        </p:txBody>
      </p:sp>
    </p:spTree>
    <p:extLst>
      <p:ext uri="{BB962C8B-B14F-4D97-AF65-F5344CB8AC3E}">
        <p14:creationId xmlns:p14="http://schemas.microsoft.com/office/powerpoint/2010/main" val="24044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Logistic regression is a supervised machine learning algorithm used for classification problems, particularly for predicting a categorical dependent variable.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predicts the probability of an input belonging to a specific class, most commonly a binary outcome like "yes" or "no"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Logistic regression is one of the most popular machine learning algorithms for binary classification.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a simple algorithm that performs very well on a wide range of problems.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82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01AA-B3A7-6E93-80BE-A8DD4C63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logistic regression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8203-A848-2426-E426-AC362CD94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Logistic regression uses a logistic or sigmoid function to map its output to a probability value between 0 and 1.</a:t>
            </a:r>
          </a:p>
          <a:p>
            <a:pPr marL="0" indent="0" algn="just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8F78C-2BCD-F8D7-5878-5E0041AD0BF0}"/>
              </a:ext>
            </a:extLst>
          </p:cNvPr>
          <p:cNvSpPr txBox="1"/>
          <p:nvPr/>
        </p:nvSpPr>
        <p:spPr>
          <a:xfrm>
            <a:off x="838199" y="3429000"/>
            <a:ext cx="1070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02060"/>
                </a:solidFill>
              </a:rPr>
              <a:t>Linear equation</a:t>
            </a:r>
            <a:r>
              <a:rPr lang="en-US" sz="2400" dirty="0">
                <a:solidFill>
                  <a:srgbClr val="002060"/>
                </a:solidFill>
              </a:rPr>
              <a:t>: The algorithm first calculates a linear combination of the input features, similar to linear regression.</a:t>
            </a:r>
            <a:endParaRPr lang="en-IN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8C53EF-FE10-1B87-ED47-1EA3803D7FAF}"/>
                  </a:ext>
                </a:extLst>
              </p:cNvPr>
              <p:cNvSpPr txBox="1"/>
              <p:nvPr/>
            </p:nvSpPr>
            <p:spPr>
              <a:xfrm>
                <a:off x="2939142" y="4649065"/>
                <a:ext cx="523713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8C53EF-FE10-1B87-ED47-1EA3803D7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42" y="4649065"/>
                <a:ext cx="523713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1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1E1F772-5A66-5A14-36A0-1921A2EDBD9D}"/>
              </a:ext>
            </a:extLst>
          </p:cNvPr>
          <p:cNvSpPr txBox="1"/>
          <p:nvPr/>
        </p:nvSpPr>
        <p:spPr>
          <a:xfrm>
            <a:off x="838199" y="4298235"/>
            <a:ext cx="102978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/>
              <a:t>Thresholding</a:t>
            </a:r>
            <a:r>
              <a:rPr lang="en-US" sz="2800" dirty="0"/>
              <a:t>: A classification threshold, typically 0.5, is used to convert the probability into a class label. If the probability is above the threshold, the instance is assigned to one class (e.g., 1); otherwise, it's assigned to the other class (e.g., 0).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87D29-98AA-FB7E-37A8-D8E0BCB5D0C9}"/>
                  </a:ext>
                </a:extLst>
              </p:cNvPr>
              <p:cNvSpPr txBox="1"/>
              <p:nvPr/>
            </p:nvSpPr>
            <p:spPr>
              <a:xfrm>
                <a:off x="3072065" y="2612366"/>
                <a:ext cx="4806893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A87D29-98AA-FB7E-37A8-D8E0BCB5D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065" y="2612366"/>
                <a:ext cx="4806893" cy="8166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C9B66FB-EB38-91EE-C6F7-45E532D3D376}"/>
              </a:ext>
            </a:extLst>
          </p:cNvPr>
          <p:cNvSpPr txBox="1"/>
          <p:nvPr/>
        </p:nvSpPr>
        <p:spPr>
          <a:xfrm>
            <a:off x="838198" y="1050633"/>
            <a:ext cx="102978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/>
              <a:t>Sigmoid function</a:t>
            </a:r>
            <a:r>
              <a:rPr lang="en-US" sz="2800" dirty="0"/>
              <a:t>: The linear output (x) is then passed through the sigmoid function, which squashes the result into probability between 0 and 1.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4734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0C7-271A-C6CB-26AB-23C65AE4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F9C53-9419-FDE1-F8A5-330EF5DA4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Training</a:t>
            </a:r>
            <a:r>
              <a:rPr lang="en-US" dirty="0"/>
              <a:t>: The model is trained using a technique called Maximum Likelihood Estimation (MLE), which finds the optimal coefficients (b) that maximize the probability of observing the given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58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0616-A266-379E-EB1A-8905CEE6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923F6-9984-9A85-2412-7140C2151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 dirty="0"/>
              <a:t>Binary (or binomial)</a:t>
            </a:r>
            <a:r>
              <a:rPr lang="en-US" dirty="0"/>
              <a:t>: Used when the dependent variable has only two possible outcomes, such as "pass/fail," "spam/not spam," or "0/1".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Multinomial</a:t>
            </a:r>
            <a:r>
              <a:rPr lang="en-US" dirty="0"/>
              <a:t>: Used when the dependent variable has three or more possible outcomes with no natural order. For example, classifying a flower species.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Ordinal</a:t>
            </a:r>
            <a:r>
              <a:rPr lang="en-US" dirty="0"/>
              <a:t>: Used for a dependent variable with three or more ordered categories, such as a customer satisfaction rating of "low," "medium," or "high".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91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6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82" t="18051" r="12239" b="10494"/>
          <a:stretch/>
        </p:blipFill>
        <p:spPr>
          <a:xfrm>
            <a:off x="781904" y="643467"/>
            <a:ext cx="1062819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7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6A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045" t="17304" r="20075" b="19637"/>
          <a:stretch/>
        </p:blipFill>
        <p:spPr>
          <a:xfrm>
            <a:off x="643467" y="811174"/>
            <a:ext cx="10905066" cy="523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0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916" y="663677"/>
            <a:ext cx="10913807" cy="551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4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Apply logistic regression for the given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76499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Dataset has two input variables (X1 and X2) and one output variable (Y).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input variables are real-valued random numbers drawn from a Gaussian distribution.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output variable has two values, making the problem a binary classification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0651" y="2276001"/>
            <a:ext cx="4453719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Input                              </a:t>
            </a:r>
            <a:r>
              <a:rPr lang="en-US" dirty="0" err="1"/>
              <a:t>Input</a:t>
            </a:r>
            <a:r>
              <a:rPr lang="en-US" dirty="0"/>
              <a:t>                   Actual     </a:t>
            </a:r>
          </a:p>
          <a:p>
            <a:r>
              <a:rPr lang="en-US" dirty="0"/>
              <a:t>                                                                    Output    </a:t>
            </a:r>
          </a:p>
          <a:p>
            <a:r>
              <a:rPr lang="en-US" dirty="0"/>
              <a:t>  X1		       X2		Y</a:t>
            </a:r>
          </a:p>
          <a:p>
            <a:endParaRPr lang="en-US" dirty="0"/>
          </a:p>
          <a:p>
            <a:r>
              <a:rPr lang="en-US" dirty="0"/>
              <a:t>2.7810836	2.550537003	0</a:t>
            </a:r>
          </a:p>
          <a:p>
            <a:r>
              <a:rPr lang="en-US" dirty="0"/>
              <a:t>1.465489372	2.362125076	0</a:t>
            </a:r>
          </a:p>
          <a:p>
            <a:r>
              <a:rPr lang="en-US" dirty="0"/>
              <a:t>3.396561688	4.400293529	0</a:t>
            </a:r>
          </a:p>
          <a:p>
            <a:r>
              <a:rPr lang="en-US" dirty="0"/>
              <a:t>1.38807019	1.850220317	0</a:t>
            </a:r>
          </a:p>
          <a:p>
            <a:r>
              <a:rPr lang="en-US" dirty="0"/>
              <a:t>3.06407232	3.005305973	0</a:t>
            </a:r>
          </a:p>
          <a:p>
            <a:r>
              <a:rPr lang="en-US" dirty="0"/>
              <a:t>7.627531214	2.759262235	1</a:t>
            </a:r>
          </a:p>
          <a:p>
            <a:r>
              <a:rPr lang="en-US" dirty="0"/>
              <a:t>5.332441248	2.088626775	1</a:t>
            </a:r>
          </a:p>
          <a:p>
            <a:r>
              <a:rPr lang="en-US" dirty="0"/>
              <a:t>6.922596716	1.77106367	1</a:t>
            </a:r>
          </a:p>
          <a:p>
            <a:r>
              <a:rPr lang="en-US" dirty="0"/>
              <a:t>8.675418651	-0.2420686549	1</a:t>
            </a:r>
          </a:p>
          <a:p>
            <a:r>
              <a:rPr lang="en-US" dirty="0"/>
              <a:t>7.673756466	3.508563011	1</a:t>
            </a:r>
          </a:p>
        </p:txBody>
      </p:sp>
    </p:spTree>
    <p:extLst>
      <p:ext uri="{BB962C8B-B14F-4D97-AF65-F5344CB8AC3E}">
        <p14:creationId xmlns:p14="http://schemas.microsoft.com/office/powerpoint/2010/main" val="328990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logistic function is the heart of the logistic regression technique.</a:t>
            </a:r>
          </a:p>
          <a:p>
            <a:r>
              <a:rPr lang="en-US" dirty="0"/>
              <a:t>The logistic function is defined as:</a:t>
            </a:r>
          </a:p>
          <a:p>
            <a:pPr marL="0" indent="0">
              <a:buNone/>
            </a:pPr>
            <a:r>
              <a:rPr lang="pt-BR" dirty="0"/>
              <a:t>                   </a:t>
            </a:r>
          </a:p>
          <a:p>
            <a:pPr marL="0" indent="0">
              <a:buNone/>
            </a:pPr>
            <a:r>
              <a:rPr lang="pt-BR" dirty="0"/>
              <a:t>                         transformed = 1 / (1 + e</a:t>
            </a:r>
            <a:r>
              <a:rPr lang="pt-BR" baseline="30000" dirty="0"/>
              <a:t>-x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US" dirty="0"/>
              <a:t>Where e is the numerical constant Euler’s number and x is a input we plug into the function.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149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7964" y="1771033"/>
            <a:ext cx="4453719" cy="3970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Input                              </a:t>
            </a:r>
            <a:r>
              <a:rPr lang="en-US" dirty="0" err="1"/>
              <a:t>Input</a:t>
            </a:r>
            <a:r>
              <a:rPr lang="en-US" dirty="0"/>
              <a:t>                   Actual </a:t>
            </a:r>
          </a:p>
          <a:p>
            <a:r>
              <a:rPr lang="en-US" dirty="0"/>
              <a:t>			               Output    </a:t>
            </a:r>
          </a:p>
          <a:p>
            <a:r>
              <a:rPr lang="en-US" dirty="0"/>
              <a:t>  X1		       X2		Y</a:t>
            </a:r>
          </a:p>
          <a:p>
            <a:endParaRPr lang="en-US" dirty="0"/>
          </a:p>
          <a:p>
            <a:r>
              <a:rPr lang="en-US" dirty="0"/>
              <a:t>2.7810836	2.550537003	0</a:t>
            </a:r>
          </a:p>
          <a:p>
            <a:r>
              <a:rPr lang="en-US" dirty="0"/>
              <a:t>1.465489372	2.362125076	0</a:t>
            </a:r>
          </a:p>
          <a:p>
            <a:r>
              <a:rPr lang="en-US" dirty="0"/>
              <a:t>3.396561688	4.400293529	0</a:t>
            </a:r>
          </a:p>
          <a:p>
            <a:r>
              <a:rPr lang="en-US" dirty="0"/>
              <a:t>1.38807019	1.850220317	0</a:t>
            </a:r>
          </a:p>
          <a:p>
            <a:r>
              <a:rPr lang="en-US" dirty="0"/>
              <a:t>3.06407232	3.005305973	0</a:t>
            </a:r>
          </a:p>
          <a:p>
            <a:r>
              <a:rPr lang="en-US" dirty="0"/>
              <a:t>7.627531214	2.759262235	1</a:t>
            </a:r>
          </a:p>
          <a:p>
            <a:r>
              <a:rPr lang="en-US" dirty="0"/>
              <a:t>5.332441248	2.088626775	1</a:t>
            </a:r>
          </a:p>
          <a:p>
            <a:r>
              <a:rPr lang="en-US" dirty="0"/>
              <a:t>6.922596716	1.77106367	1</a:t>
            </a:r>
          </a:p>
          <a:p>
            <a:r>
              <a:rPr lang="en-US" dirty="0"/>
              <a:t>8.675418651	-0.2420686549	1</a:t>
            </a:r>
          </a:p>
          <a:p>
            <a:r>
              <a:rPr lang="en-US" dirty="0"/>
              <a:t>7.673756466	3.508563011	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00390" y="2857650"/>
            <a:ext cx="17696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0.2987569857</a:t>
            </a:r>
          </a:p>
          <a:p>
            <a:r>
              <a:rPr lang="en-US" dirty="0"/>
              <a:t>0.145951056</a:t>
            </a:r>
          </a:p>
          <a:p>
            <a:r>
              <a:rPr lang="en-US" dirty="0"/>
              <a:t>0.08533326531</a:t>
            </a:r>
          </a:p>
          <a:p>
            <a:r>
              <a:rPr lang="en-US" dirty="0"/>
              <a:t>0.2197373144</a:t>
            </a:r>
          </a:p>
          <a:p>
            <a:r>
              <a:rPr lang="en-US" dirty="0"/>
              <a:t>0.2470590002</a:t>
            </a:r>
          </a:p>
          <a:p>
            <a:r>
              <a:rPr lang="en-US" dirty="0"/>
              <a:t>0.9547021348</a:t>
            </a:r>
          </a:p>
          <a:p>
            <a:r>
              <a:rPr lang="en-US" dirty="0"/>
              <a:t>0.8620341908</a:t>
            </a:r>
          </a:p>
          <a:p>
            <a:r>
              <a:rPr lang="en-US" dirty="0"/>
              <a:t>0.9717729051</a:t>
            </a:r>
          </a:p>
          <a:p>
            <a:r>
              <a:rPr lang="en-US" dirty="0"/>
              <a:t>0.9992954521</a:t>
            </a:r>
          </a:p>
          <a:p>
            <a:r>
              <a:rPr lang="en-US" dirty="0"/>
              <a:t>0.905489323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394212" y="2844009"/>
            <a:ext cx="11828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20669" y="1975094"/>
            <a:ext cx="2934268" cy="58477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err="1"/>
              <a:t>P_output</a:t>
            </a:r>
            <a:r>
              <a:rPr lang="en-US" sz="1600" dirty="0"/>
              <a:t> = </a:t>
            </a:r>
          </a:p>
          <a:p>
            <a:pPr algn="ctr"/>
            <a:r>
              <a:rPr lang="en-US" sz="1600" dirty="0"/>
              <a:t>if p(class) &lt; 0.5) then 0 else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2860" y="5932945"/>
            <a:ext cx="2869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output = b0 + b1*x1 + b2*x2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31809" y="1975098"/>
            <a:ext cx="2415655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transformed = </a:t>
            </a:r>
          </a:p>
          <a:p>
            <a:pPr algn="ctr"/>
            <a:r>
              <a:rPr lang="en-US" b="1" dirty="0"/>
              <a:t>1 / (1 + e</a:t>
            </a:r>
            <a:r>
              <a:rPr lang="en-US" b="1" baseline="30000" dirty="0"/>
              <a:t>-output</a:t>
            </a:r>
            <a:r>
              <a:rPr lang="en-US" b="1" dirty="0"/>
              <a:t>)</a:t>
            </a:r>
          </a:p>
        </p:txBody>
      </p:sp>
      <p:sp>
        <p:nvSpPr>
          <p:cNvPr id="3" name="Arc 2"/>
          <p:cNvSpPr/>
          <p:nvPr/>
        </p:nvSpPr>
        <p:spPr>
          <a:xfrm rot="9023046">
            <a:off x="4246567" y="952046"/>
            <a:ext cx="7993371" cy="4496708"/>
          </a:xfrm>
          <a:prstGeom prst="arc">
            <a:avLst>
              <a:gd name="adj1" fmla="val 16057258"/>
              <a:gd name="adj2" fmla="val 114915"/>
            </a:avLst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4263" y="5950424"/>
            <a:ext cx="288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Compare actual &amp; prediction</a:t>
            </a:r>
          </a:p>
        </p:txBody>
      </p:sp>
    </p:spTree>
    <p:extLst>
      <p:ext uri="{BB962C8B-B14F-4D97-AF65-F5344CB8AC3E}">
        <p14:creationId xmlns:p14="http://schemas.microsoft.com/office/powerpoint/2010/main" val="32750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we can calculate the accuracy for the model on the training dataset: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effectLst/>
              </a:rPr>
              <a:t>accuracy = (correct predictions / </a:t>
            </a:r>
            <a:r>
              <a:rPr lang="en-US" b="1" dirty="0" err="1">
                <a:solidFill>
                  <a:srgbClr val="0070C0"/>
                </a:solidFill>
                <a:effectLst/>
              </a:rPr>
              <a:t>num</a:t>
            </a:r>
            <a:r>
              <a:rPr lang="en-US" b="1" dirty="0">
                <a:solidFill>
                  <a:srgbClr val="0070C0"/>
                </a:solidFill>
                <a:effectLst/>
              </a:rPr>
              <a:t> predictions made) * 100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	accuracy = (10 /10) * 100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	accuracy = 100%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3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58E6-9BC0-359C-832E-4D4B962D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study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CA80-710A-B8A1-3646-D2A7427C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Advantages and disadvantages of logistic regression</a:t>
            </a:r>
          </a:p>
          <a:p>
            <a:r>
              <a:rPr lang="en-US" dirty="0"/>
              <a:t>How to evaluate a logistic regression model?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61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713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21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746</Words>
  <Application>Microsoft Office PowerPoint</Application>
  <PresentationFormat>Widescreen</PresentationFormat>
  <Paragraphs>103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Logistic Regression</vt:lpstr>
      <vt:lpstr>Logistic regression</vt:lpstr>
      <vt:lpstr>How logistic regression works?</vt:lpstr>
      <vt:lpstr>PowerPoint Presentation</vt:lpstr>
      <vt:lpstr>PowerPoint Presentation</vt:lpstr>
      <vt:lpstr>Types of logistic regression</vt:lpstr>
      <vt:lpstr>PowerPoint Presentation</vt:lpstr>
      <vt:lpstr>PowerPoint Presentation</vt:lpstr>
      <vt:lpstr>PowerPoint Presentation</vt:lpstr>
      <vt:lpstr>Apply logistic regression for the given dataset</vt:lpstr>
      <vt:lpstr>Logistic Function</vt:lpstr>
      <vt:lpstr>PowerPoint Presentation</vt:lpstr>
      <vt:lpstr>Calculate Accuracy</vt:lpstr>
      <vt:lpstr>Self study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creator>Araj</dc:creator>
  <cp:lastModifiedBy>Dr Sameera P</cp:lastModifiedBy>
  <cp:revision>61</cp:revision>
  <dcterms:created xsi:type="dcterms:W3CDTF">2019-10-16T05:38:09Z</dcterms:created>
  <dcterms:modified xsi:type="dcterms:W3CDTF">2026-08-25T08:55:42Z</dcterms:modified>
</cp:coreProperties>
</file>